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524" r:id="rId2"/>
    <p:sldId id="2544" r:id="rId3"/>
    <p:sldId id="258" r:id="rId4"/>
    <p:sldId id="259" r:id="rId5"/>
    <p:sldId id="2587" r:id="rId6"/>
    <p:sldId id="2545" r:id="rId7"/>
    <p:sldId id="262" r:id="rId8"/>
    <p:sldId id="2588" r:id="rId9"/>
    <p:sldId id="2585" r:id="rId10"/>
    <p:sldId id="2589" r:id="rId11"/>
    <p:sldId id="266" r:id="rId12"/>
    <p:sldId id="267" r:id="rId13"/>
    <p:sldId id="2590" r:id="rId14"/>
    <p:sldId id="269" r:id="rId15"/>
    <p:sldId id="2582" r:id="rId16"/>
    <p:sldId id="2593" r:id="rId17"/>
    <p:sldId id="274" r:id="rId18"/>
    <p:sldId id="275" r:id="rId19"/>
    <p:sldId id="276" r:id="rId20"/>
    <p:sldId id="2594" r:id="rId21"/>
    <p:sldId id="2591" r:id="rId22"/>
    <p:sldId id="2592" r:id="rId23"/>
    <p:sldId id="25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7579"/>
    <a:srgbClr val="00CCFF"/>
    <a:srgbClr val="5DAAB0"/>
    <a:srgbClr val="AAD3D6"/>
    <a:srgbClr val="418287"/>
    <a:srgbClr val="DFE3E9"/>
    <a:srgbClr val="1F1F26"/>
    <a:srgbClr val="D6DBE2"/>
    <a:srgbClr val="CCD2DA"/>
    <a:srgbClr val="BBC3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55832" autoAdjust="0"/>
  </p:normalViewPr>
  <p:slideViewPr>
    <p:cSldViewPr snapToGrid="0" snapToObjects="1" showGuides="1">
      <p:cViewPr varScale="1">
        <p:scale>
          <a:sx n="20" d="100"/>
          <a:sy n="20" d="100"/>
        </p:scale>
        <p:origin x="34" y="518"/>
      </p:cViewPr>
      <p:guideLst>
        <p:guide pos="3840"/>
        <p:guide orient="horz" pos="2160"/>
      </p:guideLst>
    </p:cSldViewPr>
  </p:slideViewPr>
  <p:outlineViewPr>
    <p:cViewPr>
      <p:scale>
        <a:sx n="33" d="100"/>
        <a:sy n="33" d="100"/>
      </p:scale>
      <p:origin x="0" y="-274"/>
    </p:cViewPr>
  </p:outlineViewPr>
  <p:notesTextViewPr>
    <p:cViewPr>
      <p:scale>
        <a:sx n="1" d="1"/>
        <a:sy n="1" d="1"/>
      </p:scale>
      <p:origin x="0" y="-1493"/>
    </p:cViewPr>
  </p:notesTextViewPr>
  <p:sorterViewPr>
    <p:cViewPr>
      <p:scale>
        <a:sx n="66" d="100"/>
        <a:sy n="66" d="100"/>
      </p:scale>
      <p:origin x="0" y="-5136"/>
    </p:cViewPr>
  </p:sorterViewPr>
  <p:notesViewPr>
    <p:cSldViewPr snapToGrid="0" snapToObject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0" i="0" u="none" strike="noStrike">
                <a:solidFill>
                  <a:srgbClr val="000000"/>
                </a:solidFill>
                <a:latin typeface="Arial"/>
              </a:defRPr>
            </a:pPr>
            <a:r>
              <a:rPr lang="fi-FI" sz="1200" b="0" i="0" u="none" strike="noStrike">
                <a:solidFill>
                  <a:srgbClr val="000000"/>
                </a:solidFill>
                <a:latin typeface="Arial"/>
              </a:rPr>
              <a:t>Jumlah Perusahaan Konstruksi per Provinsi (2025)</a:t>
            </a:r>
          </a:p>
        </c:rich>
      </c:tx>
      <c:overlay val="0"/>
    </c:title>
    <c:autoTitleDeleted val="0"/>
    <c:plotArea>
      <c:layout/>
      <c:barChart>
        <c:barDir val="col"/>
        <c:grouping val="clustered"/>
        <c:varyColors val="0"/>
        <c:ser>
          <c:idx val="0"/>
          <c:order val="0"/>
          <c:tx>
            <c:strRef>
              <c:f>Sheet1!$B$1</c:f>
              <c:strCache>
                <c:ptCount val="1"/>
                <c:pt idx="0">
                  <c:v>Jumlah Perusahaan</c:v>
                </c:pt>
              </c:strCache>
            </c:strRef>
          </c:tx>
          <c:spPr>
            <a:solidFill>
              <a:srgbClr val="1A2B5E"/>
            </a:solidFill>
            <a:effectLst/>
          </c:spPr>
          <c:invertIfNegative val="0"/>
          <c:dPt>
            <c:idx val="0"/>
            <c:invertIfNegative val="0"/>
            <c:bubble3D val="0"/>
            <c:extLst>
              <c:ext xmlns:c16="http://schemas.microsoft.com/office/drawing/2014/chart" uri="{C3380CC4-5D6E-409C-BE32-E72D297353CC}">
                <c16:uniqueId val="{00000000-4F6D-42B3-9CAA-CA8FD0BA1B4D}"/>
              </c:ext>
            </c:extLst>
          </c:dPt>
          <c:dPt>
            <c:idx val="1"/>
            <c:invertIfNegative val="0"/>
            <c:bubble3D val="0"/>
            <c:spPr>
              <a:solidFill>
                <a:srgbClr val="4F46E5"/>
              </a:solidFill>
              <a:effectLst/>
            </c:spPr>
            <c:extLst>
              <c:ext xmlns:c16="http://schemas.microsoft.com/office/drawing/2014/chart" uri="{C3380CC4-5D6E-409C-BE32-E72D297353CC}">
                <c16:uniqueId val="{00000002-4F6D-42B3-9CAA-CA8FD0BA1B4D}"/>
              </c:ext>
            </c:extLst>
          </c:dPt>
          <c:dPt>
            <c:idx val="2"/>
            <c:invertIfNegative val="0"/>
            <c:bubble3D val="0"/>
            <c:spPr>
              <a:solidFill>
                <a:srgbClr val="0891B2"/>
              </a:solidFill>
              <a:effectLst/>
            </c:spPr>
            <c:extLst>
              <c:ext xmlns:c16="http://schemas.microsoft.com/office/drawing/2014/chart" uri="{C3380CC4-5D6E-409C-BE32-E72D297353CC}">
                <c16:uniqueId val="{00000004-4F6D-42B3-9CAA-CA8FD0BA1B4D}"/>
              </c:ext>
            </c:extLst>
          </c:dPt>
          <c:dPt>
            <c:idx val="3"/>
            <c:invertIfNegative val="0"/>
            <c:bubble3D val="0"/>
            <c:spPr>
              <a:solidFill>
                <a:srgbClr val="D97706"/>
              </a:solidFill>
              <a:effectLst/>
            </c:spPr>
            <c:extLst>
              <c:ext xmlns:c16="http://schemas.microsoft.com/office/drawing/2014/chart" uri="{C3380CC4-5D6E-409C-BE32-E72D297353CC}">
                <c16:uniqueId val="{00000006-4F6D-42B3-9CAA-CA8FD0BA1B4D}"/>
              </c:ext>
            </c:extLst>
          </c:dPt>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Jawa Timur</c:v>
                </c:pt>
                <c:pt idx="1">
                  <c:v>Jawa Barat</c:v>
                </c:pt>
                <c:pt idx="2">
                  <c:v>Jawa Tengah</c:v>
                </c:pt>
                <c:pt idx="3">
                  <c:v>Banten</c:v>
                </c:pt>
              </c:strCache>
            </c:strRef>
          </c:cat>
          <c:val>
            <c:numRef>
              <c:f>Sheet1!$B$2:$B$5</c:f>
              <c:numCache>
                <c:formatCode>General</c:formatCode>
                <c:ptCount val="4"/>
                <c:pt idx="0">
                  <c:v>24564</c:v>
                </c:pt>
                <c:pt idx="1">
                  <c:v>17919</c:v>
                </c:pt>
                <c:pt idx="2">
                  <c:v>15382</c:v>
                </c:pt>
                <c:pt idx="3">
                  <c:v>7722</c:v>
                </c:pt>
              </c:numCache>
            </c:numRef>
          </c:val>
          <c:extLst>
            <c:ext xmlns:c16="http://schemas.microsoft.com/office/drawing/2014/chart" uri="{C3380CC4-5D6E-409C-BE32-E72D297353CC}">
              <c16:uniqueId val="{00000007-4F6D-42B3-9CAA-CA8FD0BA1B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Prioritas Score</c:v>
                </c:pt>
              </c:strCache>
            </c:strRef>
          </c:tx>
          <c:spPr>
            <a:solidFill>
              <a:srgbClr val="1A2B5E"/>
            </a:solidFill>
            <a:effectLst/>
          </c:spPr>
          <c:invertIfNegative val="0"/>
          <c:dPt>
            <c:idx val="0"/>
            <c:invertIfNegative val="0"/>
            <c:bubble3D val="0"/>
            <c:extLst>
              <c:ext xmlns:c16="http://schemas.microsoft.com/office/drawing/2014/chart" uri="{C3380CC4-5D6E-409C-BE32-E72D297353CC}">
                <c16:uniqueId val="{00000001-EBCB-45A4-924C-F9C1C335D37E}"/>
              </c:ext>
            </c:extLst>
          </c:dPt>
          <c:dPt>
            <c:idx val="1"/>
            <c:invertIfNegative val="0"/>
            <c:bubble3D val="0"/>
            <c:spPr>
              <a:solidFill>
                <a:srgbClr val="4F46E5"/>
              </a:solidFill>
              <a:effectLst/>
            </c:spPr>
            <c:extLst>
              <c:ext xmlns:c16="http://schemas.microsoft.com/office/drawing/2014/chart" uri="{C3380CC4-5D6E-409C-BE32-E72D297353CC}">
                <c16:uniqueId val="{00000003-EBCB-45A4-924C-F9C1C335D37E}"/>
              </c:ext>
            </c:extLst>
          </c:dPt>
          <c:dPt>
            <c:idx val="2"/>
            <c:invertIfNegative val="0"/>
            <c:bubble3D val="0"/>
            <c:spPr>
              <a:solidFill>
                <a:srgbClr val="0E7490"/>
              </a:solidFill>
              <a:effectLst/>
            </c:spPr>
            <c:extLst>
              <c:ext xmlns:c16="http://schemas.microsoft.com/office/drawing/2014/chart" uri="{C3380CC4-5D6E-409C-BE32-E72D297353CC}">
                <c16:uniqueId val="{00000005-EBCB-45A4-924C-F9C1C335D37E}"/>
              </c:ext>
            </c:extLst>
          </c:dPt>
          <c:dPt>
            <c:idx val="3"/>
            <c:invertIfNegative val="0"/>
            <c:bubble3D val="0"/>
            <c:spPr>
              <a:solidFill>
                <a:srgbClr val="D97706"/>
              </a:solidFill>
              <a:effectLst/>
            </c:spPr>
            <c:extLst>
              <c:ext xmlns:c16="http://schemas.microsoft.com/office/drawing/2014/chart" uri="{C3380CC4-5D6E-409C-BE32-E72D297353CC}">
                <c16:uniqueId val="{00000007-EBCB-45A4-924C-F9C1C335D37E}"/>
              </c:ext>
            </c:extLst>
          </c:dPt>
          <c:dLbls>
            <c:dLbl>
              <c:idx val="0"/>
              <c:tx>
                <c:rich>
                  <a:bodyPr/>
                  <a:lstStyle/>
                  <a:p>
                    <a:r>
                      <a:rPr lang="en-US" dirty="0"/>
                      <a:t>76.9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BCB-45A4-924C-F9C1C335D37E}"/>
                </c:ext>
              </c:extLst>
            </c:dLbl>
            <c:dLbl>
              <c:idx val="1"/>
              <c:tx>
                <c:rich>
                  <a:bodyPr/>
                  <a:lstStyle/>
                  <a:p>
                    <a:r>
                      <a:rPr lang="en-US"/>
                      <a:t>66.8</a:t>
                    </a:r>
                  </a:p>
                  <a:p>
                    <a:endParaRPr lang="en-US" dirty="0"/>
                  </a:p>
                </c:rich>
              </c:tx>
              <c:showLegendKey val="0"/>
              <c:showVal val="1"/>
              <c:showCatName val="0"/>
              <c:showSerName val="0"/>
              <c:showPercent val="0"/>
              <c:showBubbleSize val="0"/>
              <c:extLst>
                <c:ext xmlns:c15="http://schemas.microsoft.com/office/drawing/2012/chart" uri="{CE6537A1-D6FC-4f65-9D91-7224C49458BB}">
                  <c15:layout>
                    <c:manualLayout>
                      <c:w val="6.3505747126436779E-2"/>
                      <c:h val="6.9270833333333337E-2"/>
                    </c:manualLayout>
                  </c15:layout>
                  <c15:showDataLabelsRange val="0"/>
                </c:ext>
                <c:ext xmlns:c16="http://schemas.microsoft.com/office/drawing/2014/chart" uri="{C3380CC4-5D6E-409C-BE32-E72D297353CC}">
                  <c16:uniqueId val="{00000003-EBCB-45A4-924C-F9C1C335D37E}"/>
                </c:ext>
              </c:extLst>
            </c:dLbl>
            <c:dLbl>
              <c:idx val="2"/>
              <c:tx>
                <c:rich>
                  <a:bodyPr/>
                  <a:lstStyle/>
                  <a:p>
                    <a:r>
                      <a:rPr lang="en-US"/>
                      <a:t>31.5</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BCB-45A4-924C-F9C1C335D37E}"/>
                </c:ext>
              </c:extLst>
            </c:dLbl>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Jawa Timur</c:v>
                </c:pt>
                <c:pt idx="1">
                  <c:v>Jawa Barat</c:v>
                </c:pt>
                <c:pt idx="2">
                  <c:v>Jawa Tengah</c:v>
                </c:pt>
                <c:pt idx="3">
                  <c:v>Banten</c:v>
                </c:pt>
              </c:strCache>
            </c:strRef>
          </c:cat>
          <c:val>
            <c:numRef>
              <c:f>Sheet1!$B$2:$B$5</c:f>
              <c:numCache>
                <c:formatCode>General</c:formatCode>
                <c:ptCount val="4"/>
                <c:pt idx="0">
                  <c:v>76.900000000000006</c:v>
                </c:pt>
                <c:pt idx="1">
                  <c:v>66.8</c:v>
                </c:pt>
                <c:pt idx="2">
                  <c:v>31.5</c:v>
                </c:pt>
                <c:pt idx="3">
                  <c:v>30</c:v>
                </c:pt>
              </c:numCache>
            </c:numRef>
          </c:val>
          <c:extLst>
            <c:ext xmlns:c16="http://schemas.microsoft.com/office/drawing/2014/chart" uri="{C3380CC4-5D6E-409C-BE32-E72D297353CC}">
              <c16:uniqueId val="{00000008-EBCB-45A4-924C-F9C1C335D3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Kepadatan Perusahaan (/100)</c:v>
                </c:pt>
              </c:strCache>
            </c:strRef>
          </c:tx>
          <c:spPr>
            <a:solidFill>
              <a:srgbClr val="1A2B5E"/>
            </a:solidFill>
            <a:effectLst/>
          </c:spPr>
          <c:invertIfNegative val="0"/>
          <c:cat>
            <c:strRef>
              <c:f>Sheet1!$A$2:$A$7</c:f>
              <c:strCache>
                <c:ptCount val="6"/>
                <c:pt idx="0">
                  <c:v>Surabaya</c:v>
                </c:pt>
                <c:pt idx="1">
                  <c:v>Tangerang</c:v>
                </c:pt>
                <c:pt idx="2">
                  <c:v>Bandung</c:v>
                </c:pt>
                <c:pt idx="3">
                  <c:v>Bekasi</c:v>
                </c:pt>
                <c:pt idx="4">
                  <c:v>Tangsel</c:v>
                </c:pt>
                <c:pt idx="5">
                  <c:v>Sidoarjo</c:v>
                </c:pt>
              </c:strCache>
            </c:strRef>
          </c:cat>
          <c:val>
            <c:numRef>
              <c:f>Sheet1!$B$2:$B$7</c:f>
              <c:numCache>
                <c:formatCode>General</c:formatCode>
                <c:ptCount val="6"/>
                <c:pt idx="0">
                  <c:v>41.5</c:v>
                </c:pt>
                <c:pt idx="1">
                  <c:v>20.9</c:v>
                </c:pt>
                <c:pt idx="2">
                  <c:v>19.600000000000001</c:v>
                </c:pt>
                <c:pt idx="3">
                  <c:v>17.5</c:v>
                </c:pt>
                <c:pt idx="4">
                  <c:v>13.2</c:v>
                </c:pt>
                <c:pt idx="5">
                  <c:v>15.8</c:v>
                </c:pt>
              </c:numCache>
            </c:numRef>
          </c:val>
          <c:extLst>
            <c:ext xmlns:c16="http://schemas.microsoft.com/office/drawing/2014/chart" uri="{C3380CC4-5D6E-409C-BE32-E72D297353CC}">
              <c16:uniqueId val="{00000000-4650-4D96-9064-3AC4B901FC34}"/>
            </c:ext>
          </c:extLst>
        </c:ser>
        <c:ser>
          <c:idx val="1"/>
          <c:order val="1"/>
          <c:tx>
            <c:strRef>
              <c:f>Sheet1!$C$1</c:f>
              <c:strCache>
                <c:ptCount val="1"/>
                <c:pt idx="0">
                  <c:v>Risk Score (×10)</c:v>
                </c:pt>
              </c:strCache>
            </c:strRef>
          </c:tx>
          <c:spPr>
            <a:solidFill>
              <a:srgbClr val="DC2626"/>
            </a:solidFill>
            <a:effectLst/>
          </c:spPr>
          <c:invertIfNegative val="0"/>
          <c:cat>
            <c:strRef>
              <c:f>Sheet1!$A$2:$A$7</c:f>
              <c:strCache>
                <c:ptCount val="6"/>
                <c:pt idx="0">
                  <c:v>Surabaya</c:v>
                </c:pt>
                <c:pt idx="1">
                  <c:v>Tangerang</c:v>
                </c:pt>
                <c:pt idx="2">
                  <c:v>Bandung</c:v>
                </c:pt>
                <c:pt idx="3">
                  <c:v>Bekasi</c:v>
                </c:pt>
                <c:pt idx="4">
                  <c:v>Tangsel</c:v>
                </c:pt>
                <c:pt idx="5">
                  <c:v>Sidoarjo</c:v>
                </c:pt>
              </c:strCache>
            </c:strRef>
          </c:cat>
          <c:val>
            <c:numRef>
              <c:f>Sheet1!$C$2:$C$7</c:f>
              <c:numCache>
                <c:formatCode>General</c:formatCode>
                <c:ptCount val="6"/>
                <c:pt idx="0">
                  <c:v>26</c:v>
                </c:pt>
                <c:pt idx="1">
                  <c:v>44</c:v>
                </c:pt>
                <c:pt idx="2">
                  <c:v>40</c:v>
                </c:pt>
                <c:pt idx="3">
                  <c:v>40</c:v>
                </c:pt>
                <c:pt idx="4">
                  <c:v>44</c:v>
                </c:pt>
                <c:pt idx="5">
                  <c:v>26</c:v>
                </c:pt>
              </c:numCache>
            </c:numRef>
          </c:val>
          <c:extLst>
            <c:ext xmlns:c16="http://schemas.microsoft.com/office/drawing/2014/chart" uri="{C3380CC4-5D6E-409C-BE32-E72D297353CC}">
              <c16:uniqueId val="{00000001-4650-4D96-9064-3AC4B901FC3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018837-64B5-4E20-83A5-89B993CB3C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9C2A4FB-A56B-4413-A08B-0E9894B98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48B25D-8766-427E-8C9E-4845048D8DFC}" type="datetimeFigureOut">
              <a:rPr lang="en-US" smtClean="0"/>
              <a:t>6/22/2026</a:t>
            </a:fld>
            <a:endParaRPr lang="en-US" dirty="0"/>
          </a:p>
        </p:txBody>
      </p:sp>
      <p:sp>
        <p:nvSpPr>
          <p:cNvPr id="4" name="Footer Placeholder 3">
            <a:extLst>
              <a:ext uri="{FF2B5EF4-FFF2-40B4-BE49-F238E27FC236}">
                <a16:creationId xmlns:a16="http://schemas.microsoft.com/office/drawing/2014/main" id="{A3977F36-950D-4655-BC4A-F80BE1DBF7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6C246FD-229D-4B04-9855-212AD8D784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A8A28B-0568-4092-BB1A-13C9B073E3A0}" type="slidenum">
              <a:rPr lang="en-US" smtClean="0"/>
              <a:t>‹#›</a:t>
            </a:fld>
            <a:endParaRPr lang="en-US" dirty="0"/>
          </a:p>
        </p:txBody>
      </p:sp>
    </p:spTree>
    <p:extLst>
      <p:ext uri="{BB962C8B-B14F-4D97-AF65-F5344CB8AC3E}">
        <p14:creationId xmlns:p14="http://schemas.microsoft.com/office/powerpoint/2010/main" val="164052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F439B-391B-4B41-826A-951FCF412C34}" type="datetimeFigureOut">
              <a:rPr lang="en-US" smtClean="0"/>
              <a:t>6/22/2026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A0038-7055-434C-B6C4-B8C69565C600}" type="slidenum">
              <a:rPr lang="en-US" smtClean="0"/>
              <a:t>‹#›</a:t>
            </a:fld>
            <a:endParaRPr lang="en-US" dirty="0"/>
          </a:p>
        </p:txBody>
      </p:sp>
    </p:spTree>
    <p:extLst>
      <p:ext uri="{BB962C8B-B14F-4D97-AF65-F5344CB8AC3E}">
        <p14:creationId xmlns:p14="http://schemas.microsoft.com/office/powerpoint/2010/main" val="1390864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Selamat </a:t>
            </a:r>
            <a:r>
              <a:rPr lang="en-US" dirty="0" err="1"/>
              <a:t>malam</a:t>
            </a:r>
            <a:r>
              <a:rPr lang="en-US" dirty="0"/>
              <a:t> Bapak/Ibu. Saya Nastiti </a:t>
            </a:r>
            <a:r>
              <a:rPr lang="en-US" dirty="0" err="1"/>
              <a:t>dari</a:t>
            </a:r>
            <a:r>
              <a:rPr lang="en-US" dirty="0"/>
              <a:t> </a:t>
            </a:r>
            <a:r>
              <a:rPr lang="en-US" dirty="0" err="1"/>
              <a:t>Kelompok</a:t>
            </a:r>
            <a:r>
              <a:rPr lang="en-US" dirty="0"/>
              <a:t> 1 </a:t>
            </a:r>
            <a:r>
              <a:rPr lang="en-US" dirty="0" err="1"/>
              <a:t>akan</a:t>
            </a:r>
            <a:r>
              <a:rPr lang="en-US" dirty="0"/>
              <a:t> </a:t>
            </a:r>
            <a:r>
              <a:rPr lang="en-US" dirty="0" err="1"/>
              <a:t>mempresentasikan</a:t>
            </a:r>
            <a:r>
              <a:rPr lang="en-US" dirty="0"/>
              <a:t>  final Report </a:t>
            </a:r>
            <a:r>
              <a:rPr lang="en-US" dirty="0" err="1"/>
              <a:t>mengenai</a:t>
            </a:r>
            <a:r>
              <a:rPr lang="en-US" dirty="0"/>
              <a:t> </a:t>
            </a:r>
            <a:r>
              <a:rPr lang="en-US" dirty="0" err="1"/>
              <a:t>analisis</a:t>
            </a:r>
            <a:r>
              <a:rPr lang="en-US" dirty="0"/>
              <a:t> Market Opportunity </a:t>
            </a:r>
            <a:r>
              <a:rPr lang="en-US" dirty="0" err="1"/>
              <a:t>SumThing</a:t>
            </a:r>
            <a:r>
              <a:rPr lang="en-US" dirty="0"/>
              <a:t> di </a:t>
            </a:r>
            <a:r>
              <a:rPr lang="en-US" dirty="0" err="1"/>
              <a:t>sektor</a:t>
            </a:r>
            <a:r>
              <a:rPr lang="en-US" dirty="0"/>
              <a:t> </a:t>
            </a:r>
            <a:r>
              <a:rPr lang="en-US" dirty="0" err="1"/>
              <a:t>konstruksi</a:t>
            </a:r>
            <a:r>
              <a:rPr lang="en-US" dirty="0"/>
              <a:t> Pulau Jawa. </a:t>
            </a:r>
            <a:r>
              <a:rPr lang="en-US" sz="1200" b="0" i="0" kern="1200" dirty="0">
                <a:solidFill>
                  <a:schemeClr val="tx1"/>
                </a:solidFill>
                <a:effectLst/>
                <a:latin typeface="+mn-lt"/>
                <a:ea typeface="+mn-ea"/>
                <a:cs typeface="+mn-cs"/>
              </a:rPr>
              <a:t>Studi </a:t>
            </a:r>
            <a:r>
              <a:rPr lang="en-US" sz="1200" b="0" i="0" kern="1200" dirty="0" err="1">
                <a:solidFill>
                  <a:schemeClr val="tx1"/>
                </a:solidFill>
                <a:effectLst/>
                <a:latin typeface="+mn-lt"/>
                <a:ea typeface="+mn-ea"/>
                <a:cs typeface="+mn-cs"/>
              </a:rPr>
              <a:t>kasus</a:t>
            </a:r>
            <a:r>
              <a:rPr lang="en-US" sz="1200" b="0" i="0" kern="1200" dirty="0">
                <a:solidFill>
                  <a:schemeClr val="tx1"/>
                </a:solidFill>
                <a:effectLst/>
                <a:latin typeface="+mn-lt"/>
                <a:ea typeface="+mn-ea"/>
                <a:cs typeface="+mn-cs"/>
              </a:rPr>
              <a:t> yang kami </a:t>
            </a:r>
            <a:r>
              <a:rPr lang="en-US" sz="1200" b="0" i="0" kern="1200" dirty="0" err="1">
                <a:solidFill>
                  <a:schemeClr val="tx1"/>
                </a:solidFill>
                <a:effectLst/>
                <a:latin typeface="+mn-lt"/>
                <a:ea typeface="+mn-ea"/>
                <a:cs typeface="+mn-cs"/>
              </a:rPr>
              <a:t>gunakan</a:t>
            </a:r>
            <a:r>
              <a:rPr lang="en-US" sz="1200" b="0" i="0" kern="1200" dirty="0">
                <a:solidFill>
                  <a:schemeClr val="tx1"/>
                </a:solidFill>
                <a:effectLst/>
                <a:latin typeface="+mn-lt"/>
                <a:ea typeface="+mn-ea"/>
                <a:cs typeface="+mn-cs"/>
              </a:rPr>
              <a:t> adalah  4 </a:t>
            </a:r>
            <a:r>
              <a:rPr lang="en-US" sz="1200" b="0" i="0" kern="1200" dirty="0" err="1">
                <a:solidFill>
                  <a:schemeClr val="tx1"/>
                </a:solidFill>
                <a:effectLst/>
                <a:latin typeface="+mn-lt"/>
                <a:ea typeface="+mn-ea"/>
                <a:cs typeface="+mn-cs"/>
              </a:rPr>
              <a:t>provinsi</a:t>
            </a:r>
            <a:r>
              <a:rPr lang="en-US" sz="1200" b="0" i="0" kern="1200" dirty="0">
                <a:solidFill>
                  <a:schemeClr val="tx1"/>
                </a:solidFill>
                <a:effectLst/>
                <a:latin typeface="+mn-lt"/>
                <a:ea typeface="+mn-ea"/>
                <a:cs typeface="+mn-cs"/>
              </a:rPr>
              <a:t> Jawa: Jawa Timur, Jawa Barat, Jawa Tengah, dan Banten.</a:t>
            </a:r>
            <a:r>
              <a:rPr lang="en-US" dirty="0"/>
              <a:t> </a:t>
            </a:r>
            <a:r>
              <a:rPr lang="en-US" dirty="0" err="1"/>
              <a:t>SumThing</a:t>
            </a:r>
            <a:r>
              <a:rPr lang="en-US" dirty="0"/>
              <a:t> adalah platform AI Safety Monitoring yang </a:t>
            </a:r>
            <a:r>
              <a:rPr lang="en-US" dirty="0" err="1"/>
              <a:t>berfokus</a:t>
            </a:r>
            <a:r>
              <a:rPr lang="en-US" dirty="0"/>
              <a:t> pada </a:t>
            </a:r>
            <a:r>
              <a:rPr lang="en-US" dirty="0" err="1"/>
              <a:t>deteksi</a:t>
            </a:r>
            <a:r>
              <a:rPr lang="en-US" dirty="0"/>
              <a:t> APD (PPE) dan </a:t>
            </a:r>
            <a:r>
              <a:rPr lang="en-US" dirty="0" err="1"/>
              <a:t>pemantauan</a:t>
            </a:r>
            <a:r>
              <a:rPr lang="en-US" dirty="0"/>
              <a:t> </a:t>
            </a:r>
            <a:r>
              <a:rPr lang="en-US" dirty="0" err="1"/>
              <a:t>keselamatan</a:t>
            </a:r>
            <a:r>
              <a:rPr lang="en-US" dirty="0"/>
              <a:t> </a:t>
            </a:r>
            <a:r>
              <a:rPr lang="en-US" dirty="0" err="1"/>
              <a:t>kerja</a:t>
            </a:r>
            <a:r>
              <a:rPr lang="en-US" dirty="0"/>
              <a:t> real-time. Tujuan </a:t>
            </a:r>
            <a:r>
              <a:rPr lang="en-US" dirty="0" err="1"/>
              <a:t>analisis</a:t>
            </a:r>
            <a:r>
              <a:rPr lang="en-US" dirty="0"/>
              <a:t> ini adalah </a:t>
            </a:r>
            <a:r>
              <a:rPr lang="en-US" dirty="0" err="1"/>
              <a:t>membantu</a:t>
            </a:r>
            <a:r>
              <a:rPr lang="en-US" dirty="0"/>
              <a:t> </a:t>
            </a:r>
            <a:r>
              <a:rPr lang="en-US" dirty="0" err="1"/>
              <a:t>tim</a:t>
            </a:r>
            <a:r>
              <a:rPr lang="en-US" dirty="0"/>
              <a:t> sales dan marketing </a:t>
            </a:r>
            <a:r>
              <a:rPr lang="en-US" dirty="0" err="1"/>
              <a:t>menentukan</a:t>
            </a:r>
            <a:r>
              <a:rPr lang="en-US" dirty="0"/>
              <a:t> </a:t>
            </a:r>
            <a:r>
              <a:rPr lang="en-US" dirty="0" err="1"/>
              <a:t>prioritas</a:t>
            </a:r>
            <a:r>
              <a:rPr lang="en-US" dirty="0"/>
              <a:t> wilayah </a:t>
            </a:r>
            <a:r>
              <a:rPr lang="en-US" dirty="0" err="1"/>
              <a:t>ekspansi</a:t>
            </a:r>
            <a:r>
              <a:rPr lang="en-US" dirty="0"/>
              <a:t> </a:t>
            </a:r>
            <a:r>
              <a:rPr lang="en-US" dirty="0" err="1"/>
              <a:t>berdasarkan</a:t>
            </a:r>
            <a:r>
              <a:rPr lang="en-US" dirty="0"/>
              <a:t> data </a:t>
            </a:r>
            <a:r>
              <a:rPr lang="en-US" dirty="0" err="1"/>
              <a:t>aktual</a:t>
            </a:r>
            <a:endParaRPr lang="en-US" dirty="0"/>
          </a:p>
          <a:p>
            <a:endParaRPr lang="en-US" dirty="0"/>
          </a:p>
        </p:txBody>
      </p:sp>
    </p:spTree>
    <p:extLst>
      <p:ext uri="{BB962C8B-B14F-4D97-AF65-F5344CB8AC3E}">
        <p14:creationId xmlns:p14="http://schemas.microsoft.com/office/powerpoint/2010/main" val="3249664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Industri </a:t>
            </a:r>
            <a:r>
              <a:rPr lang="en-US" dirty="0" err="1"/>
              <a:t>konstruksi</a:t>
            </a:r>
            <a:r>
              <a:rPr lang="en-US" dirty="0"/>
              <a:t> Indonesia </a:t>
            </a:r>
            <a:r>
              <a:rPr lang="en-US" dirty="0" err="1"/>
              <a:t>menghadapi</a:t>
            </a:r>
            <a:r>
              <a:rPr lang="en-US" dirty="0"/>
              <a:t> </a:t>
            </a:r>
            <a:r>
              <a:rPr lang="en-US" dirty="0" err="1"/>
              <a:t>masalah</a:t>
            </a:r>
            <a:r>
              <a:rPr lang="en-US" dirty="0"/>
              <a:t> </a:t>
            </a:r>
            <a:r>
              <a:rPr lang="en-US" dirty="0" err="1"/>
              <a:t>keselamatan</a:t>
            </a:r>
            <a:r>
              <a:rPr lang="en-US" dirty="0"/>
              <a:t> yang </a:t>
            </a:r>
            <a:r>
              <a:rPr lang="en-US" dirty="0" err="1"/>
              <a:t>serius</a:t>
            </a:r>
            <a:r>
              <a:rPr lang="en-US" dirty="0"/>
              <a:t>. </a:t>
            </a:r>
            <a:r>
              <a:rPr lang="en-US" dirty="0" err="1"/>
              <a:t>Berdasarkan</a:t>
            </a:r>
            <a:r>
              <a:rPr lang="en-US" dirty="0"/>
              <a:t> data BPJS </a:t>
            </a:r>
            <a:r>
              <a:rPr lang="en-US" dirty="0" err="1"/>
              <a:t>Ketenagakerjaan</a:t>
            </a:r>
            <a:r>
              <a:rPr lang="en-US" dirty="0"/>
              <a:t>, rata-rata </a:t>
            </a:r>
            <a:r>
              <a:rPr lang="en-US" dirty="0" err="1"/>
              <a:t>ada</a:t>
            </a:r>
            <a:r>
              <a:rPr lang="en-US" dirty="0"/>
              <a:t> 1.840 </a:t>
            </a:r>
            <a:r>
              <a:rPr lang="en-US" dirty="0" err="1"/>
              <a:t>kasus</a:t>
            </a:r>
            <a:r>
              <a:rPr lang="en-US" dirty="0"/>
              <a:t> </a:t>
            </a:r>
            <a:r>
              <a:rPr lang="en-US" dirty="0" err="1"/>
              <a:t>kecelakaan</a:t>
            </a:r>
            <a:r>
              <a:rPr lang="en-US" dirty="0"/>
              <a:t> </a:t>
            </a:r>
            <a:r>
              <a:rPr lang="en-US" dirty="0" err="1"/>
              <a:t>konstruksi</a:t>
            </a:r>
            <a:r>
              <a:rPr lang="en-US" dirty="0"/>
              <a:t> per </a:t>
            </a:r>
            <a:r>
              <a:rPr lang="en-US" dirty="0" err="1"/>
              <a:t>tahun</a:t>
            </a:r>
            <a:r>
              <a:rPr lang="en-US" dirty="0"/>
              <a:t> di 4 </a:t>
            </a:r>
            <a:r>
              <a:rPr lang="en-US" dirty="0" err="1"/>
              <a:t>provinsi</a:t>
            </a:r>
            <a:r>
              <a:rPr lang="en-US" dirty="0"/>
              <a:t> Jawa yang kami </a:t>
            </a:r>
            <a:r>
              <a:rPr lang="en-US" dirty="0" err="1"/>
              <a:t>analisis</a:t>
            </a:r>
            <a:r>
              <a:rPr lang="en-US" dirty="0"/>
              <a:t>. </a:t>
            </a:r>
            <a:r>
              <a:rPr lang="en-US" dirty="0" err="1"/>
              <a:t>Sistem</a:t>
            </a:r>
            <a:r>
              <a:rPr lang="en-US" dirty="0"/>
              <a:t> </a:t>
            </a:r>
            <a:r>
              <a:rPr lang="en-US" dirty="0" err="1"/>
              <a:t>pengawasan</a:t>
            </a:r>
            <a:r>
              <a:rPr lang="en-US" dirty="0"/>
              <a:t> </a:t>
            </a:r>
            <a:r>
              <a:rPr lang="en-US" dirty="0" err="1"/>
              <a:t>saat</a:t>
            </a:r>
            <a:r>
              <a:rPr lang="en-US" dirty="0"/>
              <a:t> ini </a:t>
            </a:r>
            <a:r>
              <a:rPr lang="en-US" dirty="0" err="1"/>
              <a:t>masih</a:t>
            </a:r>
            <a:r>
              <a:rPr lang="en-US" dirty="0"/>
              <a:t> manual dan </a:t>
            </a:r>
            <a:r>
              <a:rPr lang="en-US" dirty="0" err="1"/>
              <a:t>tidak</a:t>
            </a:r>
            <a:r>
              <a:rPr lang="en-US" dirty="0"/>
              <a:t> </a:t>
            </a:r>
            <a:r>
              <a:rPr lang="en-US" dirty="0" err="1"/>
              <a:t>efektif</a:t>
            </a:r>
            <a:r>
              <a:rPr lang="en-US" dirty="0"/>
              <a:t>. </a:t>
            </a:r>
            <a:r>
              <a:rPr lang="en-US" dirty="0" err="1"/>
              <a:t>SumThing</a:t>
            </a:r>
            <a:r>
              <a:rPr lang="en-US" dirty="0"/>
              <a:t> </a:t>
            </a:r>
            <a:r>
              <a:rPr lang="en-US" dirty="0" err="1"/>
              <a:t>hadir</a:t>
            </a:r>
            <a:r>
              <a:rPr lang="en-US" dirty="0"/>
              <a:t> </a:t>
            </a:r>
            <a:r>
              <a:rPr lang="en-US" dirty="0" err="1"/>
              <a:t>dengan</a:t>
            </a:r>
            <a:r>
              <a:rPr lang="en-US" dirty="0"/>
              <a:t> </a:t>
            </a:r>
            <a:r>
              <a:rPr lang="en-US" dirty="0" err="1"/>
              <a:t>solusi</a:t>
            </a:r>
            <a:r>
              <a:rPr lang="en-US" dirty="0"/>
              <a:t> AI Safety Monitoring yang </a:t>
            </a:r>
            <a:r>
              <a:rPr lang="en-US" dirty="0" err="1"/>
              <a:t>mencakup</a:t>
            </a:r>
            <a:r>
              <a:rPr lang="en-US" dirty="0"/>
              <a:t> </a:t>
            </a:r>
            <a:r>
              <a:rPr lang="en-US" dirty="0" err="1"/>
              <a:t>deteksi</a:t>
            </a:r>
            <a:r>
              <a:rPr lang="en-US" dirty="0"/>
              <a:t> APD </a:t>
            </a:r>
            <a:r>
              <a:rPr lang="en-US" dirty="0" err="1"/>
              <a:t>secara</a:t>
            </a:r>
            <a:r>
              <a:rPr lang="en-US" dirty="0"/>
              <a:t> </a:t>
            </a:r>
            <a:r>
              <a:rPr lang="en-US" dirty="0" err="1"/>
              <a:t>otomatis</a:t>
            </a:r>
            <a:r>
              <a:rPr lang="en-US" dirty="0"/>
              <a:t>, </a:t>
            </a:r>
            <a:r>
              <a:rPr lang="en-US" dirty="0" err="1"/>
              <a:t>pemantauan</a:t>
            </a:r>
            <a:r>
              <a:rPr lang="en-US" dirty="0"/>
              <a:t> real-time, dan surveillance </a:t>
            </a:r>
            <a:r>
              <a:rPr lang="en-US" dirty="0" err="1"/>
              <a:t>berbasis</a:t>
            </a:r>
            <a:r>
              <a:rPr lang="en-US" dirty="0"/>
              <a:t> AI — </a:t>
            </a:r>
            <a:r>
              <a:rPr lang="en-US" dirty="0" err="1"/>
              <a:t>sebuah</a:t>
            </a:r>
            <a:r>
              <a:rPr lang="en-US" dirty="0"/>
              <a:t> </a:t>
            </a:r>
            <a:r>
              <a:rPr lang="en-US" dirty="0" err="1"/>
              <a:t>proposisi</a:t>
            </a:r>
            <a:r>
              <a:rPr lang="en-US" dirty="0"/>
              <a:t> </a:t>
            </a:r>
            <a:r>
              <a:rPr lang="en-US" dirty="0" err="1"/>
              <a:t>nilai</a:t>
            </a:r>
            <a:r>
              <a:rPr lang="en-US" dirty="0"/>
              <a:t> yang sangat </a:t>
            </a:r>
            <a:r>
              <a:rPr lang="en-US" dirty="0" err="1"/>
              <a:t>relevan</a:t>
            </a:r>
            <a:r>
              <a:rPr lang="en-US" dirty="0"/>
              <a:t> untuk pasar ini.</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2</a:t>
            </a:fld>
            <a:endParaRPr lang="en-US" dirty="0"/>
          </a:p>
        </p:txBody>
      </p:sp>
    </p:spTree>
    <p:extLst>
      <p:ext uri="{BB962C8B-B14F-4D97-AF65-F5344CB8AC3E}">
        <p14:creationId xmlns:p14="http://schemas.microsoft.com/office/powerpoint/2010/main" val="525550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Analisis</a:t>
            </a:r>
            <a:r>
              <a:rPr lang="en-US" dirty="0"/>
              <a:t> kami </a:t>
            </a:r>
            <a:r>
              <a:rPr lang="en-US" dirty="0" err="1"/>
              <a:t>menjawab</a:t>
            </a:r>
            <a:r>
              <a:rPr lang="en-US" dirty="0"/>
              <a:t> </a:t>
            </a:r>
            <a:r>
              <a:rPr lang="en-US" dirty="0" err="1"/>
              <a:t>Pertanyaan</a:t>
            </a:r>
            <a:r>
              <a:rPr lang="en-US" dirty="0"/>
              <a:t> utama adalah </a:t>
            </a:r>
            <a:r>
              <a:rPr lang="en-US" sz="1200" dirty="0"/>
              <a:t>wilayah </a:t>
            </a:r>
            <a:r>
              <a:rPr lang="en-US" sz="1200" dirty="0" err="1"/>
              <a:t>pemasaran</a:t>
            </a:r>
            <a:r>
              <a:rPr lang="en-US" sz="1200" dirty="0"/>
              <a:t> </a:t>
            </a:r>
            <a:r>
              <a:rPr lang="en-US" sz="1200" dirty="0" err="1"/>
              <a:t>berdasarkan</a:t>
            </a:r>
            <a:r>
              <a:rPr lang="en-US" sz="1200" dirty="0"/>
              <a:t> Tingkat </a:t>
            </a:r>
            <a:r>
              <a:rPr lang="en-US" sz="1200" dirty="0" err="1"/>
              <a:t>kecelakaan</a:t>
            </a:r>
            <a:r>
              <a:rPr lang="en-US" sz="1200" dirty="0"/>
              <a:t> dan </a:t>
            </a:r>
            <a:r>
              <a:rPr lang="en-US" sz="1200" dirty="0" err="1"/>
              <a:t>Kepadatan</a:t>
            </a:r>
            <a:r>
              <a:rPr lang="en-US" sz="1200" dirty="0"/>
              <a:t> Perusahaan </a:t>
            </a:r>
            <a:r>
              <a:rPr lang="en-US" sz="1200" dirty="0" err="1"/>
              <a:t>konstruksi</a:t>
            </a:r>
            <a:r>
              <a:rPr lang="en-US" sz="1200" dirty="0"/>
              <a:t> di 4 </a:t>
            </a:r>
            <a:r>
              <a:rPr lang="en-US" sz="1200" dirty="0" err="1"/>
              <a:t>Provinsi</a:t>
            </a:r>
            <a:r>
              <a:rPr lang="en-US" sz="1200" dirty="0"/>
              <a:t> Jawa?</a:t>
            </a:r>
            <a:r>
              <a:rPr lang="en-US" dirty="0"/>
              <a:t>. Untuk menjawabnya, kami membagi analisis ke </a:t>
            </a:r>
            <a:r>
              <a:rPr lang="en-US" dirty="0" err="1"/>
              <a:t>dalam</a:t>
            </a:r>
            <a:r>
              <a:rPr lang="en-US" dirty="0"/>
              <a:t> 4 sub-pertanyaan yang akan dijawab secara berurutan dalam presentasi ini.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menggunakan dua sumber data utama. Pertama, data kecelakaan kerja sektor konstruksi dari BPJS Ketenagakerjaan untuk periode 2023-2025, yang memungkinkan kami menganalisis tren dan risk density. Kedua, data perusahaan konstruksi terbaru dari BPS per provinsi tahun 2025, mencakup detail per kabupaten/kota dan jenis badan usaha. Scope analisis: 4 provinsi di Pulau Jawa — Jawa Timur, Jawa Barat, Jawa Tengah, dan Banten.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US" dirty="0" err="1"/>
              <a:t>terdapat</a:t>
            </a:r>
            <a:r>
              <a:rPr lang="en-US" dirty="0"/>
              <a:t> 65.587 </a:t>
            </a:r>
            <a:r>
              <a:rPr lang="en-US" dirty="0" err="1"/>
              <a:t>perusahaan</a:t>
            </a:r>
            <a:r>
              <a:rPr lang="en-US" dirty="0"/>
              <a:t> </a:t>
            </a:r>
            <a:r>
              <a:rPr lang="en-US" dirty="0" err="1"/>
              <a:t>konstruksi</a:t>
            </a:r>
            <a:r>
              <a:rPr lang="en-US" dirty="0"/>
              <a:t> di 4 </a:t>
            </a:r>
            <a:r>
              <a:rPr lang="en-US" dirty="0" err="1"/>
              <a:t>provinsi</a:t>
            </a:r>
            <a:r>
              <a:rPr lang="en-US" dirty="0"/>
              <a:t> yang kami </a:t>
            </a:r>
            <a:r>
              <a:rPr lang="en-US" dirty="0" err="1"/>
              <a:t>analisis</a:t>
            </a:r>
            <a:r>
              <a:rPr lang="en-US" dirty="0"/>
              <a:t>. Jawa Timur </a:t>
            </a:r>
            <a:r>
              <a:rPr lang="en-US" dirty="0" err="1"/>
              <a:t>mendominasi</a:t>
            </a:r>
            <a:r>
              <a:rPr lang="en-US" dirty="0"/>
              <a:t> </a:t>
            </a:r>
            <a:r>
              <a:rPr lang="en-US" dirty="0" err="1"/>
              <a:t>dengan</a:t>
            </a:r>
            <a:r>
              <a:rPr lang="en-US" dirty="0"/>
              <a:t> 24.564 </a:t>
            </a:r>
            <a:r>
              <a:rPr lang="en-US" dirty="0" err="1"/>
              <a:t>perusahaan</a:t>
            </a:r>
            <a:r>
              <a:rPr lang="en-US" dirty="0"/>
              <a:t> </a:t>
            </a:r>
            <a:r>
              <a:rPr lang="en-US" dirty="0" err="1"/>
              <a:t>atau</a:t>
            </a:r>
            <a:r>
              <a:rPr lang="en-US" dirty="0"/>
              <a:t> 37.4% </a:t>
            </a:r>
            <a:r>
              <a:rPr lang="en-US" dirty="0" err="1"/>
              <a:t>pangsa</a:t>
            </a:r>
            <a:r>
              <a:rPr lang="en-US" dirty="0"/>
              <a:t> pasar. </a:t>
            </a:r>
            <a:r>
              <a:rPr lang="en-US" dirty="0" err="1"/>
              <a:t>Diikuti</a:t>
            </a:r>
            <a:r>
              <a:rPr lang="en-US" dirty="0"/>
              <a:t> Jawa Barat 17.919 (27.3%), Jawa Tengah 15.382 (23.5%), dan Banten 7.722 (11.8%). Kota Surabaya </a:t>
            </a:r>
            <a:r>
              <a:rPr lang="en-US" dirty="0" err="1"/>
              <a:t>menjadi</a:t>
            </a:r>
            <a:r>
              <a:rPr lang="en-US" dirty="0"/>
              <a:t> </a:t>
            </a:r>
            <a:r>
              <a:rPr lang="en-US" dirty="0" err="1"/>
              <a:t>kabupaten</a:t>
            </a:r>
            <a:r>
              <a:rPr lang="en-US" dirty="0"/>
              <a:t>/</a:t>
            </a:r>
            <a:r>
              <a:rPr lang="en-US" dirty="0" err="1"/>
              <a:t>kota</a:t>
            </a:r>
            <a:r>
              <a:rPr lang="en-US" dirty="0"/>
              <a:t> </a:t>
            </a:r>
            <a:r>
              <a:rPr lang="en-US" dirty="0" err="1"/>
              <a:t>dengan</a:t>
            </a:r>
            <a:r>
              <a:rPr lang="en-US" dirty="0"/>
              <a:t> </a:t>
            </a:r>
            <a:r>
              <a:rPr lang="en-US" dirty="0" err="1"/>
              <a:t>jumlah</a:t>
            </a:r>
            <a:r>
              <a:rPr lang="en-US" dirty="0"/>
              <a:t> </a:t>
            </a:r>
            <a:r>
              <a:rPr lang="en-US" dirty="0" err="1"/>
              <a:t>perusahaan</a:t>
            </a:r>
            <a:r>
              <a:rPr lang="en-US" dirty="0"/>
              <a:t> </a:t>
            </a:r>
            <a:r>
              <a:rPr lang="en-US" dirty="0" err="1"/>
              <a:t>konstruksi</a:t>
            </a:r>
            <a:r>
              <a:rPr lang="en-US" dirty="0"/>
              <a:t> </a:t>
            </a:r>
            <a:r>
              <a:rPr lang="en-US" dirty="0" err="1"/>
              <a:t>tertinggi</a:t>
            </a:r>
            <a:r>
              <a:rPr lang="en-US" dirty="0"/>
              <a:t>, </a:t>
            </a:r>
            <a:r>
              <a:rPr lang="en-US" dirty="0" err="1"/>
              <a:t>mencapai</a:t>
            </a:r>
            <a:r>
              <a:rPr lang="en-US" dirty="0"/>
              <a:t> 4.146 </a:t>
            </a:r>
            <a:r>
              <a:rPr lang="en-US" dirty="0" err="1"/>
              <a:t>perusahaan</a:t>
            </a:r>
            <a:r>
              <a:rPr lang="en-US" dirty="0"/>
              <a:t>. Dari 104 </a:t>
            </a:r>
            <a:r>
              <a:rPr lang="en-US" dirty="0" err="1"/>
              <a:t>kabupaten</a:t>
            </a:r>
            <a:r>
              <a:rPr lang="en-US" dirty="0"/>
              <a:t>/</a:t>
            </a:r>
            <a:r>
              <a:rPr lang="en-US" dirty="0" err="1"/>
              <a:t>kota</a:t>
            </a:r>
            <a:r>
              <a:rPr lang="en-US" dirty="0"/>
              <a:t> yang kami </a:t>
            </a:r>
            <a:r>
              <a:rPr lang="en-US" dirty="0" err="1"/>
              <a:t>analisis</a:t>
            </a:r>
            <a:r>
              <a:rPr lang="en-US" dirty="0"/>
              <a:t>, </a:t>
            </a:r>
            <a:r>
              <a:rPr lang="en-US" dirty="0" err="1"/>
              <a:t>terdapat</a:t>
            </a:r>
            <a:r>
              <a:rPr lang="en-US" dirty="0"/>
              <a:t> 15 yang </a:t>
            </a:r>
            <a:r>
              <a:rPr lang="en-US" dirty="0" err="1"/>
              <a:t>masuk</a:t>
            </a:r>
            <a:r>
              <a:rPr lang="en-US" dirty="0"/>
              <a:t> </a:t>
            </a:r>
            <a:r>
              <a:rPr lang="en-US" dirty="0" err="1"/>
              <a:t>kategori</a:t>
            </a:r>
            <a:r>
              <a:rPr lang="en-US" dirty="0"/>
              <a:t> Hotspot Utama.</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6</a:t>
            </a:fld>
            <a:endParaRPr lang="en-US" dirty="0"/>
          </a:p>
        </p:txBody>
      </p:sp>
    </p:spTree>
    <p:extLst>
      <p:ext uri="{BB962C8B-B14F-4D97-AF65-F5344CB8AC3E}">
        <p14:creationId xmlns:p14="http://schemas.microsoft.com/office/powerpoint/2010/main" val="3695746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kita lihat breakdown per kabupaten/kota, Surabaya memimpin sangat jauh dengan 4.146 perusahaan. Tangerang di posisi kedua dengan 2.093, diikuti Kota Bandung dengan 1.956 perusahaan. Ini artinya Surabaya adalah pusat gravitasi industri konstruksi Jawa. Untuk sales prioritas, fokus awal harus di Surabaya dan Sidoarjo. Sedangkan Tangerang dan Bandung ideal untuk pilot project karena kombinasi kepadatan perusahaan dan risk density yang tinggi.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Oke, </a:t>
            </a:r>
            <a:r>
              <a:rPr lang="en-US" dirty="0" err="1"/>
              <a:t>dari</a:t>
            </a:r>
            <a:r>
              <a:rPr lang="en-US" dirty="0"/>
              <a:t> </a:t>
            </a:r>
            <a:r>
              <a:rPr lang="en-US" dirty="0" err="1"/>
              <a:t>seksi</a:t>
            </a:r>
            <a:r>
              <a:rPr lang="en-US" dirty="0"/>
              <a:t> </a:t>
            </a:r>
            <a:r>
              <a:rPr lang="en-US" dirty="0" err="1"/>
              <a:t>pertama</a:t>
            </a:r>
            <a:r>
              <a:rPr lang="en-US" dirty="0"/>
              <a:t> </a:t>
            </a:r>
            <a:r>
              <a:rPr lang="en-US" dirty="0" err="1"/>
              <a:t>kita</a:t>
            </a:r>
            <a:r>
              <a:rPr lang="en-US" dirty="0"/>
              <a:t> </a:t>
            </a:r>
            <a:r>
              <a:rPr lang="en-US" dirty="0" err="1"/>
              <a:t>sudah</a:t>
            </a:r>
            <a:r>
              <a:rPr lang="en-US" dirty="0"/>
              <a:t> </a:t>
            </a:r>
            <a:r>
              <a:rPr lang="en-US" dirty="0" err="1"/>
              <a:t>tahu</a:t>
            </a:r>
            <a:r>
              <a:rPr lang="en-US" dirty="0"/>
              <a:t> </a:t>
            </a:r>
            <a:r>
              <a:rPr lang="en-US" b="1" dirty="0"/>
              <a:t>di mana </a:t>
            </a:r>
            <a:r>
              <a:rPr lang="en-US" b="1" dirty="0" err="1"/>
              <a:t>konsentrasi</a:t>
            </a:r>
            <a:r>
              <a:rPr lang="en-US" b="1" dirty="0"/>
              <a:t> </a:t>
            </a:r>
            <a:r>
              <a:rPr lang="en-US" b="1" dirty="0" err="1"/>
              <a:t>perusahaan</a:t>
            </a:r>
            <a:r>
              <a:rPr lang="en-US" b="1" dirty="0"/>
              <a:t> </a:t>
            </a:r>
            <a:r>
              <a:rPr lang="en-US" b="1" dirty="0" err="1"/>
              <a:t>konstruksinya</a:t>
            </a:r>
            <a:r>
              <a:rPr lang="en-US" dirty="0"/>
              <a:t> — Jawa Timur </a:t>
            </a:r>
            <a:r>
              <a:rPr lang="en-US" dirty="0" err="1"/>
              <a:t>memimpin</a:t>
            </a:r>
            <a:r>
              <a:rPr lang="en-US" dirty="0"/>
              <a:t> </a:t>
            </a:r>
            <a:r>
              <a:rPr lang="en-US" dirty="0" err="1"/>
              <a:t>jauh</a:t>
            </a:r>
            <a:r>
              <a:rPr lang="en-US" dirty="0"/>
              <a:t>, Surabaya </a:t>
            </a:r>
            <a:r>
              <a:rPr lang="en-US" dirty="0" err="1"/>
              <a:t>jadi</a:t>
            </a:r>
            <a:r>
              <a:rPr lang="en-US" dirty="0"/>
              <a:t> </a:t>
            </a:r>
            <a:r>
              <a:rPr lang="en-US" dirty="0" err="1"/>
              <a:t>kota</a:t>
            </a:r>
            <a:r>
              <a:rPr lang="en-US" dirty="0"/>
              <a:t> </a:t>
            </a:r>
            <a:r>
              <a:rPr lang="en-US" dirty="0" err="1"/>
              <a:t>terbesar</a:t>
            </a:r>
            <a:r>
              <a:rPr lang="en-US" dirty="0"/>
              <a:t>.</a:t>
            </a:r>
          </a:p>
          <a:p>
            <a:r>
              <a:rPr lang="en-US" dirty="0"/>
              <a:t>Kita </a:t>
            </a:r>
            <a:r>
              <a:rPr lang="en-US" dirty="0" err="1"/>
              <a:t>perlu</a:t>
            </a:r>
            <a:r>
              <a:rPr lang="en-US" dirty="0"/>
              <a:t> </a:t>
            </a:r>
            <a:r>
              <a:rPr lang="en-US" dirty="0" err="1"/>
              <a:t>tahu</a:t>
            </a:r>
            <a:r>
              <a:rPr lang="en-US" dirty="0"/>
              <a:t> </a:t>
            </a:r>
            <a:r>
              <a:rPr lang="en-US" dirty="0" err="1"/>
              <a:t>satu</a:t>
            </a:r>
            <a:r>
              <a:rPr lang="en-US" dirty="0"/>
              <a:t> </a:t>
            </a:r>
            <a:r>
              <a:rPr lang="en-US" dirty="0" err="1"/>
              <a:t>hal</a:t>
            </a:r>
            <a:r>
              <a:rPr lang="en-US" dirty="0"/>
              <a:t> </a:t>
            </a:r>
            <a:r>
              <a:rPr lang="en-US" dirty="0" err="1"/>
              <a:t>lagi</a:t>
            </a:r>
            <a:r>
              <a:rPr lang="en-US" dirty="0"/>
              <a:t>:</a:t>
            </a:r>
          </a:p>
          <a:p>
            <a:r>
              <a:rPr lang="en-US" b="1" dirty="0" err="1"/>
              <a:t>Seberapa</a:t>
            </a:r>
            <a:r>
              <a:rPr lang="en-US" b="1" dirty="0"/>
              <a:t> </a:t>
            </a:r>
            <a:r>
              <a:rPr lang="en-US" b="1" dirty="0" err="1"/>
              <a:t>besar</a:t>
            </a:r>
            <a:r>
              <a:rPr lang="en-US" b="1" dirty="0"/>
              <a:t> </a:t>
            </a:r>
            <a:r>
              <a:rPr lang="en-US" b="1" dirty="0" err="1"/>
              <a:t>urgensi</a:t>
            </a:r>
            <a:r>
              <a:rPr lang="en-US" b="1" dirty="0"/>
              <a:t> </a:t>
            </a:r>
            <a:r>
              <a:rPr lang="en-US" b="1" dirty="0" err="1"/>
              <a:t>mereka</a:t>
            </a:r>
            <a:r>
              <a:rPr lang="en-US" b="1" dirty="0"/>
              <a:t> untuk </a:t>
            </a:r>
            <a:r>
              <a:rPr lang="en-US" b="1" dirty="0" err="1"/>
              <a:t>membeli</a:t>
            </a:r>
            <a:r>
              <a:rPr lang="en-US" b="1" dirty="0"/>
              <a:t> </a:t>
            </a:r>
            <a:r>
              <a:rPr lang="en-US" b="1" dirty="0" err="1"/>
              <a:t>solusi</a:t>
            </a:r>
            <a:r>
              <a:rPr lang="en-US" b="1" dirty="0"/>
              <a:t> </a:t>
            </a:r>
            <a:r>
              <a:rPr lang="en-US" b="1" dirty="0" err="1"/>
              <a:t>keselamatan</a:t>
            </a:r>
            <a:r>
              <a:rPr lang="en-US" b="1" dirty="0"/>
              <a:t>?</a:t>
            </a:r>
            <a:endParaRPr lang="en-US" dirty="0"/>
          </a:p>
          <a:p>
            <a:r>
              <a:rPr lang="en-US" dirty="0"/>
              <a:t>Seksi ini </a:t>
            </a:r>
            <a:r>
              <a:rPr lang="en-US" dirty="0" err="1"/>
              <a:t>menjawab</a:t>
            </a:r>
            <a:r>
              <a:rPr lang="en-US" dirty="0"/>
              <a:t> </a:t>
            </a:r>
            <a:r>
              <a:rPr lang="en-US" dirty="0" err="1"/>
              <a:t>itu</a:t>
            </a:r>
            <a:r>
              <a:rPr lang="en-US" dirty="0"/>
              <a:t> — </a:t>
            </a:r>
            <a:r>
              <a:rPr lang="en-US" dirty="0" err="1"/>
              <a:t>dengan</a:t>
            </a:r>
            <a:r>
              <a:rPr lang="en-US" dirty="0"/>
              <a:t> </a:t>
            </a:r>
            <a:r>
              <a:rPr lang="en-US" dirty="0" err="1"/>
              <a:t>menggabungkan</a:t>
            </a:r>
            <a:r>
              <a:rPr lang="en-US" dirty="0"/>
              <a:t> data </a:t>
            </a:r>
            <a:r>
              <a:rPr lang="en-US" dirty="0" err="1"/>
              <a:t>kecelakaan</a:t>
            </a:r>
            <a:r>
              <a:rPr lang="en-US" dirty="0"/>
              <a:t> </a:t>
            </a:r>
            <a:r>
              <a:rPr lang="en-US" dirty="0" err="1"/>
              <a:t>kerja</a:t>
            </a:r>
            <a:r>
              <a:rPr lang="en-US" dirty="0"/>
              <a:t> dan data </a:t>
            </a:r>
            <a:r>
              <a:rPr lang="en-US" dirty="0" err="1"/>
              <a:t>perusahaan</a:t>
            </a:r>
            <a:r>
              <a:rPr lang="en-US" dirty="0"/>
              <a:t> ke </a:t>
            </a:r>
            <a:r>
              <a:rPr lang="en-US" dirty="0" err="1"/>
              <a:t>dalam</a:t>
            </a:r>
            <a:r>
              <a:rPr lang="en-US" dirty="0"/>
              <a:t> </a:t>
            </a:r>
            <a:r>
              <a:rPr lang="en-US" dirty="0" err="1"/>
              <a:t>satu</a:t>
            </a:r>
            <a:r>
              <a:rPr lang="en-US" dirty="0"/>
              <a:t> </a:t>
            </a:r>
            <a:r>
              <a:rPr lang="en-US" dirty="0" err="1"/>
              <a:t>metrik</a:t>
            </a:r>
            <a:r>
              <a:rPr lang="en-US" dirty="0"/>
              <a:t> </a:t>
            </a:r>
            <a:r>
              <a:rPr lang="en-US" dirty="0" err="1"/>
              <a:t>tunggal</a:t>
            </a:r>
            <a:r>
              <a:rPr lang="en-US" dirty="0"/>
              <a:t> yang </a:t>
            </a:r>
            <a:r>
              <a:rPr lang="en-US" dirty="0" err="1"/>
              <a:t>bisa</a:t>
            </a:r>
            <a:r>
              <a:rPr lang="en-US" dirty="0"/>
              <a:t> </a:t>
            </a:r>
            <a:r>
              <a:rPr lang="en-US" dirty="0" err="1"/>
              <a:t>dibandingkan</a:t>
            </a:r>
            <a:r>
              <a:rPr lang="en-US" dirty="0"/>
              <a:t> </a:t>
            </a:r>
            <a:r>
              <a:rPr lang="en-US" dirty="0" err="1"/>
              <a:t>antar</a:t>
            </a:r>
            <a:r>
              <a:rPr lang="en-US" dirty="0"/>
              <a:t> </a:t>
            </a:r>
            <a:r>
              <a:rPr lang="en-US" dirty="0" err="1"/>
              <a:t>provinsi</a:t>
            </a:r>
            <a:r>
              <a:rPr lang="en-US" dirty="0"/>
              <a:t>."</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8</a:t>
            </a:fld>
            <a:endParaRPr lang="en-US" dirty="0"/>
          </a:p>
        </p:txBody>
      </p:sp>
    </p:spTree>
    <p:extLst>
      <p:ext uri="{BB962C8B-B14F-4D97-AF65-F5344CB8AC3E}">
        <p14:creationId xmlns:p14="http://schemas.microsoft.com/office/powerpoint/2010/main" val="4265203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7F06-330B-4462-DBB6-29903CE68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1180E-5137-8DDC-3A1E-1547D75DF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3EF91-473F-9A56-36C4-12F58A56A1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Kami </a:t>
            </a:r>
            <a:r>
              <a:rPr lang="en-US" dirty="0" err="1"/>
              <a:t>mendefinisikan</a:t>
            </a:r>
            <a:r>
              <a:rPr lang="en-US" dirty="0"/>
              <a:t> </a:t>
            </a:r>
            <a:r>
              <a:rPr lang="en-US" b="1" dirty="0"/>
              <a:t>Opportunity </a:t>
            </a:r>
            <a:r>
              <a:rPr lang="en-US" b="1" dirty="0" err="1"/>
              <a:t>Score</a:t>
            </a:r>
            <a:r>
              <a:rPr lang="en-US" sz="1200" b="0" kern="1200" dirty="0" err="1">
                <a:solidFill>
                  <a:schemeClr val="tx1"/>
                </a:solidFill>
                <a:effectLst/>
                <a:latin typeface="+mn-lt"/>
                <a:ea typeface="+mn-ea"/>
                <a:cs typeface="+mn-cs"/>
              </a:rPr>
              <a:t>engan</a:t>
            </a:r>
            <a:r>
              <a:rPr lang="en-US" sz="1200" b="0" kern="1200" dirty="0">
                <a:solidFill>
                  <a:schemeClr val="tx1"/>
                </a:solidFill>
                <a:effectLst/>
                <a:latin typeface="+mn-lt"/>
                <a:ea typeface="+mn-ea"/>
                <a:cs typeface="+mn-cs"/>
              </a:rPr>
              <a:t> formula: </a:t>
            </a:r>
            <a:r>
              <a:rPr lang="en-US" sz="1200" b="0" kern="1200" dirty="0" err="1">
                <a:solidFill>
                  <a:schemeClr val="tx1"/>
                </a:solidFill>
                <a:effectLst/>
                <a:latin typeface="+mn-lt"/>
                <a:ea typeface="+mn-ea"/>
                <a:cs typeface="+mn-cs"/>
              </a:rPr>
              <a:t>Kecelakaan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Konstruksi</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Jumlah</a:t>
            </a:r>
            <a:r>
              <a:rPr lang="en-US" sz="1200" b="0" kern="1200" dirty="0">
                <a:solidFill>
                  <a:schemeClr val="tx1"/>
                </a:solidFill>
                <a:effectLst/>
                <a:latin typeface="+mn-lt"/>
                <a:ea typeface="+mn-ea"/>
                <a:cs typeface="+mn-cs"/>
              </a:rPr>
              <a:t> Perusahaan </a:t>
            </a:r>
            <a:r>
              <a:rPr lang="en-US" sz="1200" b="0" kern="1200" dirty="0" err="1">
                <a:solidFill>
                  <a:schemeClr val="tx1"/>
                </a:solidFill>
                <a:effectLst/>
                <a:latin typeface="+mn-lt"/>
                <a:ea typeface="+mn-ea"/>
                <a:cs typeface="+mn-cs"/>
              </a:rPr>
              <a:t>Aktif</a:t>
            </a:r>
            <a:r>
              <a:rPr lang="en-US" sz="1200" b="0" kern="1200" dirty="0">
                <a:solidFill>
                  <a:schemeClr val="tx1"/>
                </a:solidFill>
                <a:effectLst/>
                <a:latin typeface="+mn-lt"/>
                <a:ea typeface="+mn-ea"/>
                <a:cs typeface="+mn-cs"/>
              </a:rPr>
              <a:t>. </a:t>
            </a:r>
            <a:r>
              <a:rPr lang="en-US" dirty="0" err="1"/>
              <a:t>Logikanya</a:t>
            </a:r>
            <a:r>
              <a:rPr lang="en-US" dirty="0"/>
              <a:t>: </a:t>
            </a:r>
            <a:r>
              <a:rPr lang="en-US" dirty="0" err="1"/>
              <a:t>kecelakaan</a:t>
            </a:r>
            <a:r>
              <a:rPr lang="en-US" dirty="0"/>
              <a:t> </a:t>
            </a:r>
            <a:r>
              <a:rPr lang="en-US" dirty="0" err="1"/>
              <a:t>menunjukkan</a:t>
            </a:r>
            <a:r>
              <a:rPr lang="en-US" dirty="0"/>
              <a:t> </a:t>
            </a:r>
            <a:r>
              <a:rPr lang="en-US" i="1" dirty="0" err="1"/>
              <a:t>seberapa</a:t>
            </a:r>
            <a:r>
              <a:rPr lang="en-US" i="1" dirty="0"/>
              <a:t> </a:t>
            </a:r>
            <a:r>
              <a:rPr lang="en-US" i="1" dirty="0" err="1"/>
              <a:t>mendesak</a:t>
            </a:r>
            <a:r>
              <a:rPr lang="en-US" dirty="0"/>
              <a:t> </a:t>
            </a:r>
            <a:r>
              <a:rPr lang="en-US" dirty="0" err="1"/>
              <a:t>masalahnya</a:t>
            </a:r>
            <a:r>
              <a:rPr lang="en-US" dirty="0"/>
              <a:t>, </a:t>
            </a:r>
            <a:r>
              <a:rPr lang="en-US" dirty="0" err="1"/>
              <a:t>perusahaan</a:t>
            </a:r>
            <a:r>
              <a:rPr lang="en-US" dirty="0"/>
              <a:t> </a:t>
            </a:r>
            <a:r>
              <a:rPr lang="en-US" dirty="0" err="1"/>
              <a:t>menunjukkan</a:t>
            </a:r>
            <a:r>
              <a:rPr lang="en-US" dirty="0"/>
              <a:t> </a:t>
            </a:r>
            <a:r>
              <a:rPr lang="en-US" i="1" dirty="0" err="1"/>
              <a:t>seberapa</a:t>
            </a:r>
            <a:r>
              <a:rPr lang="en-US" i="1" dirty="0"/>
              <a:t> </a:t>
            </a:r>
            <a:r>
              <a:rPr lang="en-US" i="1" dirty="0" err="1"/>
              <a:t>luas</a:t>
            </a:r>
            <a:r>
              <a:rPr lang="en-US" dirty="0"/>
              <a:t> pasar </a:t>
            </a:r>
            <a:r>
              <a:rPr lang="en-US" dirty="0" err="1"/>
              <a:t>potensialnya</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Jawa Timur </a:t>
            </a:r>
            <a:r>
              <a:rPr lang="en-US" b="1" dirty="0" err="1"/>
              <a:t>keluar</a:t>
            </a:r>
            <a:r>
              <a:rPr lang="en-US" b="1" dirty="0"/>
              <a:t> </a:t>
            </a:r>
            <a:r>
              <a:rPr lang="en-US" b="1" dirty="0" err="1"/>
              <a:t>sebagai</a:t>
            </a:r>
            <a:r>
              <a:rPr lang="en-US" b="1" dirty="0"/>
              <a:t> yang </a:t>
            </a:r>
            <a:r>
              <a:rPr lang="en-US" b="1" dirty="0" err="1"/>
              <a:t>tertinggi</a:t>
            </a:r>
            <a:r>
              <a:rPr lang="en-US" b="1" dirty="0"/>
              <a:t> </a:t>
            </a:r>
            <a:r>
              <a:rPr lang="en-US" b="1" dirty="0" err="1"/>
              <a:t>dengan</a:t>
            </a:r>
            <a:r>
              <a:rPr lang="en-US" b="1" dirty="0"/>
              <a:t> </a:t>
            </a:r>
            <a:r>
              <a:rPr lang="en-US" b="1" dirty="0" err="1"/>
              <a:t>skor</a:t>
            </a:r>
            <a:r>
              <a:rPr lang="en-US" b="1" dirty="0"/>
              <a:t> 25.203.</a:t>
            </a:r>
            <a:r>
              <a:rPr lang="en-US" dirty="0"/>
              <a:t> Ini </a:t>
            </a:r>
            <a:r>
              <a:rPr lang="en-US" dirty="0" err="1"/>
              <a:t>didorong</a:t>
            </a:r>
            <a:r>
              <a:rPr lang="en-US" dirty="0"/>
              <a:t> </a:t>
            </a:r>
            <a:r>
              <a:rPr lang="en-US" dirty="0" err="1"/>
              <a:t>terutama</a:t>
            </a:r>
            <a:r>
              <a:rPr lang="en-US" dirty="0"/>
              <a:t> oleh </a:t>
            </a:r>
            <a:r>
              <a:rPr lang="en-US" dirty="0" err="1"/>
              <a:t>jumlah</a:t>
            </a:r>
            <a:r>
              <a:rPr lang="en-US" dirty="0"/>
              <a:t> </a:t>
            </a:r>
            <a:r>
              <a:rPr lang="en-US" dirty="0" err="1"/>
              <a:t>perusahaannya</a:t>
            </a:r>
            <a:r>
              <a:rPr lang="en-US" dirty="0"/>
              <a:t> yang </a:t>
            </a:r>
            <a:r>
              <a:rPr lang="en-US" dirty="0" err="1"/>
              <a:t>jauh</a:t>
            </a:r>
            <a:r>
              <a:rPr lang="en-US" dirty="0"/>
              <a:t> </a:t>
            </a:r>
            <a:r>
              <a:rPr lang="en-US" dirty="0" err="1"/>
              <a:t>melampaui</a:t>
            </a:r>
            <a:r>
              <a:rPr lang="en-US" dirty="0"/>
              <a:t> </a:t>
            </a:r>
            <a:r>
              <a:rPr lang="en-US" dirty="0" err="1"/>
              <a:t>provinsi</a:t>
            </a:r>
            <a:r>
              <a:rPr lang="en-US" dirty="0"/>
              <a:t> lain. </a:t>
            </a:r>
            <a:r>
              <a:rPr lang="en-US" dirty="0" err="1"/>
              <a:t>Kecelakaannya</a:t>
            </a:r>
            <a:r>
              <a:rPr lang="en-US" dirty="0"/>
              <a:t> 639 </a:t>
            </a:r>
            <a:r>
              <a:rPr lang="en-US" dirty="0" err="1"/>
              <a:t>kasus</a:t>
            </a:r>
            <a:r>
              <a:rPr lang="en-US" dirty="0"/>
              <a:t>, </a:t>
            </a:r>
            <a:r>
              <a:rPr lang="en-US" dirty="0" err="1"/>
              <a:t>bukan</a:t>
            </a:r>
            <a:r>
              <a:rPr lang="en-US" dirty="0"/>
              <a:t> yang </a:t>
            </a:r>
            <a:r>
              <a:rPr lang="en-US" dirty="0" err="1"/>
              <a:t>terbanyak</a:t>
            </a:r>
            <a:r>
              <a:rPr lang="en-US" dirty="0"/>
              <a:t>, </a:t>
            </a:r>
            <a:r>
              <a:rPr lang="en-US" dirty="0" err="1"/>
              <a:t>tapi</a:t>
            </a:r>
            <a:r>
              <a:rPr lang="en-US" dirty="0"/>
              <a:t> basis </a:t>
            </a:r>
            <a:r>
              <a:rPr lang="en-US" dirty="0" err="1"/>
              <a:t>perusahaannya</a:t>
            </a:r>
            <a:r>
              <a:rPr lang="en-US" dirty="0"/>
              <a:t> yang </a:t>
            </a:r>
            <a:r>
              <a:rPr lang="en-US" dirty="0" err="1"/>
              <a:t>besar</a:t>
            </a:r>
            <a:r>
              <a:rPr lang="en-US" dirty="0"/>
              <a:t> </a:t>
            </a:r>
            <a:r>
              <a:rPr lang="en-US" dirty="0" err="1"/>
              <a:t>mengangkat</a:t>
            </a:r>
            <a:r>
              <a:rPr lang="en-US" dirty="0"/>
              <a:t> </a:t>
            </a:r>
            <a:r>
              <a:rPr lang="en-US" dirty="0" err="1"/>
              <a:t>skor</a:t>
            </a:r>
            <a:r>
              <a:rPr lang="en-US" dirty="0"/>
              <a:t> </a:t>
            </a:r>
            <a:r>
              <a:rPr lang="en-US" dirty="0" err="1"/>
              <a:t>keseluruhan</a:t>
            </a:r>
            <a:r>
              <a:rPr lang="en-US" dirty="0"/>
              <a:t>.</a:t>
            </a:r>
          </a:p>
          <a:p>
            <a:r>
              <a:rPr lang="en-US" dirty="0"/>
              <a:t>Jawa Barat </a:t>
            </a:r>
            <a:r>
              <a:rPr lang="en-US" dirty="0" err="1"/>
              <a:t>ada</a:t>
            </a:r>
            <a:r>
              <a:rPr lang="en-US" dirty="0"/>
              <a:t> di </a:t>
            </a:r>
            <a:r>
              <a:rPr lang="en-US" dirty="0" err="1"/>
              <a:t>posisi</a:t>
            </a:r>
            <a:r>
              <a:rPr lang="en-US" dirty="0"/>
              <a:t> </a:t>
            </a:r>
            <a:r>
              <a:rPr lang="en-US" dirty="0" err="1"/>
              <a:t>kedua</a:t>
            </a:r>
            <a:r>
              <a:rPr lang="en-US" dirty="0"/>
              <a:t>. Yang </a:t>
            </a:r>
            <a:r>
              <a:rPr lang="en-US" dirty="0" err="1"/>
              <a:t>menarik</a:t>
            </a:r>
            <a:r>
              <a:rPr lang="en-US" dirty="0"/>
              <a:t> </a:t>
            </a:r>
            <a:r>
              <a:rPr lang="en-US" b="1" dirty="0"/>
              <a:t>Jawa Barat punya </a:t>
            </a:r>
            <a:r>
              <a:rPr lang="en-US" b="1" dirty="0" err="1"/>
              <a:t>angka</a:t>
            </a:r>
            <a:r>
              <a:rPr lang="en-US" b="1" dirty="0"/>
              <a:t> </a:t>
            </a:r>
            <a:r>
              <a:rPr lang="en-US" b="1" dirty="0" err="1"/>
              <a:t>kecelakaan</a:t>
            </a:r>
            <a:r>
              <a:rPr lang="en-US" b="1" dirty="0"/>
              <a:t> </a:t>
            </a:r>
            <a:r>
              <a:rPr lang="en-US" b="1" dirty="0" err="1"/>
              <a:t>tertinggi</a:t>
            </a:r>
            <a:r>
              <a:rPr lang="en-US" b="1" dirty="0"/>
              <a:t> </a:t>
            </a:r>
            <a:r>
              <a:rPr lang="en-US" b="1" dirty="0" err="1"/>
              <a:t>secara</a:t>
            </a:r>
            <a:r>
              <a:rPr lang="en-US" b="1" dirty="0"/>
              <a:t> </a:t>
            </a:r>
            <a:r>
              <a:rPr lang="en-US" b="1" dirty="0" err="1"/>
              <a:t>absolut</a:t>
            </a:r>
            <a:r>
              <a:rPr lang="en-US" b="1" dirty="0"/>
              <a:t>, 710 </a:t>
            </a:r>
            <a:r>
              <a:rPr lang="en-US" b="1" dirty="0" err="1"/>
              <a:t>kasus</a:t>
            </a:r>
            <a:r>
              <a:rPr lang="en-US" b="1" dirty="0"/>
              <a:t>.</a:t>
            </a:r>
            <a:r>
              <a:rPr lang="en-US" dirty="0"/>
              <a:t> Tapi </a:t>
            </a:r>
            <a:r>
              <a:rPr lang="en-US" dirty="0" err="1"/>
              <a:t>karena</a:t>
            </a:r>
            <a:r>
              <a:rPr lang="en-US" dirty="0"/>
              <a:t> </a:t>
            </a:r>
            <a:r>
              <a:rPr lang="en-US" dirty="0" err="1"/>
              <a:t>jumlah</a:t>
            </a:r>
            <a:r>
              <a:rPr lang="en-US" dirty="0"/>
              <a:t> </a:t>
            </a:r>
            <a:r>
              <a:rPr lang="en-US" dirty="0" err="1"/>
              <a:t>perusahaannya</a:t>
            </a:r>
            <a:r>
              <a:rPr lang="en-US" dirty="0"/>
              <a:t> </a:t>
            </a:r>
            <a:r>
              <a:rPr lang="en-US" dirty="0" err="1"/>
              <a:t>lebih</a:t>
            </a:r>
            <a:r>
              <a:rPr lang="en-US" dirty="0"/>
              <a:t> </a:t>
            </a:r>
            <a:r>
              <a:rPr lang="en-US" dirty="0" err="1"/>
              <a:t>sedikit</a:t>
            </a:r>
            <a:r>
              <a:rPr lang="en-US" dirty="0"/>
              <a:t>, </a:t>
            </a:r>
            <a:r>
              <a:rPr lang="en-US" dirty="0" err="1"/>
              <a:t>skor</a:t>
            </a:r>
            <a:r>
              <a:rPr lang="en-US" dirty="0"/>
              <a:t> </a:t>
            </a:r>
            <a:r>
              <a:rPr lang="en-US" dirty="0" err="1"/>
              <a:t>totalnya</a:t>
            </a:r>
            <a:r>
              <a:rPr lang="en-US" dirty="0"/>
              <a:t> </a:t>
            </a:r>
            <a:r>
              <a:rPr lang="en-US" dirty="0" err="1"/>
              <a:t>tetap</a:t>
            </a:r>
            <a:r>
              <a:rPr lang="en-US" dirty="0"/>
              <a:t> di </a:t>
            </a:r>
            <a:r>
              <a:rPr lang="en-US" dirty="0" err="1"/>
              <a:t>bawah</a:t>
            </a:r>
            <a:r>
              <a:rPr lang="en-US" dirty="0"/>
              <a:t> Jatim.</a:t>
            </a:r>
          </a:p>
          <a:p>
            <a:r>
              <a:rPr lang="en-US" i="1" dirty="0"/>
              <a:t>(</a:t>
            </a:r>
            <a:r>
              <a:rPr lang="en-US" i="1" dirty="0" err="1"/>
              <a:t>geser</a:t>
            </a:r>
            <a:r>
              <a:rPr lang="en-US" i="1" dirty="0"/>
              <a:t> ke </a:t>
            </a:r>
            <a:r>
              <a:rPr lang="en-US" i="1" dirty="0" err="1"/>
              <a:t>kolom</a:t>
            </a:r>
            <a:r>
              <a:rPr lang="en-US" i="1" dirty="0"/>
              <a:t> Risk Density, </a:t>
            </a:r>
            <a:r>
              <a:rPr lang="en-US" i="1" dirty="0" err="1"/>
              <a:t>khususnya</a:t>
            </a:r>
            <a:r>
              <a:rPr lang="en-US" i="1" dirty="0"/>
              <a:t> baris Jabar dan Banten)</a:t>
            </a:r>
            <a:endParaRPr lang="en-US" dirty="0"/>
          </a:p>
          <a:p>
            <a:r>
              <a:rPr lang="en-US" dirty="0" err="1"/>
              <a:t>Inilah</a:t>
            </a:r>
            <a:r>
              <a:rPr lang="en-US" dirty="0"/>
              <a:t> </a:t>
            </a:r>
            <a:r>
              <a:rPr lang="en-US" dirty="0" err="1"/>
              <a:t>kenapa</a:t>
            </a:r>
            <a:r>
              <a:rPr lang="en-US" dirty="0"/>
              <a:t> kami </a:t>
            </a:r>
            <a:r>
              <a:rPr lang="en-US" dirty="0" err="1"/>
              <a:t>tidak</a:t>
            </a:r>
            <a:r>
              <a:rPr lang="en-US" dirty="0"/>
              <a:t> </a:t>
            </a:r>
            <a:r>
              <a:rPr lang="en-US" dirty="0" err="1"/>
              <a:t>hanya</a:t>
            </a:r>
            <a:r>
              <a:rPr lang="en-US" dirty="0"/>
              <a:t> </a:t>
            </a:r>
            <a:r>
              <a:rPr lang="en-US" dirty="0" err="1"/>
              <a:t>berhenti</a:t>
            </a:r>
            <a:r>
              <a:rPr lang="en-US" dirty="0"/>
              <a:t> di Opportunity Score. Kami juga </a:t>
            </a:r>
            <a:r>
              <a:rPr lang="en-US" dirty="0" err="1"/>
              <a:t>menghitung</a:t>
            </a:r>
            <a:r>
              <a:rPr lang="en-US" dirty="0"/>
              <a:t> </a:t>
            </a:r>
            <a:r>
              <a:rPr lang="en-US" b="1" dirty="0"/>
              <a:t>Risk Density</a:t>
            </a:r>
            <a:r>
              <a:rPr lang="en-US" dirty="0"/>
              <a:t> — </a:t>
            </a:r>
            <a:r>
              <a:rPr lang="en-US" dirty="0" err="1"/>
              <a:t>yaitu</a:t>
            </a:r>
            <a:r>
              <a:rPr lang="en-US" dirty="0"/>
              <a:t> </a:t>
            </a:r>
            <a:r>
              <a:rPr lang="en-US" dirty="0" err="1"/>
              <a:t>berapa</a:t>
            </a:r>
            <a:r>
              <a:rPr lang="en-US" dirty="0"/>
              <a:t> </a:t>
            </a:r>
            <a:r>
              <a:rPr lang="en-US" dirty="0" err="1"/>
              <a:t>kecelakaan</a:t>
            </a:r>
            <a:r>
              <a:rPr lang="en-US" dirty="0"/>
              <a:t> per 1.000 </a:t>
            </a:r>
            <a:r>
              <a:rPr lang="en-US" dirty="0" err="1"/>
              <a:t>perusahaan</a:t>
            </a:r>
            <a:r>
              <a:rPr lang="en-US" dirty="0"/>
              <a:t>. Dan di </a:t>
            </a:r>
            <a:r>
              <a:rPr lang="en-US" dirty="0" err="1"/>
              <a:t>sini</a:t>
            </a:r>
            <a:r>
              <a:rPr lang="en-US" dirty="0"/>
              <a:t> </a:t>
            </a:r>
            <a:r>
              <a:rPr lang="en-US" dirty="0" err="1"/>
              <a:t>ceritanya</a:t>
            </a:r>
            <a:r>
              <a:rPr lang="en-US" dirty="0"/>
              <a:t> </a:t>
            </a:r>
            <a:r>
              <a:rPr lang="en-US" dirty="0" err="1"/>
              <a:t>berbalik</a:t>
            </a:r>
            <a:r>
              <a:rPr lang="en-US" dirty="0"/>
              <a:t>.</a:t>
            </a:r>
          </a:p>
          <a:p>
            <a:r>
              <a:rPr lang="en-US" b="1" dirty="0"/>
              <a:t>Banten </a:t>
            </a:r>
            <a:r>
              <a:rPr lang="en-US" b="1" dirty="0" err="1"/>
              <a:t>memiliki</a:t>
            </a:r>
            <a:r>
              <a:rPr lang="en-US" b="1" dirty="0"/>
              <a:t> risk density </a:t>
            </a:r>
            <a:r>
              <a:rPr lang="en-US" b="1" dirty="0" err="1"/>
              <a:t>tertinggi</a:t>
            </a:r>
            <a:r>
              <a:rPr lang="en-US" b="1" dirty="0"/>
              <a:t>: 44,4 per 1.000 </a:t>
            </a:r>
            <a:r>
              <a:rPr lang="en-US" b="1" dirty="0" err="1"/>
              <a:t>perusahaan</a:t>
            </a:r>
            <a:r>
              <a:rPr lang="en-US" b="1" dirty="0"/>
              <a:t>.</a:t>
            </a:r>
            <a:r>
              <a:rPr lang="en-US" dirty="0"/>
              <a:t> </a:t>
            </a:r>
            <a:r>
              <a:rPr lang="en-US" dirty="0" err="1"/>
              <a:t>Artinya</a:t>
            </a:r>
            <a:r>
              <a:rPr lang="en-US" dirty="0"/>
              <a:t>, </a:t>
            </a:r>
            <a:r>
              <a:rPr lang="en-US" dirty="0" err="1"/>
              <a:t>satu</a:t>
            </a:r>
            <a:r>
              <a:rPr lang="en-US" dirty="0"/>
              <a:t> </a:t>
            </a:r>
            <a:r>
              <a:rPr lang="en-US" dirty="0" err="1"/>
              <a:t>dari</a:t>
            </a:r>
            <a:r>
              <a:rPr lang="en-US" dirty="0"/>
              <a:t> </a:t>
            </a:r>
            <a:r>
              <a:rPr lang="en-US" dirty="0" err="1"/>
              <a:t>setiap</a:t>
            </a:r>
            <a:r>
              <a:rPr lang="en-US" dirty="0"/>
              <a:t> 22 </a:t>
            </a:r>
            <a:r>
              <a:rPr lang="en-US" dirty="0" err="1"/>
              <a:t>perusahaan</a:t>
            </a:r>
            <a:r>
              <a:rPr lang="en-US" dirty="0"/>
              <a:t> </a:t>
            </a:r>
            <a:r>
              <a:rPr lang="en-US" dirty="0" err="1"/>
              <a:t>konstruksi</a:t>
            </a:r>
            <a:r>
              <a:rPr lang="en-US" dirty="0"/>
              <a:t> di Banten </a:t>
            </a:r>
            <a:r>
              <a:rPr lang="en-US" dirty="0" err="1"/>
              <a:t>terlibat</a:t>
            </a:r>
            <a:r>
              <a:rPr lang="en-US" dirty="0"/>
              <a:t> </a:t>
            </a:r>
            <a:r>
              <a:rPr lang="en-US" dirty="0" err="1"/>
              <a:t>kasus</a:t>
            </a:r>
            <a:r>
              <a:rPr lang="en-US" dirty="0"/>
              <a:t> </a:t>
            </a:r>
            <a:r>
              <a:rPr lang="en-US" dirty="0" err="1"/>
              <a:t>kecelakaan</a:t>
            </a:r>
            <a:r>
              <a:rPr lang="en-US" dirty="0"/>
              <a:t> </a:t>
            </a:r>
            <a:r>
              <a:rPr lang="en-US" dirty="0" err="1"/>
              <a:t>dalam</a:t>
            </a:r>
            <a:r>
              <a:rPr lang="en-US" dirty="0"/>
              <a:t> </a:t>
            </a:r>
            <a:r>
              <a:rPr lang="en-US" dirty="0" err="1"/>
              <a:t>setahun</a:t>
            </a:r>
            <a:r>
              <a:rPr lang="en-US" dirty="0"/>
              <a:t>. Jawa Barat </a:t>
            </a:r>
            <a:r>
              <a:rPr lang="en-US" dirty="0" err="1"/>
              <a:t>menyusul</a:t>
            </a:r>
            <a:r>
              <a:rPr lang="en-US" dirty="0"/>
              <a:t> di 39,6. </a:t>
            </a:r>
            <a:r>
              <a:rPr lang="en-US" dirty="0" err="1"/>
              <a:t>Sementara</a:t>
            </a:r>
            <a:r>
              <a:rPr lang="en-US" dirty="0"/>
              <a:t> Jawa Timur yang </a:t>
            </a:r>
            <a:r>
              <a:rPr lang="en-US" dirty="0" err="1"/>
              <a:t>skor</a:t>
            </a:r>
            <a:r>
              <a:rPr lang="en-US" dirty="0"/>
              <a:t> opportunity-</a:t>
            </a:r>
            <a:r>
              <a:rPr lang="en-US" dirty="0" err="1"/>
              <a:t>nya</a:t>
            </a:r>
            <a:r>
              <a:rPr lang="en-US" dirty="0"/>
              <a:t> paling </a:t>
            </a:r>
            <a:r>
              <a:rPr lang="en-US" dirty="0" err="1"/>
              <a:t>besar</a:t>
            </a:r>
            <a:r>
              <a:rPr lang="en-US" dirty="0"/>
              <a:t> </a:t>
            </a:r>
            <a:r>
              <a:rPr lang="en-US" dirty="0" err="1"/>
              <a:t>justru</a:t>
            </a:r>
            <a:r>
              <a:rPr lang="en-US" dirty="0"/>
              <a:t> punya risk density </a:t>
            </a:r>
            <a:r>
              <a:rPr lang="en-US" dirty="0" err="1"/>
              <a:t>lebih</a:t>
            </a:r>
            <a:r>
              <a:rPr lang="en-US" dirty="0"/>
              <a:t> </a:t>
            </a:r>
            <a:r>
              <a:rPr lang="en-US" dirty="0" err="1"/>
              <a:t>rendah</a:t>
            </a:r>
            <a:r>
              <a:rPr lang="en-US" dirty="0"/>
              <a:t>, 26,0 — </a:t>
            </a:r>
            <a:r>
              <a:rPr lang="en-US" dirty="0" err="1"/>
              <a:t>karena</a:t>
            </a:r>
            <a:r>
              <a:rPr lang="en-US" dirty="0"/>
              <a:t> basis </a:t>
            </a:r>
            <a:r>
              <a:rPr lang="en-US" dirty="0" err="1"/>
              <a:t>perusahaannya</a:t>
            </a:r>
            <a:r>
              <a:rPr lang="en-US" dirty="0"/>
              <a:t> sangat </a:t>
            </a:r>
            <a:r>
              <a:rPr lang="en-US" dirty="0" err="1"/>
              <a:t>besar</a:t>
            </a:r>
            <a:r>
              <a:rPr lang="en-US" dirty="0"/>
              <a:t>.</a:t>
            </a:r>
          </a:p>
          <a:p>
            <a:r>
              <a:rPr lang="en-US" dirty="0"/>
              <a:t>Apa </a:t>
            </a:r>
            <a:r>
              <a:rPr lang="en-US" dirty="0" err="1"/>
              <a:t>artinya</a:t>
            </a:r>
            <a:r>
              <a:rPr lang="en-US" dirty="0"/>
              <a:t> ini </a:t>
            </a:r>
            <a:r>
              <a:rPr lang="en-US" dirty="0" err="1"/>
              <a:t>secara</a:t>
            </a:r>
            <a:r>
              <a:rPr lang="en-US" dirty="0"/>
              <a:t> </a:t>
            </a:r>
            <a:r>
              <a:rPr lang="en-US" dirty="0" err="1"/>
              <a:t>strategis</a:t>
            </a:r>
            <a:r>
              <a:rPr lang="en-US" dirty="0"/>
              <a:t>?</a:t>
            </a:r>
          </a:p>
          <a:p>
            <a:r>
              <a:rPr lang="en-US" b="1" dirty="0"/>
              <a:t>Dua </a:t>
            </a:r>
            <a:r>
              <a:rPr lang="en-US" b="1" dirty="0" err="1"/>
              <a:t>sinyal</a:t>
            </a:r>
            <a:r>
              <a:rPr lang="en-US" b="1" dirty="0"/>
              <a:t> </a:t>
            </a:r>
            <a:r>
              <a:rPr lang="en-US" b="1" dirty="0" err="1"/>
              <a:t>berbeda</a:t>
            </a:r>
            <a:r>
              <a:rPr lang="en-US" b="1" dirty="0"/>
              <a:t> yang </a:t>
            </a:r>
            <a:r>
              <a:rPr lang="en-US" b="1" dirty="0" err="1"/>
              <a:t>butuh</a:t>
            </a:r>
            <a:r>
              <a:rPr lang="en-US" b="1" dirty="0"/>
              <a:t> </a:t>
            </a:r>
            <a:r>
              <a:rPr lang="en-US" b="1" dirty="0" err="1"/>
              <a:t>pendekatan</a:t>
            </a:r>
            <a:r>
              <a:rPr lang="en-US" b="1" dirty="0"/>
              <a:t> </a:t>
            </a:r>
            <a:r>
              <a:rPr lang="en-US" b="1" dirty="0" err="1"/>
              <a:t>berbeda</a:t>
            </a:r>
            <a:r>
              <a:rPr lang="en-US" b="1" dirty="0"/>
              <a:t>.</a:t>
            </a:r>
            <a:endParaRPr lang="en-US" dirty="0"/>
          </a:p>
          <a:p>
            <a:r>
              <a:rPr lang="en-US" dirty="0"/>
              <a:t>Jawa Timur adalah pasar </a:t>
            </a:r>
            <a:r>
              <a:rPr lang="en-US" dirty="0" err="1"/>
              <a:t>terbesar</a:t>
            </a:r>
            <a:endParaRPr lang="en-US" dirty="0"/>
          </a:p>
          <a:p>
            <a:r>
              <a:rPr lang="en-US" dirty="0"/>
              <a:t>Banten dan Jawa Barat adalah pasar paling </a:t>
            </a:r>
            <a:r>
              <a:rPr lang="en-US" dirty="0" err="1"/>
              <a:t>mendesak</a:t>
            </a:r>
            <a:r>
              <a:rPr lang="en-US" dirty="0"/>
              <a:t> .Dua </a:t>
            </a:r>
            <a:r>
              <a:rPr lang="en-US" dirty="0" err="1"/>
              <a:t>pendekatan</a:t>
            </a:r>
            <a:r>
              <a:rPr lang="en-US" dirty="0"/>
              <a:t> marketing yang </a:t>
            </a:r>
            <a:r>
              <a:rPr lang="en-US" dirty="0" err="1"/>
              <a:t>berbeda</a:t>
            </a:r>
            <a:r>
              <a:rPr lang="en-US" dirty="0"/>
              <a:t>, untuk dua </a:t>
            </a:r>
            <a:r>
              <a:rPr lang="en-US" dirty="0" err="1"/>
              <a:t>kondisi</a:t>
            </a:r>
            <a:r>
              <a:rPr lang="en-US" dirty="0"/>
              <a:t> yang </a:t>
            </a:r>
            <a:r>
              <a:rPr lang="en-US" dirty="0" err="1"/>
              <a:t>berbeda</a:t>
            </a:r>
            <a:r>
              <a:rPr lang="en-US" dirty="0"/>
              <a:t>."</a:t>
            </a:r>
          </a:p>
          <a:p>
            <a:r>
              <a:rPr lang="en-US" dirty="0"/>
              <a:t>"Ada </a:t>
            </a:r>
            <a:r>
              <a:rPr lang="en-US" dirty="0" err="1"/>
              <a:t>pertanyaan</a:t>
            </a:r>
            <a:r>
              <a:rPr lang="en-US" dirty="0"/>
              <a:t> </a:t>
            </a:r>
            <a:r>
              <a:rPr lang="en-US" dirty="0" err="1"/>
              <a:t>soal</a:t>
            </a:r>
            <a:r>
              <a:rPr lang="en-US" dirty="0"/>
              <a:t> </a:t>
            </a:r>
            <a:r>
              <a:rPr lang="en-US" dirty="0" err="1"/>
              <a:t>metodologi</a:t>
            </a:r>
            <a:r>
              <a:rPr lang="en-US" dirty="0"/>
              <a:t> ini </a:t>
            </a:r>
            <a:r>
              <a:rPr lang="en-US" dirty="0" err="1"/>
              <a:t>sebelum</a:t>
            </a:r>
            <a:r>
              <a:rPr lang="en-US" dirty="0"/>
              <a:t> </a:t>
            </a:r>
            <a:r>
              <a:rPr lang="en-US" dirty="0" err="1"/>
              <a:t>lanjut</a:t>
            </a:r>
            <a:r>
              <a:rPr lang="en-US" dirty="0"/>
              <a:t>?"</a:t>
            </a:r>
          </a:p>
          <a:p>
            <a:endParaRPr lang="en-US" dirty="0"/>
          </a:p>
        </p:txBody>
      </p:sp>
      <p:sp>
        <p:nvSpPr>
          <p:cNvPr id="4" name="Slide Number Placeholder 3">
            <a:extLst>
              <a:ext uri="{FF2B5EF4-FFF2-40B4-BE49-F238E27FC236}">
                <a16:creationId xmlns:a16="http://schemas.microsoft.com/office/drawing/2014/main" id="{E7A44F70-D89E-8620-2CAA-D74EEBFF07A6}"/>
              </a:ext>
            </a:extLst>
          </p:cNvPr>
          <p:cNvSpPr>
            <a:spLocks noGrp="1"/>
          </p:cNvSpPr>
          <p:nvPr>
            <p:ph type="sldNum" sz="quarter" idx="5"/>
          </p:nvPr>
        </p:nvSpPr>
        <p:spPr/>
        <p:txBody>
          <a:bodyPr/>
          <a:lstStyle/>
          <a:p>
            <a:fld id="{3CFA0038-7055-434C-B6C4-B8C69565C600}" type="slidenum">
              <a:rPr lang="en-US" smtClean="0"/>
              <a:t>9</a:t>
            </a:fld>
            <a:endParaRPr lang="en-US" dirty="0"/>
          </a:p>
        </p:txBody>
      </p:sp>
    </p:spTree>
    <p:extLst>
      <p:ext uri="{BB962C8B-B14F-4D97-AF65-F5344CB8AC3E}">
        <p14:creationId xmlns:p14="http://schemas.microsoft.com/office/powerpoint/2010/main" val="98222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Baik, </a:t>
            </a:r>
            <a:r>
              <a:rPr lang="en-US" dirty="0" err="1"/>
              <a:t>dari</a:t>
            </a:r>
            <a:r>
              <a:rPr lang="en-US" dirty="0"/>
              <a:t> dua </a:t>
            </a:r>
            <a:r>
              <a:rPr lang="en-US" dirty="0" err="1"/>
              <a:t>analisis</a:t>
            </a:r>
            <a:r>
              <a:rPr lang="en-US" dirty="0"/>
              <a:t> </a:t>
            </a:r>
            <a:r>
              <a:rPr lang="en-US" dirty="0" err="1"/>
              <a:t>sebelumnya</a:t>
            </a:r>
            <a:r>
              <a:rPr lang="en-US" dirty="0"/>
              <a:t> </a:t>
            </a:r>
            <a:r>
              <a:rPr lang="en-US" dirty="0" err="1"/>
              <a:t>kita</a:t>
            </a:r>
            <a:r>
              <a:rPr lang="en-US" dirty="0"/>
              <a:t> </a:t>
            </a:r>
            <a:r>
              <a:rPr lang="en-US" dirty="0" err="1"/>
              <a:t>sudah</a:t>
            </a:r>
            <a:r>
              <a:rPr lang="en-US" dirty="0"/>
              <a:t> </a:t>
            </a:r>
            <a:r>
              <a:rPr lang="en-US" dirty="0" err="1"/>
              <a:t>tahu</a:t>
            </a:r>
            <a:r>
              <a:rPr lang="en-US" dirty="0"/>
              <a:t> </a:t>
            </a:r>
            <a:r>
              <a:rPr lang="en-US" b="1" dirty="0" err="1"/>
              <a:t>berapa</a:t>
            </a:r>
            <a:r>
              <a:rPr lang="en-US" b="1" dirty="0"/>
              <a:t> </a:t>
            </a:r>
            <a:r>
              <a:rPr lang="en-US" b="1" dirty="0" err="1"/>
              <a:t>besar</a:t>
            </a:r>
            <a:r>
              <a:rPr lang="en-US" b="1" dirty="0"/>
              <a:t> </a:t>
            </a:r>
            <a:r>
              <a:rPr lang="en-US" b="1" dirty="0" err="1"/>
              <a:t>pasarnya</a:t>
            </a:r>
            <a:r>
              <a:rPr lang="en-US" dirty="0"/>
              <a:t> dan </a:t>
            </a:r>
            <a:r>
              <a:rPr lang="en-US" b="1" dirty="0" err="1"/>
              <a:t>seberapa</a:t>
            </a:r>
            <a:r>
              <a:rPr lang="en-US" b="1" dirty="0"/>
              <a:t> </a:t>
            </a:r>
            <a:r>
              <a:rPr lang="en-US" b="1" dirty="0" err="1"/>
              <a:t>berisiko</a:t>
            </a:r>
            <a:r>
              <a:rPr lang="en-US" b="1" dirty="0"/>
              <a:t> </a:t>
            </a:r>
            <a:r>
              <a:rPr lang="en-US" b="1" dirty="0" err="1"/>
              <a:t>tiap</a:t>
            </a:r>
            <a:r>
              <a:rPr lang="en-US" b="1" dirty="0"/>
              <a:t> </a:t>
            </a:r>
            <a:r>
              <a:rPr lang="en-US" b="1" dirty="0" err="1"/>
              <a:t>provinsi</a:t>
            </a:r>
            <a:r>
              <a:rPr lang="en-US" dirty="0"/>
              <a:t>. </a:t>
            </a:r>
            <a:r>
              <a:rPr lang="en-US" dirty="0" err="1"/>
              <a:t>Sekarang</a:t>
            </a:r>
            <a:r>
              <a:rPr lang="en-US" dirty="0"/>
              <a:t> </a:t>
            </a:r>
            <a:r>
              <a:rPr lang="en-US" dirty="0" err="1"/>
              <a:t>pertanyaannya</a:t>
            </a:r>
            <a:r>
              <a:rPr lang="en-US" dirty="0"/>
              <a:t> </a:t>
            </a:r>
            <a:r>
              <a:rPr lang="en-US" dirty="0" err="1"/>
              <a:t>jadi</a:t>
            </a:r>
            <a:r>
              <a:rPr lang="en-US" dirty="0"/>
              <a:t> </a:t>
            </a:r>
            <a:r>
              <a:rPr lang="en-US" dirty="0" err="1"/>
              <a:t>lebih</a:t>
            </a:r>
            <a:r>
              <a:rPr lang="en-US" dirty="0"/>
              <a:t> </a:t>
            </a:r>
            <a:r>
              <a:rPr lang="en-US" dirty="0" err="1"/>
              <a:t>praktis</a:t>
            </a:r>
            <a:r>
              <a:rPr lang="en-US" dirty="0"/>
              <a:t>:</a:t>
            </a:r>
          </a:p>
          <a:p>
            <a:r>
              <a:rPr lang="en-US" b="1" dirty="0"/>
              <a:t>Ke mana </a:t>
            </a:r>
            <a:r>
              <a:rPr lang="en-US" b="1" dirty="0" err="1"/>
              <a:t>SumThing</a:t>
            </a:r>
            <a:r>
              <a:rPr lang="en-US" b="1" dirty="0"/>
              <a:t> </a:t>
            </a:r>
            <a:r>
              <a:rPr lang="en-US" b="1" dirty="0" err="1"/>
              <a:t>harus</a:t>
            </a:r>
            <a:r>
              <a:rPr lang="en-US" b="1" dirty="0"/>
              <a:t> </a:t>
            </a:r>
            <a:r>
              <a:rPr lang="en-US" b="1" dirty="0" err="1"/>
              <a:t>bergerak</a:t>
            </a:r>
            <a:r>
              <a:rPr lang="en-US" b="1" dirty="0"/>
              <a:t> </a:t>
            </a:r>
            <a:r>
              <a:rPr lang="en-US" b="1" dirty="0" err="1"/>
              <a:t>duluan</a:t>
            </a:r>
            <a:r>
              <a:rPr lang="en-US" b="1" dirty="0"/>
              <a:t>, dan </a:t>
            </a:r>
            <a:r>
              <a:rPr lang="en-US" b="1" dirty="0" err="1"/>
              <a:t>dengan</a:t>
            </a:r>
            <a:r>
              <a:rPr lang="en-US" b="1" dirty="0"/>
              <a:t> </a:t>
            </a:r>
            <a:r>
              <a:rPr lang="en-US" b="1" dirty="0" err="1"/>
              <a:t>cara</a:t>
            </a:r>
            <a:r>
              <a:rPr lang="en-US" b="1" dirty="0"/>
              <a:t> </a:t>
            </a:r>
            <a:r>
              <a:rPr lang="en-US" b="1" dirty="0" err="1"/>
              <a:t>apa</a:t>
            </a:r>
            <a:r>
              <a:rPr lang="en-US" b="1" dirty="0"/>
              <a:t>?</a:t>
            </a:r>
            <a:endParaRPr lang="en-US" dirty="0"/>
          </a:p>
          <a:p>
            <a:r>
              <a:rPr lang="en-US" dirty="0"/>
              <a:t>Di </a:t>
            </a:r>
            <a:r>
              <a:rPr lang="en-US" dirty="0" err="1"/>
              <a:t>seksi</a:t>
            </a:r>
            <a:r>
              <a:rPr lang="en-US" dirty="0"/>
              <a:t> ini kami </a:t>
            </a:r>
            <a:r>
              <a:rPr lang="en-US" dirty="0" err="1"/>
              <a:t>menjawab</a:t>
            </a:r>
            <a:r>
              <a:rPr lang="en-US" dirty="0"/>
              <a:t> </a:t>
            </a:r>
            <a:r>
              <a:rPr lang="en-US" dirty="0" err="1"/>
              <a:t>itu</a:t>
            </a:r>
            <a:r>
              <a:rPr lang="en-US" dirty="0"/>
              <a:t> — </a:t>
            </a:r>
            <a:r>
              <a:rPr lang="en-US" dirty="0" err="1"/>
              <a:t>bukan</a:t>
            </a:r>
            <a:r>
              <a:rPr lang="en-US" dirty="0"/>
              <a:t> </a:t>
            </a:r>
            <a:r>
              <a:rPr lang="en-US" dirty="0" err="1"/>
              <a:t>sekadar</a:t>
            </a:r>
            <a:r>
              <a:rPr lang="en-US" dirty="0"/>
              <a:t> ranking </a:t>
            </a:r>
            <a:r>
              <a:rPr lang="en-US" dirty="0" err="1"/>
              <a:t>provinsi</a:t>
            </a:r>
            <a:r>
              <a:rPr lang="en-US" dirty="0"/>
              <a:t>, </a:t>
            </a:r>
            <a:r>
              <a:rPr lang="en-US" dirty="0" err="1"/>
              <a:t>tapi</a:t>
            </a:r>
            <a:r>
              <a:rPr lang="en-US" dirty="0"/>
              <a:t> </a:t>
            </a:r>
            <a:r>
              <a:rPr lang="en-US" dirty="0" err="1"/>
              <a:t>langsung</a:t>
            </a:r>
            <a:r>
              <a:rPr lang="en-US" dirty="0"/>
              <a:t> </a:t>
            </a:r>
            <a:r>
              <a:rPr lang="en-US" dirty="0" err="1"/>
              <a:t>sampai</a:t>
            </a:r>
            <a:r>
              <a:rPr lang="en-US" dirty="0"/>
              <a:t> ke strategi </a:t>
            </a:r>
            <a:r>
              <a:rPr lang="en-US" dirty="0" err="1"/>
              <a:t>eksekusinya</a:t>
            </a:r>
            <a:r>
              <a:rPr lang="en-US" dirty="0"/>
              <a:t>."</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10</a:t>
            </a:fld>
            <a:endParaRPr lang="en-US" dirty="0"/>
          </a:p>
        </p:txBody>
      </p:sp>
    </p:spTree>
    <p:extLst>
      <p:ext uri="{BB962C8B-B14F-4D97-AF65-F5344CB8AC3E}">
        <p14:creationId xmlns:p14="http://schemas.microsoft.com/office/powerpoint/2010/main" val="2601815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a:t>
            </a:r>
            <a:r>
              <a:rPr lang="en-US" dirty="0" err="1"/>
              <a:t>membangun</a:t>
            </a:r>
            <a:r>
              <a:rPr lang="en-US" dirty="0"/>
              <a:t> </a:t>
            </a:r>
            <a:r>
              <a:rPr lang="en-US" dirty="0" err="1"/>
              <a:t>sebuah</a:t>
            </a:r>
            <a:r>
              <a:rPr lang="en-US" dirty="0"/>
              <a:t> </a:t>
            </a:r>
            <a:r>
              <a:rPr lang="en-US" b="1" dirty="0"/>
              <a:t>weighted scoring model.</a:t>
            </a:r>
            <a:endParaRPr lang="en-US" dirty="0"/>
          </a:p>
          <a:p>
            <a:r>
              <a:rPr lang="en-US" dirty="0"/>
              <a:t>Ada </a:t>
            </a:r>
            <a:r>
              <a:rPr lang="en-US" dirty="0" err="1"/>
              <a:t>tiga</a:t>
            </a:r>
            <a:r>
              <a:rPr lang="en-US" dirty="0"/>
              <a:t> </a:t>
            </a:r>
            <a:r>
              <a:rPr lang="en-US" dirty="0" err="1"/>
              <a:t>variabel</a:t>
            </a:r>
            <a:r>
              <a:rPr lang="en-US" dirty="0"/>
              <a:t> yang kami </a:t>
            </a:r>
            <a:r>
              <a:rPr lang="en-US" dirty="0" err="1"/>
              <a:t>timbang</a:t>
            </a:r>
            <a:r>
              <a:rPr lang="en-US" dirty="0"/>
              <a:t>. </a:t>
            </a:r>
            <a:r>
              <a:rPr lang="en-US" b="1" dirty="0"/>
              <a:t>Opportunity Score </a:t>
            </a:r>
            <a:r>
              <a:rPr lang="en-US" dirty="0"/>
              <a:t> 40%, </a:t>
            </a:r>
            <a:r>
              <a:rPr lang="en-US" dirty="0" err="1"/>
              <a:t>karena</a:t>
            </a:r>
            <a:r>
              <a:rPr lang="en-US" dirty="0"/>
              <a:t> ini </a:t>
            </a:r>
            <a:r>
              <a:rPr lang="en-US" dirty="0" err="1"/>
              <a:t>mencerminkan</a:t>
            </a:r>
            <a:r>
              <a:rPr lang="en-US" dirty="0"/>
              <a:t> </a:t>
            </a:r>
            <a:r>
              <a:rPr lang="en-US" dirty="0" err="1"/>
              <a:t>ukuran</a:t>
            </a:r>
            <a:r>
              <a:rPr lang="en-US" dirty="0"/>
              <a:t> pasar </a:t>
            </a:r>
            <a:r>
              <a:rPr lang="en-US" dirty="0" err="1"/>
              <a:t>nyata</a:t>
            </a:r>
            <a:r>
              <a:rPr lang="en-US" dirty="0"/>
              <a:t>. </a:t>
            </a:r>
            <a:r>
              <a:rPr lang="en-US" b="1" dirty="0"/>
              <a:t>Market Share</a:t>
            </a:r>
            <a:r>
              <a:rPr lang="en-US" dirty="0"/>
              <a:t> di </a:t>
            </a:r>
            <a:r>
              <a:rPr lang="en-US" dirty="0" err="1"/>
              <a:t>bobot</a:t>
            </a:r>
            <a:r>
              <a:rPr lang="en-US" dirty="0"/>
              <a:t> 30% — </a:t>
            </a:r>
            <a:r>
              <a:rPr lang="en-US" dirty="0" err="1"/>
              <a:t>seberapa</a:t>
            </a:r>
            <a:r>
              <a:rPr lang="en-US" dirty="0"/>
              <a:t> </a:t>
            </a:r>
            <a:r>
              <a:rPr lang="en-US" dirty="0" err="1"/>
              <a:t>besar</a:t>
            </a:r>
            <a:r>
              <a:rPr lang="en-US" dirty="0"/>
              <a:t> </a:t>
            </a:r>
            <a:r>
              <a:rPr lang="en-US" dirty="0" err="1"/>
              <a:t>SumThing</a:t>
            </a:r>
            <a:r>
              <a:rPr lang="en-US" dirty="0"/>
              <a:t> </a:t>
            </a:r>
            <a:r>
              <a:rPr lang="en-US" dirty="0" err="1"/>
              <a:t>bisa</a:t>
            </a:r>
            <a:r>
              <a:rPr lang="en-US" dirty="0"/>
              <a:t> </a:t>
            </a:r>
            <a:r>
              <a:rPr lang="en-US" dirty="0" err="1"/>
              <a:t>masuk</a:t>
            </a:r>
            <a:r>
              <a:rPr lang="en-US" dirty="0"/>
              <a:t> ke sana. Dan </a:t>
            </a:r>
            <a:r>
              <a:rPr lang="en-US" b="1" dirty="0"/>
              <a:t>Risk Density</a:t>
            </a:r>
            <a:r>
              <a:rPr lang="en-US" dirty="0"/>
              <a:t> juga 30% — </a:t>
            </a:r>
            <a:r>
              <a:rPr lang="en-US" dirty="0" err="1"/>
              <a:t>karena</a:t>
            </a:r>
            <a:r>
              <a:rPr lang="en-US" dirty="0"/>
              <a:t> </a:t>
            </a:r>
            <a:r>
              <a:rPr lang="en-US" dirty="0" err="1"/>
              <a:t>semakin</a:t>
            </a:r>
            <a:r>
              <a:rPr lang="en-US" dirty="0"/>
              <a:t> </a:t>
            </a:r>
            <a:r>
              <a:rPr lang="en-US" dirty="0" err="1"/>
              <a:t>tinggi</a:t>
            </a:r>
            <a:r>
              <a:rPr lang="en-US" dirty="0"/>
              <a:t> </a:t>
            </a:r>
            <a:r>
              <a:rPr lang="en-US" dirty="0" err="1"/>
              <a:t>angka</a:t>
            </a:r>
            <a:r>
              <a:rPr lang="en-US" dirty="0"/>
              <a:t> </a:t>
            </a:r>
            <a:r>
              <a:rPr lang="en-US" dirty="0" err="1"/>
              <a:t>kecelakaan</a:t>
            </a:r>
            <a:r>
              <a:rPr lang="en-US" dirty="0"/>
              <a:t> per </a:t>
            </a:r>
            <a:r>
              <a:rPr lang="en-US" dirty="0" err="1"/>
              <a:t>perusahaan</a:t>
            </a:r>
            <a:r>
              <a:rPr lang="en-US" dirty="0"/>
              <a:t>, </a:t>
            </a:r>
            <a:r>
              <a:rPr lang="en-US" dirty="0" err="1"/>
              <a:t>semakin</a:t>
            </a:r>
            <a:r>
              <a:rPr lang="en-US" dirty="0"/>
              <a:t> </a:t>
            </a:r>
            <a:r>
              <a:rPr lang="en-US" dirty="0" err="1"/>
              <a:t>besar</a:t>
            </a:r>
            <a:r>
              <a:rPr lang="en-US" dirty="0"/>
              <a:t> </a:t>
            </a:r>
            <a:r>
              <a:rPr lang="en-US" dirty="0" err="1"/>
              <a:t>urgensi</a:t>
            </a:r>
            <a:r>
              <a:rPr lang="en-US" dirty="0"/>
              <a:t> </a:t>
            </a:r>
            <a:r>
              <a:rPr lang="en-US" dirty="0" err="1"/>
              <a:t>klien</a:t>
            </a:r>
            <a:r>
              <a:rPr lang="en-US" dirty="0"/>
              <a:t> untuk </a:t>
            </a:r>
            <a:r>
              <a:rPr lang="en-US" dirty="0" err="1"/>
              <a:t>beli</a:t>
            </a:r>
            <a:r>
              <a:rPr lang="en-US" dirty="0"/>
              <a:t> </a:t>
            </a:r>
            <a:r>
              <a:rPr lang="en-US" dirty="0" err="1"/>
              <a:t>solusi</a:t>
            </a:r>
            <a:r>
              <a:rPr lang="en-US" dirty="0"/>
              <a:t> </a:t>
            </a:r>
            <a:r>
              <a:rPr lang="en-US" dirty="0" err="1"/>
              <a:t>keselamatan</a:t>
            </a:r>
            <a:r>
              <a:rPr lang="en-US" dirty="0"/>
              <a:t>.</a:t>
            </a:r>
          </a:p>
          <a:p>
            <a:r>
              <a:rPr lang="en-US" dirty="0" err="1"/>
              <a:t>Ketiga</a:t>
            </a:r>
            <a:r>
              <a:rPr lang="en-US" dirty="0"/>
              <a:t> </a:t>
            </a:r>
            <a:r>
              <a:rPr lang="en-US" dirty="0" err="1"/>
              <a:t>metrik</a:t>
            </a:r>
            <a:r>
              <a:rPr lang="en-US" dirty="0"/>
              <a:t> </a:t>
            </a:r>
            <a:r>
              <a:rPr lang="en-US" dirty="0" err="1"/>
              <a:t>itu</a:t>
            </a:r>
            <a:r>
              <a:rPr lang="en-US" dirty="0"/>
              <a:t> kami </a:t>
            </a:r>
            <a:r>
              <a:rPr lang="en-US" dirty="0" err="1"/>
              <a:t>normalisasi</a:t>
            </a:r>
            <a:r>
              <a:rPr lang="en-US" dirty="0"/>
              <a:t> ke </a:t>
            </a:r>
            <a:r>
              <a:rPr lang="en-US" dirty="0" err="1"/>
              <a:t>skala</a:t>
            </a:r>
            <a:r>
              <a:rPr lang="en-US" dirty="0"/>
              <a:t> 0–100, </a:t>
            </a:r>
            <a:r>
              <a:rPr lang="en-US" dirty="0" err="1"/>
              <a:t>lalu</a:t>
            </a:r>
            <a:r>
              <a:rPr lang="en-US" dirty="0"/>
              <a:t> </a:t>
            </a:r>
            <a:r>
              <a:rPr lang="en-US" dirty="0" err="1"/>
              <a:t>dijumlahkan</a:t>
            </a:r>
            <a:r>
              <a:rPr lang="en-US" dirty="0"/>
              <a:t>.</a:t>
            </a:r>
          </a:p>
          <a:p>
            <a:r>
              <a:rPr lang="en-US" dirty="0" err="1"/>
              <a:t>Hasilnya</a:t>
            </a:r>
            <a:r>
              <a:rPr lang="en-US" dirty="0"/>
              <a:t>? </a:t>
            </a:r>
            <a:r>
              <a:rPr lang="en-US" i="1" dirty="0"/>
              <a:t>(</a:t>
            </a:r>
            <a:r>
              <a:rPr lang="en-US" i="1" dirty="0" err="1"/>
              <a:t>tunjuk</a:t>
            </a:r>
            <a:r>
              <a:rPr lang="en-US" i="1" dirty="0"/>
              <a:t> chart)</a:t>
            </a:r>
            <a:endParaRPr lang="en-US" dirty="0"/>
          </a:p>
          <a:p>
            <a:r>
              <a:rPr lang="en-US" b="1" dirty="0"/>
              <a:t>Jawa Timur </a:t>
            </a:r>
            <a:r>
              <a:rPr lang="en-US" b="1" dirty="0" err="1"/>
              <a:t>keluar</a:t>
            </a:r>
            <a:r>
              <a:rPr lang="en-US" b="1" dirty="0"/>
              <a:t> </a:t>
            </a:r>
            <a:r>
              <a:rPr lang="en-US" b="1" dirty="0" err="1"/>
              <a:t>sebagai</a:t>
            </a:r>
            <a:r>
              <a:rPr lang="en-US" b="1" dirty="0"/>
              <a:t> </a:t>
            </a:r>
            <a:r>
              <a:rPr lang="en-US" b="1" dirty="0" err="1"/>
              <a:t>pemimpin</a:t>
            </a:r>
            <a:r>
              <a:rPr lang="en-US" b="1" dirty="0"/>
              <a:t> </a:t>
            </a:r>
            <a:r>
              <a:rPr lang="en-US" b="1" dirty="0" err="1"/>
              <a:t>jelas</a:t>
            </a:r>
            <a:r>
              <a:rPr lang="en-US" b="1" dirty="0"/>
              <a:t>, </a:t>
            </a:r>
            <a:r>
              <a:rPr lang="en-US" b="1" dirty="0" err="1"/>
              <a:t>dengan</a:t>
            </a:r>
            <a:r>
              <a:rPr lang="en-US" b="1" dirty="0"/>
              <a:t> </a:t>
            </a:r>
            <a:r>
              <a:rPr lang="en-US" b="1" dirty="0" err="1"/>
              <a:t>skor</a:t>
            </a:r>
            <a:r>
              <a:rPr lang="en-US" b="1" dirty="0"/>
              <a:t> 76,9</a:t>
            </a:r>
            <a:r>
              <a:rPr lang="en-US" dirty="0"/>
              <a:t> — </a:t>
            </a:r>
            <a:r>
              <a:rPr lang="en-US" dirty="0" err="1"/>
              <a:t>melewati</a:t>
            </a:r>
            <a:r>
              <a:rPr lang="en-US" dirty="0"/>
              <a:t> threshold 70 yang kami </a:t>
            </a:r>
            <a:r>
              <a:rPr lang="en-US" dirty="0" err="1"/>
              <a:t>tetapkan</a:t>
            </a:r>
            <a:r>
              <a:rPr lang="en-US" dirty="0"/>
              <a:t> </a:t>
            </a:r>
            <a:r>
              <a:rPr lang="en-US" dirty="0" err="1"/>
              <a:t>sebagai</a:t>
            </a:r>
            <a:r>
              <a:rPr lang="en-US" dirty="0"/>
              <a:t> batas Sales Priority. Jawa Barat di </a:t>
            </a:r>
            <a:r>
              <a:rPr lang="en-US" dirty="0" err="1"/>
              <a:t>posisi</a:t>
            </a:r>
            <a:r>
              <a:rPr lang="en-US" dirty="0"/>
              <a:t> </a:t>
            </a:r>
            <a:r>
              <a:rPr lang="en-US" dirty="0" err="1"/>
              <a:t>kedua</a:t>
            </a:r>
            <a:r>
              <a:rPr lang="en-US" dirty="0"/>
              <a:t> </a:t>
            </a:r>
            <a:r>
              <a:rPr lang="en-US" dirty="0" err="1"/>
              <a:t>dengan</a:t>
            </a:r>
            <a:r>
              <a:rPr lang="en-US" dirty="0"/>
              <a:t> 66,8, </a:t>
            </a:r>
            <a:r>
              <a:rPr lang="en-US" dirty="0" err="1"/>
              <a:t>masuk</a:t>
            </a:r>
            <a:r>
              <a:rPr lang="en-US" dirty="0"/>
              <a:t> </a:t>
            </a:r>
            <a:r>
              <a:rPr lang="en-US" dirty="0" err="1"/>
              <a:t>kategori</a:t>
            </a:r>
            <a:r>
              <a:rPr lang="en-US" dirty="0"/>
              <a:t> Pilot Project. </a:t>
            </a:r>
            <a:r>
              <a:rPr lang="en-US" dirty="0" err="1"/>
              <a:t>Sementara</a:t>
            </a:r>
            <a:r>
              <a:rPr lang="en-US" dirty="0"/>
              <a:t> Jawa Tengah dan Banten masing-masing di </a:t>
            </a:r>
            <a:r>
              <a:rPr lang="en-US" dirty="0" err="1"/>
              <a:t>kisaran</a:t>
            </a:r>
            <a:r>
              <a:rPr lang="en-US" dirty="0"/>
              <a:t> 31 dan 30 — </a:t>
            </a:r>
            <a:r>
              <a:rPr lang="en-US" dirty="0" err="1"/>
              <a:t>keduanya</a:t>
            </a:r>
            <a:r>
              <a:rPr lang="en-US" dirty="0"/>
              <a:t> </a:t>
            </a:r>
            <a:r>
              <a:rPr lang="en-US" dirty="0" err="1"/>
              <a:t>masuk</a:t>
            </a:r>
            <a:r>
              <a:rPr lang="en-US" dirty="0"/>
              <a:t> Canvassing.</a:t>
            </a:r>
          </a:p>
          <a:p>
            <a:r>
              <a:rPr lang="en-US" dirty="0"/>
              <a:t>Satu </a:t>
            </a:r>
            <a:r>
              <a:rPr lang="en-US" dirty="0" err="1"/>
              <a:t>hal</a:t>
            </a:r>
            <a:r>
              <a:rPr lang="en-US" dirty="0"/>
              <a:t> yang </a:t>
            </a:r>
            <a:r>
              <a:rPr lang="en-US" dirty="0" err="1"/>
              <a:t>perlu</a:t>
            </a:r>
            <a:r>
              <a:rPr lang="en-US" dirty="0"/>
              <a:t> </a:t>
            </a:r>
            <a:r>
              <a:rPr lang="en-US" dirty="0" err="1"/>
              <a:t>digarisbawahi</a:t>
            </a:r>
            <a:r>
              <a:rPr lang="en-US" dirty="0"/>
              <a:t>: </a:t>
            </a:r>
            <a:r>
              <a:rPr lang="en-US" b="1" dirty="0"/>
              <a:t>Jawa Timur </a:t>
            </a:r>
            <a:r>
              <a:rPr lang="en-US" b="1" dirty="0" err="1"/>
              <a:t>unggul</a:t>
            </a:r>
            <a:r>
              <a:rPr lang="en-US" b="1" dirty="0"/>
              <a:t> </a:t>
            </a:r>
            <a:r>
              <a:rPr lang="en-US" b="1" dirty="0" err="1"/>
              <a:t>bukan</a:t>
            </a:r>
            <a:r>
              <a:rPr lang="en-US" b="1" dirty="0"/>
              <a:t> </a:t>
            </a:r>
            <a:r>
              <a:rPr lang="en-US" b="1" dirty="0" err="1"/>
              <a:t>karena</a:t>
            </a:r>
            <a:r>
              <a:rPr lang="en-US" b="1" dirty="0"/>
              <a:t> </a:t>
            </a:r>
            <a:r>
              <a:rPr lang="en-US" b="1" dirty="0" err="1"/>
              <a:t>kecelakaannya</a:t>
            </a:r>
            <a:r>
              <a:rPr lang="en-US" b="1" dirty="0"/>
              <a:t> paling </a:t>
            </a:r>
            <a:r>
              <a:rPr lang="en-US" b="1" dirty="0" err="1"/>
              <a:t>tinggi</a:t>
            </a:r>
            <a:r>
              <a:rPr lang="en-US" dirty="0"/>
              <a:t> Jatim </a:t>
            </a:r>
            <a:r>
              <a:rPr lang="en-US" dirty="0" err="1"/>
              <a:t>menang</a:t>
            </a:r>
            <a:r>
              <a:rPr lang="en-US" dirty="0"/>
              <a:t> </a:t>
            </a:r>
            <a:r>
              <a:rPr lang="en-US" dirty="0" err="1"/>
              <a:t>karena</a:t>
            </a:r>
            <a:r>
              <a:rPr lang="en-US" dirty="0"/>
              <a:t> </a:t>
            </a:r>
            <a:r>
              <a:rPr lang="en-US" dirty="0" err="1"/>
              <a:t>jumlah</a:t>
            </a:r>
            <a:r>
              <a:rPr lang="en-US" dirty="0"/>
              <a:t> </a:t>
            </a:r>
            <a:r>
              <a:rPr lang="en-US" dirty="0" err="1"/>
              <a:t>perusahaannya</a:t>
            </a:r>
            <a:r>
              <a:rPr lang="en-US" dirty="0"/>
              <a:t> </a:t>
            </a:r>
            <a:r>
              <a:rPr lang="en-US" dirty="0" err="1"/>
              <a:t>hampir</a:t>
            </a:r>
            <a:r>
              <a:rPr lang="en-US" dirty="0"/>
              <a:t> dua kali </a:t>
            </a:r>
            <a:r>
              <a:rPr lang="en-US" dirty="0" err="1"/>
              <a:t>lipat</a:t>
            </a:r>
            <a:r>
              <a:rPr lang="en-US" dirty="0"/>
              <a:t> Banten, dan opportunity score-</a:t>
            </a:r>
            <a:r>
              <a:rPr lang="en-US" dirty="0" err="1"/>
              <a:t>nya</a:t>
            </a:r>
            <a:r>
              <a:rPr lang="en-US" dirty="0"/>
              <a:t> </a:t>
            </a:r>
            <a:r>
              <a:rPr lang="en-US" dirty="0" err="1"/>
              <a:t>jauh</a:t>
            </a:r>
            <a:r>
              <a:rPr lang="en-US" dirty="0"/>
              <a:t> </a:t>
            </a:r>
            <a:r>
              <a:rPr lang="en-US" dirty="0" err="1"/>
              <a:t>melampaui</a:t>
            </a:r>
            <a:r>
              <a:rPr lang="en-US" dirty="0"/>
              <a:t> </a:t>
            </a:r>
            <a:r>
              <a:rPr lang="en-US" dirty="0" err="1"/>
              <a:t>provinsi</a:t>
            </a:r>
            <a:r>
              <a:rPr lang="en-US" dirty="0"/>
              <a:t> lain. Ini </a:t>
            </a:r>
            <a:r>
              <a:rPr lang="en-US" dirty="0" err="1"/>
              <a:t>penting</a:t>
            </a:r>
            <a:r>
              <a:rPr lang="en-US" dirty="0"/>
              <a:t> untuk framing ke </a:t>
            </a:r>
            <a:r>
              <a:rPr lang="en-US" dirty="0" err="1"/>
              <a:t>klien</a:t>
            </a:r>
            <a:r>
              <a:rPr lang="en-US" dirty="0"/>
              <a:t> — </a:t>
            </a:r>
            <a:r>
              <a:rPr lang="en-US" dirty="0" err="1"/>
              <a:t>kita</a:t>
            </a:r>
            <a:r>
              <a:rPr lang="en-US" dirty="0"/>
              <a:t> </a:t>
            </a:r>
            <a:r>
              <a:rPr lang="en-US" dirty="0" err="1"/>
              <a:t>masuk</a:t>
            </a:r>
            <a:r>
              <a:rPr lang="en-US" dirty="0"/>
              <a:t> Jatim </a:t>
            </a:r>
            <a:r>
              <a:rPr lang="en-US" dirty="0" err="1"/>
              <a:t>bukan</a:t>
            </a:r>
            <a:r>
              <a:rPr lang="en-US" dirty="0"/>
              <a:t> </a:t>
            </a:r>
            <a:r>
              <a:rPr lang="en-US" dirty="0" err="1"/>
              <a:t>karena</a:t>
            </a:r>
            <a:r>
              <a:rPr lang="en-US" dirty="0"/>
              <a:t> </a:t>
            </a:r>
            <a:r>
              <a:rPr lang="en-US" dirty="0" err="1"/>
              <a:t>menakut-nakuti</a:t>
            </a:r>
            <a:r>
              <a:rPr lang="en-US" dirty="0"/>
              <a:t> </a:t>
            </a:r>
            <a:r>
              <a:rPr lang="en-US" dirty="0" err="1"/>
              <a:t>soal</a:t>
            </a:r>
            <a:r>
              <a:rPr lang="en-US" dirty="0"/>
              <a:t> </a:t>
            </a:r>
            <a:r>
              <a:rPr lang="en-US" dirty="0" err="1"/>
              <a:t>kecelakaan</a:t>
            </a:r>
            <a:r>
              <a:rPr lang="en-US" dirty="0"/>
              <a:t>, </a:t>
            </a:r>
            <a:r>
              <a:rPr lang="en-US" dirty="0" err="1"/>
              <a:t>tapi</a:t>
            </a:r>
            <a:r>
              <a:rPr lang="en-US" dirty="0"/>
              <a:t> </a:t>
            </a:r>
            <a:r>
              <a:rPr lang="en-US" dirty="0" err="1"/>
              <a:t>karena</a:t>
            </a:r>
            <a:r>
              <a:rPr lang="en-US" dirty="0"/>
              <a:t> </a:t>
            </a:r>
            <a:r>
              <a:rPr lang="en-US" b="1" dirty="0"/>
              <a:t>pasar </a:t>
            </a:r>
            <a:r>
              <a:rPr lang="en-US" b="1" dirty="0" err="1"/>
              <a:t>aktifnya</a:t>
            </a:r>
            <a:r>
              <a:rPr lang="en-US" b="1" dirty="0"/>
              <a:t> paling </a:t>
            </a:r>
            <a:r>
              <a:rPr lang="en-US" b="1" dirty="0" err="1"/>
              <a:t>besar</a:t>
            </a:r>
            <a:r>
              <a:rPr lang="en-US" dirty="0"/>
              <a:t>.</a:t>
            </a:r>
          </a:p>
          <a:p>
            <a:endParaRPr lang="en-US" dirty="0"/>
          </a:p>
          <a:p>
            <a:r>
              <a:rPr lang="en-US" dirty="0"/>
              <a:t>Threshold yang kami </a:t>
            </a:r>
            <a:r>
              <a:rPr lang="en-US" dirty="0" err="1"/>
              <a:t>pakai</a:t>
            </a:r>
            <a:r>
              <a:rPr lang="en-US" dirty="0"/>
              <a:t>: </a:t>
            </a:r>
            <a:r>
              <a:rPr lang="en-US" dirty="0" err="1"/>
              <a:t>skor</a:t>
            </a:r>
            <a:r>
              <a:rPr lang="en-US" dirty="0"/>
              <a:t> di </a:t>
            </a:r>
            <a:r>
              <a:rPr lang="en-US" dirty="0" err="1"/>
              <a:t>atas</a:t>
            </a:r>
            <a:r>
              <a:rPr lang="en-US" dirty="0"/>
              <a:t> 70 </a:t>
            </a:r>
            <a:r>
              <a:rPr lang="en-US" dirty="0" err="1"/>
              <a:t>layak</a:t>
            </a:r>
            <a:r>
              <a:rPr lang="en-US" dirty="0"/>
              <a:t> </a:t>
            </a:r>
            <a:r>
              <a:rPr lang="en-US" dirty="0" err="1"/>
              <a:t>mendapat</a:t>
            </a:r>
            <a:r>
              <a:rPr lang="en-US" dirty="0"/>
              <a:t> </a:t>
            </a:r>
            <a:r>
              <a:rPr lang="en-US" dirty="0" err="1"/>
              <a:t>tim</a:t>
            </a:r>
            <a:r>
              <a:rPr lang="en-US" dirty="0"/>
              <a:t> sales dedicated. 40 </a:t>
            </a:r>
            <a:r>
              <a:rPr lang="en-US" dirty="0" err="1"/>
              <a:t>sampai</a:t>
            </a:r>
            <a:r>
              <a:rPr lang="en-US" dirty="0"/>
              <a:t> 69 </a:t>
            </a:r>
            <a:r>
              <a:rPr lang="en-US" dirty="0" err="1"/>
              <a:t>cukup</a:t>
            </a:r>
            <a:r>
              <a:rPr lang="en-US" dirty="0"/>
              <a:t> </a:t>
            </a:r>
            <a:r>
              <a:rPr lang="en-US" dirty="0" err="1"/>
              <a:t>dengan</a:t>
            </a:r>
            <a:r>
              <a:rPr lang="en-US" dirty="0"/>
              <a:t> pilot project dan partnership. Di </a:t>
            </a:r>
            <a:r>
              <a:rPr lang="en-US" dirty="0" err="1"/>
              <a:t>bawah</a:t>
            </a:r>
            <a:r>
              <a:rPr lang="en-US" dirty="0"/>
              <a:t> 40, </a:t>
            </a:r>
            <a:r>
              <a:rPr lang="en-US" dirty="0" err="1"/>
              <a:t>efisiensi</a:t>
            </a:r>
            <a:r>
              <a:rPr lang="en-US" dirty="0"/>
              <a:t> paling </a:t>
            </a:r>
            <a:r>
              <a:rPr lang="en-US" dirty="0" err="1"/>
              <a:t>tinggi</a:t>
            </a:r>
            <a:r>
              <a:rPr lang="en-US" dirty="0"/>
              <a:t> </a:t>
            </a:r>
            <a:r>
              <a:rPr lang="en-US" dirty="0" err="1"/>
              <a:t>dicapai</a:t>
            </a:r>
            <a:r>
              <a:rPr lang="en-US" dirty="0"/>
              <a:t> </a:t>
            </a:r>
            <a:r>
              <a:rPr lang="en-US" dirty="0" err="1"/>
              <a:t>lewat</a:t>
            </a:r>
            <a:r>
              <a:rPr lang="en-US" dirty="0"/>
              <a:t> digital marketing dan awareness </a:t>
            </a:r>
            <a:r>
              <a:rPr lang="en-US" dirty="0" err="1"/>
              <a:t>dulu</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Nah, ini slide yang </a:t>
            </a:r>
            <a:r>
              <a:rPr lang="en-US" dirty="0" err="1"/>
              <a:t>ingin</a:t>
            </a:r>
            <a:r>
              <a:rPr lang="en-US" dirty="0"/>
              <a:t> kami highlight </a:t>
            </a:r>
            <a:r>
              <a:rPr lang="en-US" dirty="0" err="1"/>
              <a:t>secara</a:t>
            </a:r>
            <a:r>
              <a:rPr lang="en-US" dirty="0"/>
              <a:t> </a:t>
            </a:r>
            <a:r>
              <a:rPr lang="en-US" dirty="0" err="1"/>
              <a:t>khusus</a:t>
            </a:r>
            <a:r>
              <a:rPr lang="en-US" dirty="0"/>
              <a:t>.</a:t>
            </a:r>
          </a:p>
          <a:p>
            <a:r>
              <a:rPr lang="en-US" dirty="0"/>
              <a:t>Di </a:t>
            </a:r>
            <a:r>
              <a:rPr lang="en-US" dirty="0" err="1"/>
              <a:t>setiap</a:t>
            </a:r>
            <a:r>
              <a:rPr lang="en-US" dirty="0"/>
              <a:t> </a:t>
            </a:r>
            <a:r>
              <a:rPr lang="en-US" dirty="0" err="1"/>
              <a:t>kolom</a:t>
            </a:r>
            <a:r>
              <a:rPr lang="en-US" dirty="0"/>
              <a:t>, Bapak/Ibu </a:t>
            </a:r>
            <a:r>
              <a:rPr lang="en-US" dirty="0" err="1"/>
              <a:t>bisa</a:t>
            </a:r>
            <a:r>
              <a:rPr lang="en-US" dirty="0"/>
              <a:t> </a:t>
            </a:r>
            <a:r>
              <a:rPr lang="en-US" dirty="0" err="1"/>
              <a:t>lihat</a:t>
            </a:r>
            <a:r>
              <a:rPr lang="en-US" dirty="0"/>
              <a:t> </a:t>
            </a:r>
            <a:r>
              <a:rPr lang="en-US" b="1" dirty="0"/>
              <a:t>dua badge </a:t>
            </a:r>
            <a:r>
              <a:rPr lang="en-US" b="1" dirty="0" err="1"/>
              <a:t>berdampingan</a:t>
            </a:r>
            <a:r>
              <a:rPr lang="en-US" dirty="0"/>
              <a:t>. Badge kiri — yang </a:t>
            </a:r>
            <a:r>
              <a:rPr lang="en-US" dirty="0" err="1"/>
              <a:t>warnanya</a:t>
            </a:r>
            <a:r>
              <a:rPr lang="en-US" dirty="0"/>
              <a:t> solid — adalah </a:t>
            </a:r>
            <a:r>
              <a:rPr lang="en-US" b="1" dirty="0"/>
              <a:t>label B2B priority-</a:t>
            </a:r>
            <a:r>
              <a:rPr lang="en-US" b="1" dirty="0" err="1"/>
              <a:t>nya</a:t>
            </a:r>
            <a:r>
              <a:rPr lang="en-US" dirty="0"/>
              <a:t>: </a:t>
            </a:r>
            <a:r>
              <a:rPr lang="en-US" dirty="0" err="1"/>
              <a:t>kapan</a:t>
            </a:r>
            <a:r>
              <a:rPr lang="en-US" dirty="0"/>
              <a:t> </a:t>
            </a:r>
            <a:r>
              <a:rPr lang="en-US" dirty="0" err="1"/>
              <a:t>kita</a:t>
            </a:r>
            <a:r>
              <a:rPr lang="en-US" dirty="0"/>
              <a:t> </a:t>
            </a:r>
            <a:r>
              <a:rPr lang="en-US" dirty="0" err="1"/>
              <a:t>masuk</a:t>
            </a:r>
            <a:r>
              <a:rPr lang="en-US" dirty="0"/>
              <a:t> dan </a:t>
            </a:r>
            <a:r>
              <a:rPr lang="en-US" dirty="0" err="1"/>
              <a:t>dengan</a:t>
            </a:r>
            <a:r>
              <a:rPr lang="en-US" dirty="0"/>
              <a:t> </a:t>
            </a:r>
            <a:r>
              <a:rPr lang="en-US" dirty="0" err="1"/>
              <a:t>gaya</a:t>
            </a:r>
            <a:r>
              <a:rPr lang="en-US" dirty="0"/>
              <a:t> </a:t>
            </a:r>
            <a:r>
              <a:rPr lang="en-US" dirty="0" err="1"/>
              <a:t>serangan</a:t>
            </a:r>
            <a:r>
              <a:rPr lang="en-US" dirty="0"/>
              <a:t> </a:t>
            </a:r>
            <a:r>
              <a:rPr lang="en-US" dirty="0" err="1"/>
              <a:t>apa</a:t>
            </a:r>
            <a:r>
              <a:rPr lang="en-US" dirty="0"/>
              <a:t>. Badge </a:t>
            </a:r>
            <a:r>
              <a:rPr lang="en-US" dirty="0" err="1"/>
              <a:t>kanan</a:t>
            </a:r>
            <a:r>
              <a:rPr lang="en-US" dirty="0"/>
              <a:t> — yang </a:t>
            </a:r>
            <a:r>
              <a:rPr lang="en-US" dirty="0" err="1"/>
              <a:t>lebih</a:t>
            </a:r>
            <a:r>
              <a:rPr lang="en-US" dirty="0"/>
              <a:t> </a:t>
            </a:r>
            <a:r>
              <a:rPr lang="en-US" dirty="0" err="1"/>
              <a:t>terang</a:t>
            </a:r>
            <a:r>
              <a:rPr lang="en-US" dirty="0"/>
              <a:t> — adalah </a:t>
            </a:r>
            <a:r>
              <a:rPr lang="en-US" b="1" dirty="0"/>
              <a:t>label </a:t>
            </a:r>
            <a:r>
              <a:rPr lang="en-US" b="1" dirty="0" err="1"/>
              <a:t>segmen</a:t>
            </a:r>
            <a:r>
              <a:rPr lang="en-US" b="1" dirty="0"/>
              <a:t> </a:t>
            </a:r>
            <a:r>
              <a:rPr lang="en-US" b="1" dirty="0" err="1"/>
              <a:t>pasarnya</a:t>
            </a:r>
            <a:r>
              <a:rPr lang="en-US" dirty="0"/>
              <a:t>: </a:t>
            </a:r>
            <a:r>
              <a:rPr lang="en-US" dirty="0" err="1"/>
              <a:t>siapa</a:t>
            </a:r>
            <a:r>
              <a:rPr lang="en-US" dirty="0"/>
              <a:t> target </a:t>
            </a:r>
            <a:r>
              <a:rPr lang="en-US" dirty="0" err="1"/>
              <a:t>pelanggannya</a:t>
            </a:r>
            <a:r>
              <a:rPr lang="en-US" dirty="0"/>
              <a:t> dan </a:t>
            </a:r>
            <a:r>
              <a:rPr lang="en-US" dirty="0" err="1"/>
              <a:t>seberapa</a:t>
            </a:r>
            <a:r>
              <a:rPr lang="en-US" dirty="0"/>
              <a:t> </a:t>
            </a:r>
            <a:r>
              <a:rPr lang="en-US" dirty="0" err="1"/>
              <a:t>besar</a:t>
            </a:r>
            <a:r>
              <a:rPr lang="en-US" dirty="0"/>
              <a:t> </a:t>
            </a:r>
            <a:r>
              <a:rPr lang="en-US" dirty="0" err="1"/>
              <a:t>peluangnya</a:t>
            </a:r>
            <a:r>
              <a:rPr lang="en-US" dirty="0"/>
              <a:t>. Dua </a:t>
            </a:r>
            <a:r>
              <a:rPr lang="en-US" dirty="0" err="1"/>
              <a:t>pertanyaan</a:t>
            </a:r>
            <a:r>
              <a:rPr lang="en-US" dirty="0"/>
              <a:t> </a:t>
            </a:r>
            <a:r>
              <a:rPr lang="en-US" dirty="0" err="1"/>
              <a:t>berbeda</a:t>
            </a:r>
            <a:r>
              <a:rPr lang="en-US" dirty="0"/>
              <a:t>, </a:t>
            </a:r>
            <a:r>
              <a:rPr lang="en-US" dirty="0" err="1"/>
              <a:t>satu</a:t>
            </a:r>
            <a:r>
              <a:rPr lang="en-US" dirty="0"/>
              <a:t> </a:t>
            </a:r>
            <a:r>
              <a:rPr lang="en-US" dirty="0" err="1"/>
              <a:t>jawaban</a:t>
            </a:r>
            <a:r>
              <a:rPr lang="en-US" dirty="0"/>
              <a:t>.</a:t>
            </a:r>
          </a:p>
          <a:p>
            <a:br>
              <a:rPr lang="en-US" dirty="0"/>
            </a:br>
            <a:endParaRPr lang="en-US" dirty="0"/>
          </a:p>
          <a:p>
            <a:r>
              <a:rPr lang="en-US" b="1" dirty="0"/>
              <a:t>Kolom </a:t>
            </a:r>
            <a:r>
              <a:rPr lang="en-US" b="1" dirty="0" err="1"/>
              <a:t>pertama</a:t>
            </a:r>
            <a:r>
              <a:rPr lang="en-US" b="1" dirty="0"/>
              <a:t>: Jawa Timur.</a:t>
            </a:r>
            <a:endParaRPr lang="en-US" dirty="0"/>
          </a:p>
          <a:p>
            <a:r>
              <a:rPr lang="en-US" i="1" dirty="0"/>
              <a:t>Sales Priority</a:t>
            </a:r>
            <a:r>
              <a:rPr lang="en-US" dirty="0"/>
              <a:t> </a:t>
            </a:r>
            <a:r>
              <a:rPr lang="en-US" dirty="0" err="1"/>
              <a:t>sekaligus</a:t>
            </a:r>
            <a:r>
              <a:rPr lang="en-US" dirty="0"/>
              <a:t> </a:t>
            </a:r>
            <a:r>
              <a:rPr lang="en-US" i="1" dirty="0"/>
              <a:t>Strategic Market</a:t>
            </a:r>
            <a:r>
              <a:rPr lang="en-US" dirty="0"/>
              <a:t>. Skor 76,9. Opportunity score </a:t>
            </a:r>
            <a:r>
              <a:rPr lang="en-US" dirty="0" err="1"/>
              <a:t>tertinggi</a:t>
            </a:r>
            <a:r>
              <a:rPr lang="en-US" dirty="0"/>
              <a:t> di 25.203, </a:t>
            </a:r>
            <a:r>
              <a:rPr lang="en-US" dirty="0" err="1"/>
              <a:t>dengan</a:t>
            </a:r>
            <a:r>
              <a:rPr lang="en-US" dirty="0"/>
              <a:t> </a:t>
            </a:r>
            <a:r>
              <a:rPr lang="en-US" dirty="0" err="1"/>
              <a:t>pangsa</a:t>
            </a:r>
            <a:r>
              <a:rPr lang="en-US" dirty="0"/>
              <a:t> pasar 37,4%.</a:t>
            </a:r>
          </a:p>
          <a:p>
            <a:r>
              <a:rPr lang="en-US" dirty="0"/>
              <a:t>Strategi di </a:t>
            </a:r>
            <a:r>
              <a:rPr lang="en-US" dirty="0" err="1"/>
              <a:t>sini</a:t>
            </a:r>
            <a:r>
              <a:rPr lang="en-US" dirty="0"/>
              <a:t> adalah </a:t>
            </a:r>
            <a:r>
              <a:rPr lang="en-US" b="1" dirty="0"/>
              <a:t>direct sales dan enterprise targeting</a:t>
            </a:r>
            <a:r>
              <a:rPr lang="en-US" dirty="0"/>
              <a:t>. </a:t>
            </a:r>
            <a:r>
              <a:rPr lang="en-US" dirty="0" err="1"/>
              <a:t>Konkretnya</a:t>
            </a:r>
            <a:r>
              <a:rPr lang="en-US" dirty="0"/>
              <a:t>: </a:t>
            </a:r>
            <a:r>
              <a:rPr lang="en-US" dirty="0" err="1"/>
              <a:t>tim</a:t>
            </a:r>
            <a:r>
              <a:rPr lang="en-US" dirty="0"/>
              <a:t> sales dedicated yang </a:t>
            </a:r>
            <a:r>
              <a:rPr lang="en-US" dirty="0" err="1"/>
              <a:t>berbasis</a:t>
            </a:r>
            <a:r>
              <a:rPr lang="en-US" dirty="0"/>
              <a:t> di Surabaya, workshop gratis </a:t>
            </a:r>
            <a:r>
              <a:rPr lang="en-US" dirty="0" err="1"/>
              <a:t>sebagai</a:t>
            </a:r>
            <a:r>
              <a:rPr lang="en-US" dirty="0"/>
              <a:t> </a:t>
            </a:r>
            <a:r>
              <a:rPr lang="en-US" dirty="0" err="1"/>
              <a:t>pintu</a:t>
            </a:r>
            <a:r>
              <a:rPr lang="en-US" dirty="0"/>
              <a:t> </a:t>
            </a:r>
            <a:r>
              <a:rPr lang="en-US" dirty="0" err="1"/>
              <a:t>masuk</a:t>
            </a:r>
            <a:r>
              <a:rPr lang="en-US" dirty="0"/>
              <a:t> ke </a:t>
            </a:r>
            <a:r>
              <a:rPr lang="en-US" dirty="0" err="1"/>
              <a:t>kontraktor</a:t>
            </a:r>
            <a:r>
              <a:rPr lang="en-US" dirty="0"/>
              <a:t> </a:t>
            </a:r>
            <a:r>
              <a:rPr lang="en-US" dirty="0" err="1"/>
              <a:t>menengah-besar</a:t>
            </a:r>
            <a:r>
              <a:rPr lang="en-US" dirty="0"/>
              <a:t>, dan bundling </a:t>
            </a:r>
            <a:r>
              <a:rPr lang="en-US" dirty="0" err="1"/>
              <a:t>produk</a:t>
            </a:r>
            <a:r>
              <a:rPr lang="en-US" dirty="0"/>
              <a:t> untuk </a:t>
            </a:r>
            <a:r>
              <a:rPr lang="en-US" dirty="0" err="1"/>
              <a:t>proyek</a:t>
            </a:r>
            <a:r>
              <a:rPr lang="en-US" dirty="0"/>
              <a:t> </a:t>
            </a:r>
            <a:r>
              <a:rPr lang="en-US" dirty="0" err="1"/>
              <a:t>skala</a:t>
            </a:r>
            <a:r>
              <a:rPr lang="en-US" dirty="0"/>
              <a:t> </a:t>
            </a:r>
            <a:r>
              <a:rPr lang="en-US" dirty="0" err="1"/>
              <a:t>besar</a:t>
            </a:r>
            <a:r>
              <a:rPr lang="en-US" dirty="0"/>
              <a:t>. Target </a:t>
            </a:r>
            <a:r>
              <a:rPr lang="en-US" dirty="0" err="1"/>
              <a:t>kliennya</a:t>
            </a:r>
            <a:r>
              <a:rPr lang="en-US" dirty="0"/>
              <a:t> adalah </a:t>
            </a:r>
            <a:r>
              <a:rPr lang="en-US" dirty="0" err="1"/>
              <a:t>kontraktor</a:t>
            </a:r>
            <a:r>
              <a:rPr lang="en-US" dirty="0"/>
              <a:t> yang </a:t>
            </a:r>
            <a:r>
              <a:rPr lang="en-US" dirty="0" err="1"/>
              <a:t>mengerjakan</a:t>
            </a:r>
            <a:r>
              <a:rPr lang="en-US" dirty="0"/>
              <a:t> </a:t>
            </a:r>
            <a:r>
              <a:rPr lang="en-US" dirty="0" err="1"/>
              <a:t>proyek</a:t>
            </a:r>
            <a:r>
              <a:rPr lang="en-US" dirty="0"/>
              <a:t> </a:t>
            </a:r>
            <a:r>
              <a:rPr lang="en-US" dirty="0" err="1"/>
              <a:t>pemerintah</a:t>
            </a:r>
            <a:r>
              <a:rPr lang="en-US" dirty="0"/>
              <a:t> dan BUMN — </a:t>
            </a:r>
            <a:r>
              <a:rPr lang="en-US" dirty="0" err="1"/>
              <a:t>karena</a:t>
            </a:r>
            <a:r>
              <a:rPr lang="en-US" dirty="0"/>
              <a:t> </a:t>
            </a:r>
            <a:r>
              <a:rPr lang="en-US" dirty="0" err="1"/>
              <a:t>mereka</a:t>
            </a:r>
            <a:r>
              <a:rPr lang="en-US" dirty="0"/>
              <a:t> punya </a:t>
            </a:r>
            <a:r>
              <a:rPr lang="en-US" dirty="0" err="1"/>
              <a:t>kewajiban</a:t>
            </a:r>
            <a:r>
              <a:rPr lang="en-US" dirty="0"/>
              <a:t> K3 yang </a:t>
            </a:r>
            <a:r>
              <a:rPr lang="en-US" dirty="0" err="1"/>
              <a:t>lebih</a:t>
            </a:r>
            <a:r>
              <a:rPr lang="en-US" dirty="0"/>
              <a:t> </a:t>
            </a:r>
            <a:r>
              <a:rPr lang="en-US" dirty="0" err="1"/>
              <a:t>ketat</a:t>
            </a:r>
            <a:r>
              <a:rPr lang="en-US" dirty="0"/>
              <a:t> dan </a:t>
            </a:r>
            <a:r>
              <a:rPr lang="en-US" dirty="0" err="1"/>
              <a:t>anggaran</a:t>
            </a:r>
            <a:r>
              <a:rPr lang="en-US" dirty="0"/>
              <a:t> yang </a:t>
            </a:r>
            <a:r>
              <a:rPr lang="en-US" dirty="0" err="1"/>
              <a:t>lebih</a:t>
            </a:r>
            <a:r>
              <a:rPr lang="en-US" dirty="0"/>
              <a:t> </a:t>
            </a:r>
            <a:r>
              <a:rPr lang="en-US" dirty="0" err="1"/>
              <a:t>terstruktur</a:t>
            </a:r>
            <a:r>
              <a:rPr lang="en-US" dirty="0"/>
              <a:t>.</a:t>
            </a:r>
          </a:p>
          <a:p>
            <a:br>
              <a:rPr lang="en-US" dirty="0"/>
            </a:br>
            <a:endParaRPr lang="en-US" dirty="0"/>
          </a:p>
          <a:p>
            <a:r>
              <a:rPr lang="en-US" b="1" dirty="0"/>
              <a:t>Kolom </a:t>
            </a:r>
            <a:r>
              <a:rPr lang="en-US" b="1" dirty="0" err="1"/>
              <a:t>kedua</a:t>
            </a:r>
            <a:r>
              <a:rPr lang="en-US" b="1" dirty="0"/>
              <a:t>: Jawa Barat.</a:t>
            </a:r>
            <a:endParaRPr lang="en-US" dirty="0"/>
          </a:p>
          <a:p>
            <a:r>
              <a:rPr lang="en-US" i="1" dirty="0"/>
              <a:t>Pilot Project</a:t>
            </a:r>
            <a:r>
              <a:rPr lang="en-US" dirty="0"/>
              <a:t> </a:t>
            </a:r>
            <a:r>
              <a:rPr lang="en-US" dirty="0" err="1"/>
              <a:t>sekaligus</a:t>
            </a:r>
            <a:r>
              <a:rPr lang="en-US" dirty="0"/>
              <a:t> </a:t>
            </a:r>
            <a:r>
              <a:rPr lang="en-US" i="1" dirty="0"/>
              <a:t>Growth Market</a:t>
            </a:r>
            <a:r>
              <a:rPr lang="en-US" dirty="0"/>
              <a:t>. Skor 66,8. Yang </a:t>
            </a:r>
            <a:r>
              <a:rPr lang="en-US" dirty="0" err="1"/>
              <a:t>menarik</a:t>
            </a:r>
            <a:r>
              <a:rPr lang="en-US" dirty="0"/>
              <a:t> </a:t>
            </a:r>
            <a:r>
              <a:rPr lang="en-US" dirty="0" err="1"/>
              <a:t>dari</a:t>
            </a:r>
            <a:r>
              <a:rPr lang="en-US" dirty="0"/>
              <a:t> Jawa Barat adalah </a:t>
            </a:r>
            <a:r>
              <a:rPr lang="en-US" b="1" dirty="0"/>
              <a:t>risk density-</a:t>
            </a:r>
            <a:r>
              <a:rPr lang="en-US" b="1" dirty="0" err="1"/>
              <a:t>nya</a:t>
            </a:r>
            <a:r>
              <a:rPr lang="en-US" b="1" dirty="0"/>
              <a:t> yang </a:t>
            </a:r>
            <a:r>
              <a:rPr lang="en-US" b="1" dirty="0" err="1"/>
              <a:t>tinggi</a:t>
            </a:r>
            <a:r>
              <a:rPr lang="en-US" b="1" dirty="0"/>
              <a:t>, 39,6 per 1000 </a:t>
            </a:r>
            <a:r>
              <a:rPr lang="en-US" b="1" dirty="0" err="1"/>
              <a:t>perusahaan</a:t>
            </a:r>
            <a:r>
              <a:rPr lang="en-US" dirty="0"/>
              <a:t> — </a:t>
            </a:r>
            <a:r>
              <a:rPr lang="en-US" dirty="0" err="1"/>
              <a:t>kedua</a:t>
            </a:r>
            <a:r>
              <a:rPr lang="en-US" dirty="0"/>
              <a:t> </a:t>
            </a:r>
            <a:r>
              <a:rPr lang="en-US" dirty="0" err="1"/>
              <a:t>tertinggi</a:t>
            </a:r>
            <a:r>
              <a:rPr lang="en-US" dirty="0"/>
              <a:t> </a:t>
            </a:r>
            <a:r>
              <a:rPr lang="en-US" dirty="0" err="1"/>
              <a:t>setelah</a:t>
            </a:r>
            <a:r>
              <a:rPr lang="en-US" dirty="0"/>
              <a:t> Banten. Ini </a:t>
            </a:r>
            <a:r>
              <a:rPr lang="en-US" dirty="0" err="1"/>
              <a:t>artinya</a:t>
            </a:r>
            <a:r>
              <a:rPr lang="en-US" dirty="0"/>
              <a:t> </a:t>
            </a:r>
            <a:r>
              <a:rPr lang="en-US" dirty="0" err="1"/>
              <a:t>klien</a:t>
            </a:r>
            <a:r>
              <a:rPr lang="en-US" dirty="0"/>
              <a:t> di Jawa Barat punya pain point yang </a:t>
            </a:r>
            <a:r>
              <a:rPr lang="en-US" dirty="0" err="1"/>
              <a:t>nyata</a:t>
            </a:r>
            <a:r>
              <a:rPr lang="en-US" dirty="0"/>
              <a:t>, </a:t>
            </a:r>
            <a:r>
              <a:rPr lang="en-US" dirty="0" err="1"/>
              <a:t>tapi</a:t>
            </a:r>
            <a:r>
              <a:rPr lang="en-US" dirty="0"/>
              <a:t> </a:t>
            </a:r>
            <a:r>
              <a:rPr lang="en-US" dirty="0" err="1"/>
              <a:t>ukuran</a:t>
            </a:r>
            <a:r>
              <a:rPr lang="en-US" dirty="0"/>
              <a:t> </a:t>
            </a:r>
            <a:r>
              <a:rPr lang="en-US" dirty="0" err="1"/>
              <a:t>pasarnya</a:t>
            </a:r>
            <a:r>
              <a:rPr lang="en-US" dirty="0"/>
              <a:t> </a:t>
            </a:r>
            <a:r>
              <a:rPr lang="en-US" dirty="0" err="1"/>
              <a:t>belum</a:t>
            </a:r>
            <a:r>
              <a:rPr lang="en-US" dirty="0"/>
              <a:t> </a:t>
            </a:r>
            <a:r>
              <a:rPr lang="en-US" dirty="0" err="1"/>
              <a:t>sebesar</a:t>
            </a:r>
            <a:r>
              <a:rPr lang="en-US" dirty="0"/>
              <a:t> Jatim.</a:t>
            </a:r>
          </a:p>
          <a:p>
            <a:r>
              <a:rPr lang="en-US" dirty="0"/>
              <a:t>Strategi yang </a:t>
            </a:r>
            <a:r>
              <a:rPr lang="en-US" dirty="0" err="1"/>
              <a:t>tepat</a:t>
            </a:r>
            <a:r>
              <a:rPr lang="en-US" dirty="0"/>
              <a:t> di </a:t>
            </a:r>
            <a:r>
              <a:rPr lang="en-US" dirty="0" err="1"/>
              <a:t>sini</a:t>
            </a:r>
            <a:r>
              <a:rPr lang="en-US" dirty="0"/>
              <a:t> adalah </a:t>
            </a:r>
            <a:r>
              <a:rPr lang="en-US" b="1" dirty="0"/>
              <a:t>trial dan partnership</a:t>
            </a:r>
            <a:r>
              <a:rPr lang="en-US" dirty="0"/>
              <a:t>. Kami </a:t>
            </a:r>
            <a:r>
              <a:rPr lang="en-US" dirty="0" err="1"/>
              <a:t>rekomendasikan</a:t>
            </a:r>
            <a:r>
              <a:rPr lang="en-US" dirty="0"/>
              <a:t> pilot gratis di Bandung dan Bekasi untuk 10 </a:t>
            </a:r>
            <a:r>
              <a:rPr lang="en-US" dirty="0" err="1"/>
              <a:t>perusahaan</a:t>
            </a:r>
            <a:r>
              <a:rPr lang="en-US" dirty="0"/>
              <a:t> target — ini untuk </a:t>
            </a:r>
            <a:r>
              <a:rPr lang="en-US" dirty="0" err="1"/>
              <a:t>membangun</a:t>
            </a:r>
            <a:r>
              <a:rPr lang="en-US" dirty="0"/>
              <a:t> </a:t>
            </a:r>
            <a:r>
              <a:rPr lang="en-US" dirty="0" err="1"/>
              <a:t>bukti</a:t>
            </a:r>
            <a:r>
              <a:rPr lang="en-US" dirty="0"/>
              <a:t> </a:t>
            </a:r>
            <a:r>
              <a:rPr lang="en-US" dirty="0" err="1"/>
              <a:t>nyata</a:t>
            </a:r>
            <a:r>
              <a:rPr lang="en-US" dirty="0"/>
              <a:t>, </a:t>
            </a:r>
            <a:r>
              <a:rPr lang="en-US" dirty="0" err="1"/>
              <a:t>atau</a:t>
            </a:r>
            <a:r>
              <a:rPr lang="en-US" dirty="0"/>
              <a:t> </a:t>
            </a:r>
            <a:r>
              <a:rPr lang="en-US" dirty="0" err="1"/>
              <a:t>dalam</a:t>
            </a:r>
            <a:r>
              <a:rPr lang="en-US" dirty="0"/>
              <a:t> </a:t>
            </a:r>
            <a:r>
              <a:rPr lang="en-US" dirty="0" err="1"/>
              <a:t>istilah</a:t>
            </a:r>
            <a:r>
              <a:rPr lang="en-US" dirty="0"/>
              <a:t> sales: </a:t>
            </a:r>
            <a:r>
              <a:rPr lang="en-US" i="1" dirty="0"/>
              <a:t>case study yang </a:t>
            </a:r>
            <a:r>
              <a:rPr lang="en-US" i="1" dirty="0" err="1"/>
              <a:t>bisa</a:t>
            </a:r>
            <a:r>
              <a:rPr lang="en-US" i="1" dirty="0"/>
              <a:t> </a:t>
            </a:r>
            <a:r>
              <a:rPr lang="en-US" i="1" dirty="0" err="1"/>
              <a:t>dijual</a:t>
            </a:r>
            <a:r>
              <a:rPr lang="en-US" dirty="0"/>
              <a:t>. Di </a:t>
            </a:r>
            <a:r>
              <a:rPr lang="en-US" dirty="0" err="1"/>
              <a:t>samping</a:t>
            </a:r>
            <a:r>
              <a:rPr lang="en-US" dirty="0"/>
              <a:t> </a:t>
            </a:r>
            <a:r>
              <a:rPr lang="en-US" dirty="0" err="1"/>
              <a:t>itu</a:t>
            </a:r>
            <a:r>
              <a:rPr lang="en-US" dirty="0"/>
              <a:t>, </a:t>
            </a:r>
            <a:r>
              <a:rPr lang="en-US" dirty="0" err="1"/>
              <a:t>masuk</a:t>
            </a:r>
            <a:r>
              <a:rPr lang="en-US" dirty="0"/>
              <a:t> </a:t>
            </a:r>
            <a:r>
              <a:rPr lang="en-US" dirty="0" err="1"/>
              <a:t>lewat</a:t>
            </a:r>
            <a:r>
              <a:rPr lang="en-US" dirty="0"/>
              <a:t> </a:t>
            </a:r>
            <a:r>
              <a:rPr lang="en-US" dirty="0" err="1"/>
              <a:t>asosiasi</a:t>
            </a:r>
            <a:r>
              <a:rPr lang="en-US" dirty="0"/>
              <a:t> </a:t>
            </a:r>
            <a:r>
              <a:rPr lang="en-US" dirty="0" err="1"/>
              <a:t>kontraktor</a:t>
            </a:r>
            <a:r>
              <a:rPr lang="en-US" dirty="0"/>
              <a:t> </a:t>
            </a:r>
            <a:r>
              <a:rPr lang="en-US" dirty="0" err="1"/>
              <a:t>lokal</a:t>
            </a:r>
            <a:r>
              <a:rPr lang="en-US" dirty="0"/>
              <a:t> </a:t>
            </a:r>
            <a:r>
              <a:rPr lang="en-US" dirty="0" err="1"/>
              <a:t>karena</a:t>
            </a:r>
            <a:r>
              <a:rPr lang="en-US" dirty="0"/>
              <a:t> </a:t>
            </a:r>
            <a:r>
              <a:rPr lang="en-US" dirty="0" err="1"/>
              <a:t>komunitas</a:t>
            </a:r>
            <a:r>
              <a:rPr lang="en-US" dirty="0"/>
              <a:t> </a:t>
            </a:r>
            <a:r>
              <a:rPr lang="en-US" dirty="0" err="1"/>
              <a:t>mereka</a:t>
            </a:r>
            <a:r>
              <a:rPr lang="en-US" dirty="0"/>
              <a:t> tight-knit dan referral sangat </a:t>
            </a:r>
            <a:r>
              <a:rPr lang="en-US" dirty="0" err="1"/>
              <a:t>berpengaruh</a:t>
            </a:r>
            <a:r>
              <a:rPr lang="en-US" dirty="0"/>
              <a:t>.</a:t>
            </a:r>
          </a:p>
          <a:p>
            <a:br>
              <a:rPr lang="en-US" dirty="0"/>
            </a:br>
            <a:endParaRPr lang="en-US" dirty="0"/>
          </a:p>
          <a:p>
            <a:r>
              <a:rPr lang="en-US" b="1" dirty="0"/>
              <a:t>Kolom </a:t>
            </a:r>
            <a:r>
              <a:rPr lang="en-US" b="1" dirty="0" err="1"/>
              <a:t>ketiga</a:t>
            </a:r>
            <a:r>
              <a:rPr lang="en-US" b="1" dirty="0"/>
              <a:t>: Jawa Tengah dan Banten.</a:t>
            </a:r>
            <a:endParaRPr lang="en-US" dirty="0"/>
          </a:p>
          <a:p>
            <a:r>
              <a:rPr lang="en-US" i="1" dirty="0"/>
              <a:t>Canvassing</a:t>
            </a:r>
            <a:r>
              <a:rPr lang="en-US" dirty="0"/>
              <a:t> </a:t>
            </a:r>
            <a:r>
              <a:rPr lang="en-US" dirty="0" err="1"/>
              <a:t>sekaligus</a:t>
            </a:r>
            <a:r>
              <a:rPr lang="en-US" dirty="0"/>
              <a:t> </a:t>
            </a:r>
            <a:r>
              <a:rPr lang="en-US" i="1" dirty="0"/>
              <a:t>Emerging Market</a:t>
            </a:r>
            <a:r>
              <a:rPr lang="en-US" dirty="0"/>
              <a:t>. Skor di </a:t>
            </a:r>
            <a:r>
              <a:rPr lang="en-US" dirty="0" err="1"/>
              <a:t>kisaran</a:t>
            </a:r>
            <a:r>
              <a:rPr lang="en-US" dirty="0"/>
              <a:t> 31.</a:t>
            </a:r>
          </a:p>
          <a:p>
            <a:r>
              <a:rPr lang="en-US" dirty="0"/>
              <a:t>Ini </a:t>
            </a:r>
            <a:r>
              <a:rPr lang="en-US" dirty="0" err="1"/>
              <a:t>bukan</a:t>
            </a:r>
            <a:r>
              <a:rPr lang="en-US" dirty="0"/>
              <a:t> </a:t>
            </a:r>
            <a:r>
              <a:rPr lang="en-US" dirty="0" err="1"/>
              <a:t>berarti</a:t>
            </a:r>
            <a:r>
              <a:rPr lang="en-US" dirty="0"/>
              <a:t> </a:t>
            </a:r>
            <a:r>
              <a:rPr lang="en-US" dirty="0" err="1"/>
              <a:t>diabaikan</a:t>
            </a:r>
            <a:r>
              <a:rPr lang="en-US" dirty="0"/>
              <a:t> — </a:t>
            </a:r>
            <a:r>
              <a:rPr lang="en-US" dirty="0" err="1"/>
              <a:t>justru</a:t>
            </a:r>
            <a:r>
              <a:rPr lang="en-US" dirty="0"/>
              <a:t> ini adalah pasar yang </a:t>
            </a:r>
            <a:r>
              <a:rPr lang="en-US" dirty="0" err="1"/>
              <a:t>perlu</a:t>
            </a:r>
            <a:r>
              <a:rPr lang="en-US" dirty="0"/>
              <a:t> </a:t>
            </a:r>
            <a:r>
              <a:rPr lang="en-US" i="1" dirty="0" err="1"/>
              <a:t>pemanasan</a:t>
            </a:r>
            <a:r>
              <a:rPr lang="en-US" i="1" dirty="0"/>
              <a:t> </a:t>
            </a:r>
            <a:r>
              <a:rPr lang="en-US" dirty="0" err="1"/>
              <a:t>sebelum</a:t>
            </a:r>
            <a:r>
              <a:rPr lang="en-US" dirty="0"/>
              <a:t> </a:t>
            </a:r>
            <a:r>
              <a:rPr lang="en-US" dirty="0" err="1"/>
              <a:t>bisa</a:t>
            </a:r>
            <a:r>
              <a:rPr lang="en-US" dirty="0"/>
              <a:t> </a:t>
            </a:r>
            <a:r>
              <a:rPr lang="en-US" dirty="0" err="1"/>
              <a:t>dikonversi</a:t>
            </a:r>
            <a:r>
              <a:rPr lang="en-US" dirty="0"/>
              <a:t>. </a:t>
            </a:r>
            <a:r>
              <a:rPr lang="en-US" dirty="0" err="1"/>
              <a:t>Strateginya</a:t>
            </a:r>
            <a:r>
              <a:rPr lang="en-US" dirty="0"/>
              <a:t> adalah </a:t>
            </a:r>
            <a:r>
              <a:rPr lang="en-US" b="1" dirty="0"/>
              <a:t>digital marketing dan awareness campaign</a:t>
            </a:r>
            <a:r>
              <a:rPr lang="en-US" dirty="0"/>
              <a:t>, </a:t>
            </a:r>
            <a:r>
              <a:rPr lang="en-US" dirty="0" err="1"/>
              <a:t>dengan</a:t>
            </a:r>
            <a:r>
              <a:rPr lang="en-US" dirty="0"/>
              <a:t> </a:t>
            </a:r>
            <a:r>
              <a:rPr lang="en-US" dirty="0" err="1"/>
              <a:t>pesan</a:t>
            </a:r>
            <a:r>
              <a:rPr lang="en-US" dirty="0"/>
              <a:t> yang </a:t>
            </a:r>
            <a:r>
              <a:rPr lang="en-US" dirty="0" err="1"/>
              <a:t>langsung</a:t>
            </a:r>
            <a:r>
              <a:rPr lang="en-US" dirty="0"/>
              <a:t> </a:t>
            </a:r>
            <a:r>
              <a:rPr lang="en-US" dirty="0" err="1"/>
              <a:t>menyentuh</a:t>
            </a:r>
            <a:r>
              <a:rPr lang="en-US" dirty="0"/>
              <a:t> pain point: 'Kurangi </a:t>
            </a:r>
            <a:r>
              <a:rPr lang="en-US" dirty="0" err="1"/>
              <a:t>Kecelakaan</a:t>
            </a:r>
            <a:r>
              <a:rPr lang="en-US" dirty="0"/>
              <a:t> </a:t>
            </a:r>
            <a:r>
              <a:rPr lang="en-US" dirty="0" err="1"/>
              <a:t>Konstruksi</a:t>
            </a:r>
            <a:r>
              <a:rPr lang="en-US" dirty="0"/>
              <a:t>.' Google Ads dan webinar </a:t>
            </a:r>
            <a:r>
              <a:rPr lang="en-US" dirty="0" err="1"/>
              <a:t>edukasi</a:t>
            </a:r>
            <a:r>
              <a:rPr lang="en-US" dirty="0"/>
              <a:t> K3 </a:t>
            </a:r>
            <a:r>
              <a:rPr lang="en-US" dirty="0" err="1"/>
              <a:t>akan</a:t>
            </a:r>
            <a:r>
              <a:rPr lang="en-US" dirty="0"/>
              <a:t> </a:t>
            </a:r>
            <a:r>
              <a:rPr lang="en-US" dirty="0" err="1"/>
              <a:t>jadi</a:t>
            </a:r>
            <a:r>
              <a:rPr lang="en-US" dirty="0"/>
              <a:t> </a:t>
            </a:r>
            <a:r>
              <a:rPr lang="en-US" dirty="0" err="1"/>
              <a:t>instrumen</a:t>
            </a:r>
            <a:r>
              <a:rPr lang="en-US" dirty="0"/>
              <a:t> </a:t>
            </a:r>
            <a:r>
              <a:rPr lang="en-US" dirty="0" err="1"/>
              <a:t>utama</a:t>
            </a:r>
            <a:r>
              <a:rPr lang="en-US" dirty="0"/>
              <a:t>. </a:t>
            </a:r>
          </a:p>
          <a:p>
            <a:r>
              <a:rPr lang="en-US" dirty="0"/>
              <a:t>Ada </a:t>
            </a:r>
            <a:r>
              <a:rPr lang="en-US" dirty="0" err="1"/>
              <a:t>satu</a:t>
            </a:r>
            <a:r>
              <a:rPr lang="en-US" dirty="0"/>
              <a:t> </a:t>
            </a:r>
            <a:r>
              <a:rPr lang="en-US" dirty="0" err="1"/>
              <a:t>catatan</a:t>
            </a:r>
            <a:r>
              <a:rPr lang="en-US" dirty="0"/>
              <a:t> </a:t>
            </a:r>
            <a:r>
              <a:rPr lang="en-US" dirty="0" err="1"/>
              <a:t>khusus</a:t>
            </a:r>
            <a:r>
              <a:rPr lang="en-US" dirty="0"/>
              <a:t> yang kami </a:t>
            </a:r>
            <a:r>
              <a:rPr lang="en-US" dirty="0" err="1"/>
              <a:t>tandai</a:t>
            </a:r>
            <a:r>
              <a:rPr lang="en-US" dirty="0"/>
              <a:t> — </a:t>
            </a:r>
            <a:r>
              <a:rPr lang="en-US" b="1" dirty="0"/>
              <a:t>Tangerang Selatan</a:t>
            </a:r>
            <a:r>
              <a:rPr lang="en-US" dirty="0"/>
              <a:t>. </a:t>
            </a:r>
            <a:r>
              <a:rPr lang="en-US" dirty="0" err="1"/>
              <a:t>Meski</a:t>
            </a:r>
            <a:r>
              <a:rPr lang="en-US" dirty="0"/>
              <a:t> </a:t>
            </a:r>
            <a:r>
              <a:rPr lang="en-US" dirty="0" err="1"/>
              <a:t>provinsi</a:t>
            </a:r>
            <a:r>
              <a:rPr lang="en-US" dirty="0"/>
              <a:t> Banten </a:t>
            </a:r>
            <a:r>
              <a:rPr lang="en-US" dirty="0" err="1"/>
              <a:t>masuk</a:t>
            </a:r>
            <a:r>
              <a:rPr lang="en-US" dirty="0"/>
              <a:t> Canvassing </a:t>
            </a:r>
            <a:r>
              <a:rPr lang="en-US" dirty="0" err="1"/>
              <a:t>karena</a:t>
            </a:r>
            <a:r>
              <a:rPr lang="en-US" dirty="0"/>
              <a:t> </a:t>
            </a:r>
            <a:r>
              <a:rPr lang="en-US" dirty="0" err="1"/>
              <a:t>ukuran</a:t>
            </a:r>
            <a:r>
              <a:rPr lang="en-US" dirty="0"/>
              <a:t> </a:t>
            </a:r>
            <a:r>
              <a:rPr lang="en-US" dirty="0" err="1"/>
              <a:t>pasarnya</a:t>
            </a:r>
            <a:r>
              <a:rPr lang="en-US" dirty="0"/>
              <a:t> </a:t>
            </a:r>
            <a:r>
              <a:rPr lang="en-US" dirty="0" err="1"/>
              <a:t>kecil</a:t>
            </a:r>
            <a:r>
              <a:rPr lang="en-US" dirty="0"/>
              <a:t>, </a:t>
            </a:r>
            <a:r>
              <a:rPr lang="en-US" dirty="0" err="1"/>
              <a:t>Tangsel</a:t>
            </a:r>
            <a:r>
              <a:rPr lang="en-US" dirty="0"/>
              <a:t> </a:t>
            </a:r>
            <a:r>
              <a:rPr lang="en-US" dirty="0" err="1"/>
              <a:t>sendiri</a:t>
            </a:r>
            <a:r>
              <a:rPr lang="en-US" dirty="0"/>
              <a:t> </a:t>
            </a:r>
            <a:r>
              <a:rPr lang="en-US" dirty="0" err="1"/>
              <a:t>layak</a:t>
            </a:r>
            <a:r>
              <a:rPr lang="en-US" dirty="0"/>
              <a:t> </a:t>
            </a:r>
            <a:r>
              <a:rPr lang="en-US" dirty="0" err="1"/>
              <a:t>diperlakukan</a:t>
            </a:r>
            <a:r>
              <a:rPr lang="en-US" dirty="0"/>
              <a:t> </a:t>
            </a:r>
            <a:r>
              <a:rPr lang="en-US" dirty="0" err="1"/>
              <a:t>sebagai</a:t>
            </a:r>
            <a:r>
              <a:rPr lang="en-US" dirty="0"/>
              <a:t> </a:t>
            </a:r>
            <a:r>
              <a:rPr lang="en-US" i="1" dirty="0"/>
              <a:t>micro-</a:t>
            </a:r>
            <a:r>
              <a:rPr lang="en-US" i="1" dirty="0" err="1"/>
              <a:t>prioritas</a:t>
            </a:r>
            <a:r>
              <a:rPr lang="en-US" dirty="0"/>
              <a:t> untuk pilot AI Safety. Yang </a:t>
            </a:r>
            <a:r>
              <a:rPr lang="en-US" dirty="0" err="1"/>
              <a:t>akan</a:t>
            </a:r>
            <a:r>
              <a:rPr lang="en-US" dirty="0"/>
              <a:t> </a:t>
            </a:r>
            <a:r>
              <a:rPr lang="en-US" dirty="0" err="1"/>
              <a:t>terlihat</a:t>
            </a:r>
            <a:r>
              <a:rPr lang="en-US" dirty="0"/>
              <a:t> di </a:t>
            </a:r>
            <a:r>
              <a:rPr lang="en-US" dirty="0" err="1"/>
              <a:t>grafik</a:t>
            </a:r>
            <a:r>
              <a:rPr lang="en-US" dirty="0"/>
              <a:t> </a:t>
            </a:r>
            <a:r>
              <a:rPr lang="en-US" dirty="0" err="1"/>
              <a:t>analisis</a:t>
            </a:r>
            <a:r>
              <a:rPr lang="en-US" dirty="0"/>
              <a:t> </a:t>
            </a:r>
            <a:r>
              <a:rPr lang="en-US" dirty="0" err="1"/>
              <a:t>selanjutnya</a:t>
            </a:r>
            <a:endParaRPr lang="en-US" dirty="0"/>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Sejauh</a:t>
            </a:r>
            <a:r>
              <a:rPr lang="en-US" dirty="0"/>
              <a:t> ini </a:t>
            </a:r>
            <a:r>
              <a:rPr lang="en-US" dirty="0" err="1"/>
              <a:t>kita</a:t>
            </a:r>
            <a:r>
              <a:rPr lang="en-US" dirty="0"/>
              <a:t> </a:t>
            </a:r>
            <a:r>
              <a:rPr lang="en-US" dirty="0" err="1"/>
              <a:t>sudah</a:t>
            </a:r>
            <a:r>
              <a:rPr lang="en-US" dirty="0"/>
              <a:t> </a:t>
            </a:r>
            <a:r>
              <a:rPr lang="en-US" dirty="0" err="1"/>
              <a:t>bicara</a:t>
            </a:r>
            <a:r>
              <a:rPr lang="en-US" dirty="0"/>
              <a:t> di level </a:t>
            </a:r>
            <a:r>
              <a:rPr lang="en-US" dirty="0" err="1"/>
              <a:t>provinsi</a:t>
            </a:r>
            <a:r>
              <a:rPr lang="en-US" dirty="0"/>
              <a:t> — Jatim, Jabar, dan </a:t>
            </a:r>
            <a:r>
              <a:rPr lang="en-US" dirty="0" err="1"/>
              <a:t>seterusnya</a:t>
            </a:r>
            <a:r>
              <a:rPr lang="en-US" dirty="0"/>
              <a:t>. Tapi di dunia </a:t>
            </a:r>
            <a:r>
              <a:rPr lang="en-US" dirty="0" err="1"/>
              <a:t>nyata</a:t>
            </a:r>
            <a:r>
              <a:rPr lang="en-US" dirty="0"/>
              <a:t>, </a:t>
            </a:r>
            <a:r>
              <a:rPr lang="en-US" b="1" dirty="0" err="1"/>
              <a:t>tim</a:t>
            </a:r>
            <a:r>
              <a:rPr lang="en-US" b="1" dirty="0"/>
              <a:t> sales </a:t>
            </a:r>
            <a:r>
              <a:rPr lang="en-US" b="1" dirty="0" err="1"/>
              <a:t>tidak</a:t>
            </a:r>
            <a:r>
              <a:rPr lang="en-US" b="1" dirty="0"/>
              <a:t> </a:t>
            </a:r>
            <a:r>
              <a:rPr lang="en-US" b="1" dirty="0" err="1"/>
              <a:t>pergi</a:t>
            </a:r>
            <a:r>
              <a:rPr lang="en-US" b="1" dirty="0"/>
              <a:t> ke 'Jawa Timur', </a:t>
            </a:r>
            <a:r>
              <a:rPr lang="en-US" b="1" dirty="0" err="1"/>
              <a:t>mereka</a:t>
            </a:r>
            <a:r>
              <a:rPr lang="en-US" b="1" dirty="0"/>
              <a:t> </a:t>
            </a:r>
            <a:r>
              <a:rPr lang="en-US" b="1" dirty="0" err="1"/>
              <a:t>pergi</a:t>
            </a:r>
            <a:r>
              <a:rPr lang="en-US" b="1" dirty="0"/>
              <a:t> ke Surabaya.</a:t>
            </a:r>
            <a:r>
              <a:rPr lang="en-US" dirty="0"/>
              <a:t> Tim </a:t>
            </a:r>
            <a:r>
              <a:rPr lang="en-US" dirty="0" err="1"/>
              <a:t>implementasi</a:t>
            </a:r>
            <a:r>
              <a:rPr lang="en-US" dirty="0"/>
              <a:t> </a:t>
            </a:r>
            <a:r>
              <a:rPr lang="en-US" dirty="0" err="1"/>
              <a:t>tidak</a:t>
            </a:r>
            <a:r>
              <a:rPr lang="en-US" dirty="0"/>
              <a:t> deploy ke 'Jawa Barat', </a:t>
            </a:r>
            <a:r>
              <a:rPr lang="en-US" dirty="0" err="1"/>
              <a:t>mereka</a:t>
            </a:r>
            <a:r>
              <a:rPr lang="en-US" dirty="0"/>
              <a:t> deploy ke Bandung </a:t>
            </a:r>
            <a:r>
              <a:rPr lang="en-US" dirty="0" err="1"/>
              <a:t>atau</a:t>
            </a:r>
            <a:r>
              <a:rPr lang="en-US" dirty="0"/>
              <a:t> Bekasi.</a:t>
            </a:r>
          </a:p>
          <a:p>
            <a:r>
              <a:rPr lang="en-US" dirty="0"/>
              <a:t>Seksi ini </a:t>
            </a:r>
            <a:r>
              <a:rPr lang="en-US" dirty="0" err="1"/>
              <a:t>turun</a:t>
            </a:r>
            <a:r>
              <a:rPr lang="en-US" dirty="0"/>
              <a:t> </a:t>
            </a:r>
            <a:r>
              <a:rPr lang="en-US" dirty="0" err="1"/>
              <a:t>satu</a:t>
            </a:r>
            <a:r>
              <a:rPr lang="en-US" dirty="0"/>
              <a:t> level </a:t>
            </a:r>
            <a:r>
              <a:rPr lang="en-US" dirty="0" err="1"/>
              <a:t>lebih</a:t>
            </a:r>
            <a:r>
              <a:rPr lang="en-US" dirty="0"/>
              <a:t> </a:t>
            </a:r>
            <a:r>
              <a:rPr lang="en-US" dirty="0" err="1"/>
              <a:t>dalam</a:t>
            </a:r>
            <a:r>
              <a:rPr lang="en-US" dirty="0"/>
              <a:t> — ke level </a:t>
            </a:r>
            <a:r>
              <a:rPr lang="en-US" b="1" dirty="0" err="1"/>
              <a:t>kota</a:t>
            </a:r>
            <a:r>
              <a:rPr lang="en-US" b="1" dirty="0"/>
              <a:t> dan </a:t>
            </a:r>
            <a:r>
              <a:rPr lang="en-US" b="1" dirty="0" err="1"/>
              <a:t>kawasan</a:t>
            </a:r>
            <a:r>
              <a:rPr lang="en-US" dirty="0"/>
              <a:t> — untuk </a:t>
            </a:r>
            <a:r>
              <a:rPr lang="en-US" dirty="0" err="1"/>
              <a:t>menjawab</a:t>
            </a:r>
            <a:r>
              <a:rPr lang="en-US" dirty="0"/>
              <a:t> </a:t>
            </a:r>
            <a:r>
              <a:rPr lang="en-US" dirty="0" err="1"/>
              <a:t>pertanyaan</a:t>
            </a:r>
            <a:r>
              <a:rPr lang="en-US" dirty="0"/>
              <a:t> yang paling </a:t>
            </a:r>
            <a:r>
              <a:rPr lang="en-US" dirty="0" err="1"/>
              <a:t>operasional</a:t>
            </a:r>
            <a:r>
              <a:rPr lang="en-US" dirty="0"/>
              <a:t>: </a:t>
            </a:r>
            <a:r>
              <a:rPr lang="en-US" i="1" dirty="0" err="1"/>
              <a:t>kota</a:t>
            </a:r>
            <a:r>
              <a:rPr lang="en-US" i="1" dirty="0"/>
              <a:t> mana yang </a:t>
            </a:r>
            <a:r>
              <a:rPr lang="en-US" i="1" dirty="0" err="1"/>
              <a:t>harus</a:t>
            </a:r>
            <a:r>
              <a:rPr lang="en-US" i="1" dirty="0"/>
              <a:t> </a:t>
            </a:r>
            <a:r>
              <a:rPr lang="en-US" i="1" dirty="0" err="1"/>
              <a:t>didatangi</a:t>
            </a:r>
            <a:r>
              <a:rPr lang="en-US" i="1" dirty="0"/>
              <a:t> </a:t>
            </a:r>
            <a:r>
              <a:rPr lang="en-US" i="1" dirty="0" err="1"/>
              <a:t>pertama</a:t>
            </a:r>
            <a:r>
              <a:rPr lang="en-US" i="1" dirty="0"/>
              <a:t>, dan di mana pilot AI Safety </a:t>
            </a:r>
            <a:r>
              <a:rPr lang="en-US" i="1" dirty="0" err="1"/>
              <a:t>pertama</a:t>
            </a:r>
            <a:r>
              <a:rPr lang="en-US" i="1" dirty="0"/>
              <a:t> </a:t>
            </a:r>
            <a:r>
              <a:rPr lang="en-US" i="1" dirty="0" err="1"/>
              <a:t>sebaiknya</a:t>
            </a:r>
            <a:r>
              <a:rPr lang="en-US" i="1" dirty="0"/>
              <a:t> </a:t>
            </a:r>
            <a:r>
              <a:rPr lang="en-US" i="1" dirty="0" err="1"/>
              <a:t>dijalankan</a:t>
            </a:r>
            <a:r>
              <a:rPr lang="en-US" i="1" dirty="0"/>
              <a:t>?</a:t>
            </a:r>
            <a:endParaRPr lang="en-US" dirty="0"/>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13</a:t>
            </a:fld>
            <a:endParaRPr lang="en-US" dirty="0"/>
          </a:p>
        </p:txBody>
      </p:sp>
    </p:spTree>
    <p:extLst>
      <p:ext uri="{BB962C8B-B14F-4D97-AF65-F5344CB8AC3E}">
        <p14:creationId xmlns:p14="http://schemas.microsoft.com/office/powerpoint/2010/main" val="3983444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di kiri </a:t>
            </a:r>
            <a:r>
              <a:rPr lang="en-US" dirty="0" err="1"/>
              <a:t>atas</a:t>
            </a:r>
            <a:r>
              <a:rPr lang="en-US" dirty="0"/>
              <a:t> </a:t>
            </a:r>
            <a:r>
              <a:rPr lang="en-US" dirty="0" err="1"/>
              <a:t>menampilkan</a:t>
            </a:r>
            <a:r>
              <a:rPr lang="en-US" dirty="0"/>
              <a:t> </a:t>
            </a:r>
            <a:r>
              <a:rPr lang="en-US" dirty="0" err="1"/>
              <a:t>enam</a:t>
            </a:r>
            <a:r>
              <a:rPr lang="en-US" dirty="0"/>
              <a:t> </a:t>
            </a:r>
            <a:r>
              <a:rPr lang="en-US" dirty="0" err="1"/>
              <a:t>kota</a:t>
            </a:r>
            <a:r>
              <a:rPr lang="en-US" dirty="0"/>
              <a:t> yang kami </a:t>
            </a:r>
            <a:r>
              <a:rPr lang="en-US" dirty="0" err="1"/>
              <a:t>evaluasi</a:t>
            </a:r>
            <a:r>
              <a:rPr lang="en-US" dirty="0"/>
              <a:t> </a:t>
            </a:r>
            <a:r>
              <a:rPr lang="en-US" dirty="0" err="1"/>
              <a:t>sebagai</a:t>
            </a:r>
            <a:r>
              <a:rPr lang="en-US" dirty="0"/>
              <a:t> </a:t>
            </a:r>
            <a:r>
              <a:rPr lang="en-US" dirty="0" err="1"/>
              <a:t>kandidat</a:t>
            </a:r>
            <a:r>
              <a:rPr lang="en-US" dirty="0"/>
              <a:t> hotspot, </a:t>
            </a:r>
            <a:r>
              <a:rPr lang="en-US" dirty="0" err="1"/>
              <a:t>dengan</a:t>
            </a:r>
            <a:r>
              <a:rPr lang="en-US" dirty="0"/>
              <a:t> dua </a:t>
            </a:r>
            <a:r>
              <a:rPr lang="en-US" dirty="0" err="1"/>
              <a:t>dimensi</a:t>
            </a:r>
            <a:r>
              <a:rPr lang="en-US" dirty="0"/>
              <a:t> </a:t>
            </a:r>
            <a:r>
              <a:rPr lang="en-US" dirty="0" err="1"/>
              <a:t>sekaligus</a:t>
            </a:r>
            <a:r>
              <a:rPr lang="en-US" dirty="0"/>
              <a:t>: </a:t>
            </a:r>
            <a:r>
              <a:rPr lang="en-US" b="1" dirty="0" err="1"/>
              <a:t>batang</a:t>
            </a:r>
            <a:r>
              <a:rPr lang="en-US" b="1" dirty="0"/>
              <a:t> navy</a:t>
            </a:r>
            <a:r>
              <a:rPr lang="en-US" dirty="0"/>
              <a:t> adalah </a:t>
            </a:r>
            <a:r>
              <a:rPr lang="en-US" dirty="0" err="1"/>
              <a:t>kepadatan</a:t>
            </a:r>
            <a:r>
              <a:rPr lang="en-US" dirty="0"/>
              <a:t> </a:t>
            </a:r>
            <a:r>
              <a:rPr lang="en-US" dirty="0" err="1"/>
              <a:t>perusahaan</a:t>
            </a:r>
            <a:r>
              <a:rPr lang="en-US" dirty="0"/>
              <a:t>, </a:t>
            </a:r>
            <a:r>
              <a:rPr lang="en-US" b="1" dirty="0" err="1"/>
              <a:t>batang</a:t>
            </a:r>
            <a:r>
              <a:rPr lang="en-US" b="1" dirty="0"/>
              <a:t> </a:t>
            </a:r>
            <a:r>
              <a:rPr lang="en-US" b="1" dirty="0" err="1"/>
              <a:t>merah</a:t>
            </a:r>
            <a:r>
              <a:rPr lang="en-US" dirty="0"/>
              <a:t> adalah risk score — </a:t>
            </a:r>
            <a:r>
              <a:rPr lang="en-US" dirty="0" err="1"/>
              <a:t>atau</a:t>
            </a:r>
            <a:r>
              <a:rPr lang="en-US" dirty="0"/>
              <a:t> risk density yang </a:t>
            </a:r>
            <a:r>
              <a:rPr lang="en-US" dirty="0" err="1"/>
              <a:t>sudah</a:t>
            </a:r>
            <a:r>
              <a:rPr lang="en-US" dirty="0"/>
              <a:t> kami </a:t>
            </a:r>
            <a:r>
              <a:rPr lang="en-US" dirty="0" err="1"/>
              <a:t>normalisasi</a:t>
            </a:r>
            <a:r>
              <a:rPr lang="en-US" dirty="0"/>
              <a:t>. Dan yang di </a:t>
            </a:r>
            <a:r>
              <a:rPr lang="en-US" dirty="0" err="1"/>
              <a:t>bawah</a:t>
            </a:r>
            <a:r>
              <a:rPr lang="en-US" dirty="0"/>
              <a:t> adalah </a:t>
            </a:r>
            <a:r>
              <a:rPr lang="en-US" dirty="0" err="1"/>
              <a:t>bentuk</a:t>
            </a:r>
            <a:r>
              <a:rPr lang="en-US" dirty="0"/>
              <a:t> </a:t>
            </a:r>
            <a:r>
              <a:rPr lang="en-US" dirty="0" err="1"/>
              <a:t>scater</a:t>
            </a:r>
            <a:r>
              <a:rPr lang="en-US" dirty="0"/>
              <a:t> </a:t>
            </a:r>
            <a:r>
              <a:rPr lang="en-US" dirty="0" err="1"/>
              <a:t>plotnya</a:t>
            </a:r>
            <a:endParaRPr lang="en-US" dirty="0"/>
          </a:p>
          <a:p>
            <a:r>
              <a:rPr lang="en-US" dirty="0" err="1"/>
              <a:t>Perhatikan</a:t>
            </a:r>
            <a:r>
              <a:rPr lang="en-US" dirty="0"/>
              <a:t> </a:t>
            </a:r>
            <a:r>
              <a:rPr lang="en-US" dirty="0" err="1"/>
              <a:t>pola</a:t>
            </a:r>
            <a:r>
              <a:rPr lang="en-US" dirty="0"/>
              <a:t> yang </a:t>
            </a:r>
            <a:r>
              <a:rPr lang="en-US" dirty="0" err="1"/>
              <a:t>muncul</a:t>
            </a:r>
            <a:r>
              <a:rPr lang="en-US" dirty="0"/>
              <a:t>.</a:t>
            </a:r>
          </a:p>
          <a:p>
            <a:r>
              <a:rPr lang="en-US" b="1" dirty="0"/>
              <a:t>Surabaya</a:t>
            </a:r>
            <a:r>
              <a:rPr lang="en-US" dirty="0"/>
              <a:t> punya </a:t>
            </a:r>
            <a:r>
              <a:rPr lang="en-US" dirty="0" err="1"/>
              <a:t>batang</a:t>
            </a:r>
            <a:r>
              <a:rPr lang="en-US" dirty="0"/>
              <a:t> navy </a:t>
            </a:r>
            <a:r>
              <a:rPr lang="en-US" dirty="0" err="1"/>
              <a:t>tertinggi</a:t>
            </a:r>
            <a:r>
              <a:rPr lang="en-US" dirty="0"/>
              <a:t> — </a:t>
            </a:r>
            <a:r>
              <a:rPr lang="en-US" dirty="0" err="1"/>
              <a:t>kepadatan</a:t>
            </a:r>
            <a:r>
              <a:rPr lang="en-US" dirty="0"/>
              <a:t> </a:t>
            </a:r>
            <a:r>
              <a:rPr lang="en-US" dirty="0" err="1"/>
              <a:t>perusahaannya</a:t>
            </a:r>
            <a:r>
              <a:rPr lang="en-US" dirty="0"/>
              <a:t> </a:t>
            </a:r>
            <a:r>
              <a:rPr lang="en-US" dirty="0" err="1"/>
              <a:t>tidak</a:t>
            </a:r>
            <a:r>
              <a:rPr lang="en-US" dirty="0"/>
              <a:t> </a:t>
            </a:r>
            <a:r>
              <a:rPr lang="en-US" dirty="0" err="1"/>
              <a:t>tertandingi</a:t>
            </a:r>
            <a:r>
              <a:rPr lang="en-US" dirty="0"/>
              <a:t>. Tapi </a:t>
            </a:r>
            <a:r>
              <a:rPr lang="en-US" dirty="0" err="1"/>
              <a:t>batang</a:t>
            </a:r>
            <a:r>
              <a:rPr lang="en-US" dirty="0"/>
              <a:t> </a:t>
            </a:r>
            <a:r>
              <a:rPr lang="en-US" dirty="0" err="1"/>
              <a:t>merahnya</a:t>
            </a:r>
            <a:r>
              <a:rPr lang="en-US" dirty="0"/>
              <a:t> </a:t>
            </a:r>
            <a:r>
              <a:rPr lang="en-US" dirty="0" err="1"/>
              <a:t>relatif</a:t>
            </a:r>
            <a:r>
              <a:rPr lang="en-US" dirty="0"/>
              <a:t> </a:t>
            </a:r>
            <a:r>
              <a:rPr lang="en-US" dirty="0" err="1"/>
              <a:t>moderat</a:t>
            </a:r>
            <a:r>
              <a:rPr lang="en-US" dirty="0"/>
              <a:t>. </a:t>
            </a:r>
            <a:r>
              <a:rPr lang="en-US" dirty="0" err="1"/>
              <a:t>Artinya</a:t>
            </a:r>
            <a:r>
              <a:rPr lang="en-US" dirty="0"/>
              <a:t> Surabaya adalah </a:t>
            </a:r>
            <a:r>
              <a:rPr lang="en-US" dirty="0" err="1"/>
              <a:t>kota</a:t>
            </a:r>
            <a:r>
              <a:rPr lang="en-US" dirty="0"/>
              <a:t> </a:t>
            </a:r>
            <a:r>
              <a:rPr lang="en-US" dirty="0" err="1"/>
              <a:t>dengan</a:t>
            </a:r>
            <a:r>
              <a:rPr lang="en-US" dirty="0"/>
              <a:t> </a:t>
            </a:r>
            <a:r>
              <a:rPr lang="en-US" i="1" dirty="0"/>
              <a:t>volume </a:t>
            </a:r>
            <a:r>
              <a:rPr lang="en-US" i="1" dirty="0" err="1"/>
              <a:t>terbesar</a:t>
            </a:r>
            <a:r>
              <a:rPr lang="en-US" dirty="0"/>
              <a:t>, </a:t>
            </a:r>
            <a:r>
              <a:rPr lang="en-US" dirty="0" err="1"/>
              <a:t>tapi</a:t>
            </a:r>
            <a:r>
              <a:rPr lang="en-US" dirty="0"/>
              <a:t> </a:t>
            </a:r>
            <a:r>
              <a:rPr lang="en-US" dirty="0" err="1"/>
              <a:t>bukan</a:t>
            </a:r>
            <a:r>
              <a:rPr lang="en-US" dirty="0"/>
              <a:t> yang paling </a:t>
            </a:r>
            <a:r>
              <a:rPr lang="en-US" dirty="0" err="1"/>
              <a:t>mendesak</a:t>
            </a:r>
            <a:r>
              <a:rPr lang="en-US" dirty="0"/>
              <a:t> </a:t>
            </a:r>
            <a:r>
              <a:rPr lang="en-US" dirty="0" err="1"/>
              <a:t>dari</a:t>
            </a:r>
            <a:r>
              <a:rPr lang="en-US" dirty="0"/>
              <a:t> </a:t>
            </a:r>
            <a:r>
              <a:rPr lang="en-US" dirty="0" err="1"/>
              <a:t>sisi</a:t>
            </a:r>
            <a:r>
              <a:rPr lang="en-US" dirty="0"/>
              <a:t> </a:t>
            </a:r>
            <a:r>
              <a:rPr lang="en-US" dirty="0" err="1"/>
              <a:t>keselamatan</a:t>
            </a:r>
            <a:r>
              <a:rPr lang="en-US" dirty="0"/>
              <a:t>.</a:t>
            </a:r>
          </a:p>
          <a:p>
            <a:r>
              <a:rPr lang="en-US" dirty="0" err="1"/>
              <a:t>Sekarang</a:t>
            </a:r>
            <a:r>
              <a:rPr lang="en-US" dirty="0"/>
              <a:t> </a:t>
            </a:r>
            <a:r>
              <a:rPr lang="en-US" dirty="0" err="1"/>
              <a:t>lihat</a:t>
            </a:r>
            <a:r>
              <a:rPr lang="en-US" dirty="0"/>
              <a:t> </a:t>
            </a:r>
            <a:r>
              <a:rPr lang="en-US" b="1" dirty="0"/>
              <a:t>Tangerang dan Tangerang Selatan</a:t>
            </a:r>
            <a:r>
              <a:rPr lang="en-US" dirty="0"/>
              <a:t> — </a:t>
            </a:r>
            <a:r>
              <a:rPr lang="en-US" dirty="0" err="1"/>
              <a:t>batang</a:t>
            </a:r>
            <a:r>
              <a:rPr lang="en-US" dirty="0"/>
              <a:t> </a:t>
            </a:r>
            <a:r>
              <a:rPr lang="en-US" dirty="0" err="1"/>
              <a:t>merahnya</a:t>
            </a:r>
            <a:r>
              <a:rPr lang="en-US" dirty="0"/>
              <a:t> </a:t>
            </a:r>
            <a:r>
              <a:rPr lang="en-US" dirty="0" err="1"/>
              <a:t>justru</a:t>
            </a:r>
            <a:r>
              <a:rPr lang="en-US" dirty="0"/>
              <a:t> </a:t>
            </a:r>
            <a:r>
              <a:rPr lang="en-US" dirty="0" err="1"/>
              <a:t>lebih</a:t>
            </a:r>
            <a:r>
              <a:rPr lang="en-US" dirty="0"/>
              <a:t> </a:t>
            </a:r>
            <a:r>
              <a:rPr lang="en-US" dirty="0" err="1"/>
              <a:t>tinggi</a:t>
            </a:r>
            <a:r>
              <a:rPr lang="en-US" dirty="0"/>
              <a:t> </a:t>
            </a:r>
            <a:r>
              <a:rPr lang="en-US" dirty="0" err="1"/>
              <a:t>dari</a:t>
            </a:r>
            <a:r>
              <a:rPr lang="en-US" dirty="0"/>
              <a:t> </a:t>
            </a:r>
            <a:r>
              <a:rPr lang="en-US" dirty="0" err="1"/>
              <a:t>batang</a:t>
            </a:r>
            <a:r>
              <a:rPr lang="en-US" dirty="0"/>
              <a:t> navy. Ini </a:t>
            </a:r>
            <a:r>
              <a:rPr lang="en-US" dirty="0" err="1"/>
              <a:t>berarti</a:t>
            </a:r>
            <a:r>
              <a:rPr lang="en-US" dirty="0"/>
              <a:t> </a:t>
            </a:r>
            <a:r>
              <a:rPr lang="en-US" b="1" dirty="0"/>
              <a:t>risk density-</a:t>
            </a:r>
            <a:r>
              <a:rPr lang="en-US" b="1" dirty="0" err="1"/>
              <a:t>nya</a:t>
            </a:r>
            <a:r>
              <a:rPr lang="en-US" b="1" dirty="0"/>
              <a:t> </a:t>
            </a:r>
            <a:r>
              <a:rPr lang="en-US" b="1" dirty="0" err="1"/>
              <a:t>tidak</a:t>
            </a:r>
            <a:r>
              <a:rPr lang="en-US" b="1" dirty="0"/>
              <a:t> </a:t>
            </a:r>
            <a:r>
              <a:rPr lang="en-US" b="1" dirty="0" err="1"/>
              <a:t>sebanding</a:t>
            </a:r>
            <a:r>
              <a:rPr lang="en-US" b="1" dirty="0"/>
              <a:t> </a:t>
            </a:r>
            <a:r>
              <a:rPr lang="en-US" b="1" dirty="0" err="1"/>
              <a:t>dengan</a:t>
            </a:r>
            <a:r>
              <a:rPr lang="en-US" b="1" dirty="0"/>
              <a:t> </a:t>
            </a:r>
            <a:r>
              <a:rPr lang="en-US" b="1" dirty="0" err="1"/>
              <a:t>jumlah</a:t>
            </a:r>
            <a:r>
              <a:rPr lang="en-US" b="1" dirty="0"/>
              <a:t> </a:t>
            </a:r>
            <a:r>
              <a:rPr lang="en-US" b="1" dirty="0" err="1"/>
              <a:t>perusahaannya</a:t>
            </a:r>
            <a:r>
              <a:rPr lang="en-US" dirty="0"/>
              <a:t> — </a:t>
            </a:r>
            <a:r>
              <a:rPr lang="en-US" dirty="0" err="1"/>
              <a:t>tingkat</a:t>
            </a:r>
            <a:r>
              <a:rPr lang="en-US" dirty="0"/>
              <a:t> </a:t>
            </a:r>
            <a:r>
              <a:rPr lang="en-US" dirty="0" err="1"/>
              <a:t>bahaya</a:t>
            </a:r>
            <a:r>
              <a:rPr lang="en-US" dirty="0"/>
              <a:t> per </a:t>
            </a:r>
            <a:r>
              <a:rPr lang="en-US" dirty="0" err="1"/>
              <a:t>perusahaan</a:t>
            </a:r>
            <a:r>
              <a:rPr lang="en-US" dirty="0"/>
              <a:t> di sana sangat </a:t>
            </a:r>
            <a:r>
              <a:rPr lang="en-US" dirty="0" err="1"/>
              <a:t>tinggi</a:t>
            </a:r>
            <a:r>
              <a:rPr lang="en-US" dirty="0"/>
              <a:t>.</a:t>
            </a:r>
          </a:p>
          <a:p>
            <a:r>
              <a:rPr lang="en-US" dirty="0" err="1"/>
              <a:t>Kombinasi</a:t>
            </a:r>
            <a:r>
              <a:rPr lang="en-US" dirty="0"/>
              <a:t> dua </a:t>
            </a:r>
            <a:r>
              <a:rPr lang="en-US" dirty="0" err="1"/>
              <a:t>dimensi</a:t>
            </a:r>
            <a:r>
              <a:rPr lang="en-US" dirty="0"/>
              <a:t> ini yang kami </a:t>
            </a:r>
            <a:r>
              <a:rPr lang="en-US" dirty="0" err="1"/>
              <a:t>pakai</a:t>
            </a:r>
            <a:r>
              <a:rPr lang="en-US" dirty="0"/>
              <a:t> untuk </a:t>
            </a:r>
            <a:r>
              <a:rPr lang="en-US" dirty="0" err="1"/>
              <a:t>menyusun</a:t>
            </a:r>
            <a:r>
              <a:rPr lang="en-US" dirty="0"/>
              <a:t> daftar </a:t>
            </a:r>
            <a:r>
              <a:rPr lang="en-US" dirty="0" err="1"/>
              <a:t>prioritas</a:t>
            </a:r>
            <a:r>
              <a:rPr lang="en-US" dirty="0"/>
              <a:t> di </a:t>
            </a:r>
            <a:r>
              <a:rPr lang="en-US" dirty="0" err="1"/>
              <a:t>sebelah</a:t>
            </a:r>
            <a:r>
              <a:rPr lang="en-US" dirty="0"/>
              <a:t> </a:t>
            </a:r>
            <a:r>
              <a:rPr lang="en-US" dirty="0" err="1"/>
              <a:t>kanan</a:t>
            </a:r>
            <a:r>
              <a:rPr lang="en-US" dirty="0"/>
              <a:t>.</a:t>
            </a:r>
          </a:p>
          <a:p>
            <a:r>
              <a:rPr lang="en-US" i="1" dirty="0"/>
              <a:t>(</a:t>
            </a:r>
            <a:r>
              <a:rPr lang="en-US" i="1" dirty="0" err="1"/>
              <a:t>tunjuk</a:t>
            </a:r>
            <a:r>
              <a:rPr lang="en-US" i="1" dirty="0"/>
              <a:t> daftar </a:t>
            </a:r>
            <a:r>
              <a:rPr lang="en-US" i="1" dirty="0" err="1"/>
              <a:t>kota</a:t>
            </a:r>
            <a:r>
              <a:rPr lang="en-US" i="1" dirty="0"/>
              <a:t>)</a:t>
            </a:r>
            <a:endParaRPr lang="en-US" dirty="0"/>
          </a:p>
          <a:p>
            <a:r>
              <a:rPr lang="en-US" b="1" dirty="0"/>
              <a:t>Tangerang Selatan di </a:t>
            </a:r>
            <a:r>
              <a:rPr lang="en-US" b="1" dirty="0" err="1"/>
              <a:t>posisi</a:t>
            </a:r>
            <a:r>
              <a:rPr lang="en-US" b="1" dirty="0"/>
              <a:t> </a:t>
            </a:r>
            <a:r>
              <a:rPr lang="en-US" b="1" dirty="0" err="1"/>
              <a:t>teratas</a:t>
            </a:r>
            <a:r>
              <a:rPr lang="en-US" b="1" dirty="0"/>
              <a:t>, </a:t>
            </a:r>
            <a:r>
              <a:rPr lang="en-US" b="1" dirty="0" err="1"/>
              <a:t>bintang</a:t>
            </a:r>
            <a:r>
              <a:rPr lang="en-US" b="1" dirty="0"/>
              <a:t> lima, </a:t>
            </a:r>
            <a:r>
              <a:rPr lang="en-US" b="1" dirty="0" err="1"/>
              <a:t>sebagai</a:t>
            </a:r>
            <a:r>
              <a:rPr lang="en-US" b="1" dirty="0"/>
              <a:t> </a:t>
            </a:r>
            <a:r>
              <a:rPr lang="en-US" b="1" dirty="0" err="1"/>
              <a:t>kandidat</a:t>
            </a:r>
            <a:r>
              <a:rPr lang="en-US" b="1" dirty="0"/>
              <a:t> Pilot AI Safety </a:t>
            </a:r>
            <a:r>
              <a:rPr lang="en-US" b="1" dirty="0" err="1"/>
              <a:t>pertama</a:t>
            </a:r>
            <a:r>
              <a:rPr lang="en-US" b="1" dirty="0"/>
              <a:t>.</a:t>
            </a:r>
            <a:r>
              <a:rPr lang="en-US" dirty="0"/>
              <a:t> Risk density </a:t>
            </a:r>
            <a:r>
              <a:rPr lang="en-US" dirty="0" err="1"/>
              <a:t>tinggi</a:t>
            </a:r>
            <a:r>
              <a:rPr lang="en-US" dirty="0"/>
              <a:t> plus </a:t>
            </a:r>
            <a:r>
              <a:rPr lang="en-US" dirty="0" err="1"/>
              <a:t>kedekatan</a:t>
            </a:r>
            <a:r>
              <a:rPr lang="en-US" dirty="0"/>
              <a:t> </a:t>
            </a:r>
            <a:r>
              <a:rPr lang="en-US" dirty="0" err="1"/>
              <a:t>dengan</a:t>
            </a:r>
            <a:r>
              <a:rPr lang="en-US" dirty="0"/>
              <a:t> Jakarta. Surabaya </a:t>
            </a:r>
            <a:r>
              <a:rPr lang="en-US" dirty="0" err="1"/>
              <a:t>tepat</a:t>
            </a:r>
            <a:r>
              <a:rPr lang="en-US" dirty="0"/>
              <a:t> di </a:t>
            </a:r>
            <a:r>
              <a:rPr lang="en-US" dirty="0" err="1"/>
              <a:t>bawahnya</a:t>
            </a:r>
            <a:r>
              <a:rPr lang="en-US" dirty="0"/>
              <a:t> — </a:t>
            </a:r>
            <a:r>
              <a:rPr lang="en-US" dirty="0" err="1"/>
              <a:t>bintang</a:t>
            </a:r>
            <a:r>
              <a:rPr lang="en-US" dirty="0"/>
              <a:t> lima juga, </a:t>
            </a:r>
            <a:r>
              <a:rPr lang="en-US" dirty="0" err="1"/>
              <a:t>tapi</a:t>
            </a:r>
            <a:r>
              <a:rPr lang="en-US" dirty="0"/>
              <a:t> untuk </a:t>
            </a:r>
            <a:r>
              <a:rPr lang="en-US" dirty="0" err="1"/>
              <a:t>prioritas</a:t>
            </a:r>
            <a:r>
              <a:rPr lang="en-US" dirty="0"/>
              <a:t> sales, </a:t>
            </a:r>
            <a:r>
              <a:rPr lang="en-US" dirty="0" err="1"/>
              <a:t>bukan</a:t>
            </a:r>
            <a:r>
              <a:rPr lang="en-US" dirty="0"/>
              <a:t> pilot. Bandung dan Bekasi di </a:t>
            </a:r>
            <a:r>
              <a:rPr lang="en-US" dirty="0" err="1"/>
              <a:t>posisi</a:t>
            </a:r>
            <a:r>
              <a:rPr lang="en-US" dirty="0"/>
              <a:t> </a:t>
            </a:r>
            <a:r>
              <a:rPr lang="en-US" dirty="0" err="1"/>
              <a:t>ketiga</a:t>
            </a:r>
            <a:r>
              <a:rPr lang="en-US" dirty="0"/>
              <a:t> </a:t>
            </a:r>
            <a:r>
              <a:rPr lang="en-US" dirty="0" err="1"/>
              <a:t>dengan</a:t>
            </a:r>
            <a:r>
              <a:rPr lang="en-US" dirty="0"/>
              <a:t> </a:t>
            </a:r>
            <a:r>
              <a:rPr lang="en-US" dirty="0" err="1"/>
              <a:t>empat</a:t>
            </a:r>
            <a:r>
              <a:rPr lang="en-US" dirty="0"/>
              <a:t> </a:t>
            </a:r>
            <a:r>
              <a:rPr lang="en-US" dirty="0" err="1"/>
              <a:t>bintang</a:t>
            </a:r>
            <a:r>
              <a:rPr lang="en-US" dirty="0"/>
              <a:t> — </a:t>
            </a:r>
            <a:r>
              <a:rPr lang="en-US" dirty="0" err="1"/>
              <a:t>kombinasi</a:t>
            </a:r>
            <a:r>
              <a:rPr lang="en-US" dirty="0"/>
              <a:t> risk dan density yang </a:t>
            </a:r>
            <a:r>
              <a:rPr lang="en-US" dirty="0" err="1"/>
              <a:t>seimbang</a:t>
            </a:r>
            <a:r>
              <a:rPr lang="en-US" dirty="0"/>
              <a:t>, </a:t>
            </a:r>
            <a:r>
              <a:rPr lang="en-US" dirty="0" err="1"/>
              <a:t>cocok</a:t>
            </a:r>
            <a:r>
              <a:rPr lang="en-US" dirty="0"/>
              <a:t> untuk pilot </a:t>
            </a:r>
            <a:r>
              <a:rPr lang="en-US" dirty="0" err="1"/>
              <a:t>kedua</a:t>
            </a:r>
            <a:r>
              <a:rPr lang="en-US" dirty="0"/>
              <a:t>.</a:t>
            </a:r>
          </a:p>
          <a:p>
            <a:r>
              <a:rPr lang="en-US" dirty="0" err="1"/>
              <a:t>Kenapa</a:t>
            </a:r>
            <a:r>
              <a:rPr lang="en-US" dirty="0"/>
              <a:t> </a:t>
            </a:r>
            <a:r>
              <a:rPr lang="en-US" dirty="0" err="1"/>
              <a:t>penting</a:t>
            </a:r>
            <a:r>
              <a:rPr lang="en-US" dirty="0"/>
              <a:t> </a:t>
            </a:r>
            <a:r>
              <a:rPr lang="en-US" dirty="0" err="1"/>
              <a:t>membedakan</a:t>
            </a:r>
            <a:r>
              <a:rPr lang="en-US" dirty="0"/>
              <a:t> '</a:t>
            </a:r>
            <a:r>
              <a:rPr lang="en-US" dirty="0" err="1"/>
              <a:t>prioritas</a:t>
            </a:r>
            <a:r>
              <a:rPr lang="en-US" dirty="0"/>
              <a:t> sales' dan '</a:t>
            </a:r>
            <a:r>
              <a:rPr lang="en-US" dirty="0" err="1"/>
              <a:t>prioritas</a:t>
            </a:r>
            <a:r>
              <a:rPr lang="en-US" dirty="0"/>
              <a:t> pilot'? Karena dua </a:t>
            </a:r>
            <a:r>
              <a:rPr lang="en-US" dirty="0" err="1"/>
              <a:t>aktivitas</a:t>
            </a:r>
            <a:r>
              <a:rPr lang="en-US" dirty="0"/>
              <a:t> ini punya </a:t>
            </a:r>
            <a:r>
              <a:rPr lang="en-US" dirty="0" err="1"/>
              <a:t>kriteria</a:t>
            </a:r>
            <a:r>
              <a:rPr lang="en-US" dirty="0"/>
              <a:t> </a:t>
            </a:r>
            <a:r>
              <a:rPr lang="en-US" dirty="0" err="1"/>
              <a:t>sukses</a:t>
            </a:r>
            <a:r>
              <a:rPr lang="en-US" dirty="0"/>
              <a:t> yang </a:t>
            </a:r>
            <a:r>
              <a:rPr lang="en-US" dirty="0" err="1"/>
              <a:t>berbeda</a:t>
            </a:r>
            <a:r>
              <a:rPr lang="en-US" dirty="0"/>
              <a:t>. Sales </a:t>
            </a:r>
            <a:r>
              <a:rPr lang="en-US" dirty="0" err="1"/>
              <a:t>butuh</a:t>
            </a:r>
            <a:r>
              <a:rPr lang="en-US" dirty="0"/>
              <a:t> volume — </a:t>
            </a:r>
            <a:r>
              <a:rPr lang="en-US" dirty="0" err="1"/>
              <a:t>makanya</a:t>
            </a:r>
            <a:r>
              <a:rPr lang="en-US" dirty="0"/>
              <a:t> Surabaya </a:t>
            </a:r>
            <a:r>
              <a:rPr lang="en-US" dirty="0" err="1"/>
              <a:t>unggul</a:t>
            </a:r>
            <a:r>
              <a:rPr lang="en-US" dirty="0"/>
              <a:t>. Pilot </a:t>
            </a:r>
            <a:r>
              <a:rPr lang="en-US" dirty="0" err="1"/>
              <a:t>butuh</a:t>
            </a:r>
            <a:r>
              <a:rPr lang="en-US" dirty="0"/>
              <a:t> </a:t>
            </a:r>
            <a:r>
              <a:rPr lang="en-US" dirty="0" err="1"/>
              <a:t>kondisi</a:t>
            </a:r>
            <a:r>
              <a:rPr lang="en-US" dirty="0"/>
              <a:t> yang </a:t>
            </a:r>
            <a:r>
              <a:rPr lang="en-US" dirty="0" err="1"/>
              <a:t>memudahkan</a:t>
            </a:r>
            <a:r>
              <a:rPr lang="en-US" dirty="0"/>
              <a:t> </a:t>
            </a:r>
            <a:r>
              <a:rPr lang="en-US" i="1" dirty="0"/>
              <a:t>proof of concept</a:t>
            </a:r>
            <a:r>
              <a:rPr lang="en-US" dirty="0"/>
              <a:t> — risk density </a:t>
            </a:r>
            <a:r>
              <a:rPr lang="en-US" dirty="0" err="1"/>
              <a:t>tinggi</a:t>
            </a:r>
            <a:r>
              <a:rPr lang="en-US" dirty="0"/>
              <a:t>, </a:t>
            </a:r>
            <a:r>
              <a:rPr lang="en-US" dirty="0" err="1"/>
              <a:t>akses</a:t>
            </a:r>
            <a:r>
              <a:rPr lang="en-US" dirty="0"/>
              <a:t> </a:t>
            </a:r>
            <a:r>
              <a:rPr lang="en-US" dirty="0" err="1"/>
              <a:t>tim</a:t>
            </a:r>
            <a:r>
              <a:rPr lang="en-US" dirty="0"/>
              <a:t> </a:t>
            </a:r>
            <a:r>
              <a:rPr lang="en-US" dirty="0" err="1"/>
              <a:t>mudah</a:t>
            </a:r>
            <a:r>
              <a:rPr lang="en-US" dirty="0"/>
              <a:t>, </a:t>
            </a:r>
            <a:r>
              <a:rPr lang="en-US" dirty="0" err="1"/>
              <a:t>lingkungan</a:t>
            </a:r>
            <a:r>
              <a:rPr lang="en-US" dirty="0"/>
              <a:t> yang </a:t>
            </a:r>
            <a:r>
              <a:rPr lang="en-US" dirty="0" err="1"/>
              <a:t>terkontrol</a:t>
            </a:r>
            <a:r>
              <a:rPr lang="en-US" dirty="0"/>
              <a:t>. </a:t>
            </a:r>
            <a:r>
              <a:rPr lang="en-US" dirty="0" err="1"/>
              <a:t>Makanya</a:t>
            </a:r>
            <a:r>
              <a:rPr lang="en-US" dirty="0"/>
              <a:t> </a:t>
            </a:r>
            <a:r>
              <a:rPr lang="en-US" dirty="0" err="1"/>
              <a:t>Tangsel</a:t>
            </a:r>
            <a:r>
              <a:rPr lang="en-US" dirty="0"/>
              <a:t> </a:t>
            </a:r>
            <a:r>
              <a:rPr lang="en-US" dirty="0" err="1"/>
              <a:t>lebih</a:t>
            </a:r>
            <a:r>
              <a:rPr lang="en-US" dirty="0"/>
              <a:t> </a:t>
            </a:r>
            <a:r>
              <a:rPr lang="en-US" dirty="0" err="1"/>
              <a:t>cocok</a:t>
            </a:r>
            <a:r>
              <a:rPr lang="en-US" dirty="0"/>
              <a:t> untuk </a:t>
            </a:r>
            <a:r>
              <a:rPr lang="en-US" dirty="0" err="1"/>
              <a:t>memulai</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Pertanyaan</a:t>
            </a:r>
            <a:r>
              <a:rPr lang="en-US" dirty="0"/>
              <a:t> yang </a:t>
            </a:r>
            <a:r>
              <a:rPr lang="en-US" dirty="0" err="1"/>
              <a:t>wajar</a:t>
            </a:r>
            <a:r>
              <a:rPr lang="en-US" dirty="0"/>
              <a:t> </a:t>
            </a:r>
            <a:r>
              <a:rPr lang="en-US" dirty="0" err="1"/>
              <a:t>dari</a:t>
            </a:r>
            <a:r>
              <a:rPr lang="en-US" dirty="0"/>
              <a:t> Bapak/Ibu </a:t>
            </a:r>
            <a:r>
              <a:rPr lang="en-US" dirty="0" err="1"/>
              <a:t>setelah</a:t>
            </a:r>
            <a:r>
              <a:rPr lang="en-US" dirty="0"/>
              <a:t> </a:t>
            </a:r>
            <a:r>
              <a:rPr lang="en-US" dirty="0" err="1"/>
              <a:t>melihat</a:t>
            </a:r>
            <a:r>
              <a:rPr lang="en-US" dirty="0"/>
              <a:t> slide </a:t>
            </a:r>
            <a:r>
              <a:rPr lang="en-US" dirty="0" err="1"/>
              <a:t>tadi</a:t>
            </a:r>
            <a:r>
              <a:rPr lang="en-US" dirty="0"/>
              <a:t> </a:t>
            </a:r>
            <a:r>
              <a:rPr lang="en-US" dirty="0" err="1"/>
              <a:t>mungkin</a:t>
            </a:r>
            <a:r>
              <a:rPr lang="en-US" dirty="0"/>
              <a:t> adalah: </a:t>
            </a:r>
            <a:r>
              <a:rPr lang="en-US" i="1" dirty="0"/>
              <a:t>'</a:t>
            </a:r>
            <a:r>
              <a:rPr lang="en-US" i="1" dirty="0" err="1"/>
              <a:t>Kenapa</a:t>
            </a:r>
            <a:r>
              <a:rPr lang="en-US" i="1" dirty="0"/>
              <a:t> </a:t>
            </a:r>
            <a:r>
              <a:rPr lang="en-US" i="1" dirty="0" err="1"/>
              <a:t>bukan</a:t>
            </a:r>
            <a:r>
              <a:rPr lang="en-US" i="1" dirty="0"/>
              <a:t> Surabaya </a:t>
            </a:r>
            <a:r>
              <a:rPr lang="en-US" i="1" dirty="0" err="1"/>
              <a:t>saja</a:t>
            </a:r>
            <a:r>
              <a:rPr lang="en-US" i="1" dirty="0"/>
              <a:t> </a:t>
            </a:r>
            <a:r>
              <a:rPr lang="en-US" i="1" dirty="0" err="1"/>
              <a:t>sekalian</a:t>
            </a:r>
            <a:r>
              <a:rPr lang="en-US" i="1" dirty="0"/>
              <a:t>? Kan </a:t>
            </a:r>
            <a:r>
              <a:rPr lang="en-US" i="1" dirty="0" err="1"/>
              <a:t>pasarnya</a:t>
            </a:r>
            <a:r>
              <a:rPr lang="en-US" i="1" dirty="0"/>
              <a:t> </a:t>
            </a:r>
            <a:r>
              <a:rPr lang="en-US" i="1" dirty="0" err="1"/>
              <a:t>lebih</a:t>
            </a:r>
            <a:r>
              <a:rPr lang="en-US" i="1" dirty="0"/>
              <a:t> </a:t>
            </a:r>
            <a:r>
              <a:rPr lang="en-US" i="1" dirty="0" err="1"/>
              <a:t>besar</a:t>
            </a:r>
            <a:r>
              <a:rPr lang="en-US" i="1" dirty="0"/>
              <a:t>?'</a:t>
            </a:r>
            <a:endParaRPr lang="en-US" dirty="0"/>
          </a:p>
          <a:p>
            <a:r>
              <a:rPr lang="en-US" dirty="0" err="1"/>
              <a:t>Jawabannya</a:t>
            </a:r>
            <a:r>
              <a:rPr lang="en-US" dirty="0"/>
              <a:t> </a:t>
            </a:r>
            <a:r>
              <a:rPr lang="en-US" dirty="0" err="1"/>
              <a:t>ada</a:t>
            </a:r>
            <a:r>
              <a:rPr lang="en-US" dirty="0"/>
              <a:t> di </a:t>
            </a:r>
            <a:r>
              <a:rPr lang="en-US" dirty="0" err="1"/>
              <a:t>empat</a:t>
            </a:r>
            <a:r>
              <a:rPr lang="en-US" dirty="0"/>
              <a:t> </a:t>
            </a:r>
            <a:r>
              <a:rPr lang="en-US" dirty="0" err="1"/>
              <a:t>angka</a:t>
            </a:r>
            <a:r>
              <a:rPr lang="en-US" dirty="0"/>
              <a:t> di slide ini.</a:t>
            </a:r>
          </a:p>
          <a:p>
            <a:r>
              <a:rPr lang="en-US" b="1" dirty="0" err="1"/>
              <a:t>Pertama</a:t>
            </a:r>
            <a:r>
              <a:rPr lang="en-US" b="1" dirty="0"/>
              <a:t>, risk density 44,4 per 1.000 </a:t>
            </a:r>
            <a:r>
              <a:rPr lang="en-US" b="1" dirty="0" err="1"/>
              <a:t>perusahaan</a:t>
            </a:r>
            <a:r>
              <a:rPr lang="en-US" b="1" dirty="0"/>
              <a:t>.</a:t>
            </a:r>
            <a:r>
              <a:rPr lang="en-US" dirty="0"/>
              <a:t> Ini </a:t>
            </a:r>
            <a:r>
              <a:rPr lang="en-US" dirty="0" err="1"/>
              <a:t>tertinggi</a:t>
            </a:r>
            <a:r>
              <a:rPr lang="en-US" dirty="0"/>
              <a:t> di </a:t>
            </a:r>
            <a:r>
              <a:rPr lang="en-US" dirty="0" err="1"/>
              <a:t>seluruh</a:t>
            </a:r>
            <a:r>
              <a:rPr lang="en-US" dirty="0"/>
              <a:t> Jawa. </a:t>
            </a:r>
            <a:r>
              <a:rPr lang="en-US" dirty="0" err="1"/>
              <a:t>Artinya</a:t>
            </a:r>
            <a:r>
              <a:rPr lang="en-US" dirty="0"/>
              <a:t> </a:t>
            </a:r>
            <a:r>
              <a:rPr lang="en-US" dirty="0" err="1"/>
              <a:t>klien</a:t>
            </a:r>
            <a:r>
              <a:rPr lang="en-US" dirty="0"/>
              <a:t> di </a:t>
            </a:r>
            <a:r>
              <a:rPr lang="en-US" dirty="0" err="1"/>
              <a:t>Tangsel</a:t>
            </a:r>
            <a:r>
              <a:rPr lang="en-US" dirty="0"/>
              <a:t> punya </a:t>
            </a:r>
            <a:r>
              <a:rPr lang="en-US" dirty="0" err="1"/>
              <a:t>masalah</a:t>
            </a:r>
            <a:r>
              <a:rPr lang="en-US" dirty="0"/>
              <a:t> yang </a:t>
            </a:r>
            <a:r>
              <a:rPr lang="en-US" dirty="0" err="1"/>
              <a:t>nyata</a:t>
            </a:r>
            <a:r>
              <a:rPr lang="en-US" dirty="0"/>
              <a:t> dan </a:t>
            </a:r>
            <a:r>
              <a:rPr lang="en-US" dirty="0" err="1"/>
              <a:t>terukur</a:t>
            </a:r>
            <a:r>
              <a:rPr lang="en-US" dirty="0"/>
              <a:t> — </a:t>
            </a:r>
            <a:r>
              <a:rPr lang="en-US" dirty="0" err="1"/>
              <a:t>mereka</a:t>
            </a:r>
            <a:r>
              <a:rPr lang="en-US" dirty="0"/>
              <a:t> </a:t>
            </a:r>
            <a:r>
              <a:rPr lang="en-US" dirty="0" err="1"/>
              <a:t>butuh</a:t>
            </a:r>
            <a:r>
              <a:rPr lang="en-US" dirty="0"/>
              <a:t> </a:t>
            </a:r>
            <a:r>
              <a:rPr lang="en-US" dirty="0" err="1"/>
              <a:t>solusi</a:t>
            </a:r>
            <a:r>
              <a:rPr lang="en-US" dirty="0"/>
              <a:t> ini, </a:t>
            </a:r>
            <a:r>
              <a:rPr lang="en-US" dirty="0" err="1"/>
              <a:t>bukan</a:t>
            </a:r>
            <a:r>
              <a:rPr lang="en-US" dirty="0"/>
              <a:t> </a:t>
            </a:r>
            <a:r>
              <a:rPr lang="en-US" dirty="0" err="1"/>
              <a:t>sekadar</a:t>
            </a:r>
            <a:r>
              <a:rPr lang="en-US" dirty="0"/>
              <a:t> nice-to-have. Itu adalah </a:t>
            </a:r>
            <a:r>
              <a:rPr lang="en-US" dirty="0" err="1"/>
              <a:t>kondisi</a:t>
            </a:r>
            <a:r>
              <a:rPr lang="en-US" dirty="0"/>
              <a:t> ideal untuk pilot: </a:t>
            </a:r>
            <a:r>
              <a:rPr lang="en-US" b="1" dirty="0" err="1"/>
              <a:t>klien</a:t>
            </a:r>
            <a:r>
              <a:rPr lang="en-US" b="1" dirty="0"/>
              <a:t> yang motivated</a:t>
            </a:r>
            <a:r>
              <a:rPr lang="en-US" dirty="0"/>
              <a:t>, </a:t>
            </a:r>
            <a:r>
              <a:rPr lang="en-US" dirty="0" err="1"/>
              <a:t>bukan</a:t>
            </a:r>
            <a:r>
              <a:rPr lang="en-US" dirty="0"/>
              <a:t> </a:t>
            </a:r>
            <a:r>
              <a:rPr lang="en-US" dirty="0" err="1"/>
              <a:t>klien</a:t>
            </a:r>
            <a:r>
              <a:rPr lang="en-US" dirty="0"/>
              <a:t> yang </a:t>
            </a:r>
            <a:r>
              <a:rPr lang="en-US" dirty="0" err="1"/>
              <a:t>perlu</a:t>
            </a:r>
            <a:r>
              <a:rPr lang="en-US" dirty="0"/>
              <a:t> </a:t>
            </a:r>
            <a:r>
              <a:rPr lang="en-US" dirty="0" err="1"/>
              <a:t>diyakinkan</a:t>
            </a:r>
            <a:r>
              <a:rPr lang="en-US" dirty="0"/>
              <a:t> </a:t>
            </a:r>
            <a:r>
              <a:rPr lang="en-US" dirty="0" err="1"/>
              <a:t>dari</a:t>
            </a:r>
            <a:r>
              <a:rPr lang="en-US" dirty="0"/>
              <a:t> nol.</a:t>
            </a:r>
          </a:p>
          <a:p>
            <a:r>
              <a:rPr lang="en-US" b="1" dirty="0" err="1"/>
              <a:t>Kedua</a:t>
            </a:r>
            <a:r>
              <a:rPr lang="en-US" b="1" dirty="0"/>
              <a:t>, </a:t>
            </a:r>
            <a:r>
              <a:rPr lang="en-US" b="1" dirty="0" err="1"/>
              <a:t>lebih</a:t>
            </a:r>
            <a:r>
              <a:rPr lang="en-US" b="1" dirty="0"/>
              <a:t> </a:t>
            </a:r>
            <a:r>
              <a:rPr lang="en-US" b="1" dirty="0" err="1"/>
              <a:t>dari</a:t>
            </a:r>
            <a:r>
              <a:rPr lang="en-US" b="1" dirty="0"/>
              <a:t> 1.300 </a:t>
            </a:r>
            <a:r>
              <a:rPr lang="en-US" b="1" dirty="0" err="1"/>
              <a:t>perusahaan</a:t>
            </a:r>
            <a:r>
              <a:rPr lang="en-US" b="1" dirty="0"/>
              <a:t> </a:t>
            </a:r>
            <a:r>
              <a:rPr lang="en-US" b="1" dirty="0" err="1"/>
              <a:t>konstruksi</a:t>
            </a:r>
            <a:r>
              <a:rPr lang="en-US" b="1" dirty="0"/>
              <a:t> </a:t>
            </a:r>
            <a:r>
              <a:rPr lang="en-US" b="1" dirty="0" err="1"/>
              <a:t>aktif</a:t>
            </a:r>
            <a:r>
              <a:rPr lang="en-US" dirty="0"/>
              <a:t> di </a:t>
            </a:r>
            <a:r>
              <a:rPr lang="en-US" dirty="0" err="1"/>
              <a:t>kawasan</a:t>
            </a:r>
            <a:r>
              <a:rPr lang="en-US" dirty="0"/>
              <a:t> Tangerang Raya. Ini </a:t>
            </a:r>
            <a:r>
              <a:rPr lang="en-US" dirty="0" err="1"/>
              <a:t>cukup</a:t>
            </a:r>
            <a:r>
              <a:rPr lang="en-US" dirty="0"/>
              <a:t> </a:t>
            </a:r>
            <a:r>
              <a:rPr lang="en-US" dirty="0" err="1"/>
              <a:t>besar</a:t>
            </a:r>
            <a:r>
              <a:rPr lang="en-US" dirty="0"/>
              <a:t> untuk </a:t>
            </a:r>
            <a:r>
              <a:rPr lang="en-US" dirty="0" err="1"/>
              <a:t>mendapatkan</a:t>
            </a:r>
            <a:r>
              <a:rPr lang="en-US" dirty="0"/>
              <a:t> 10 </a:t>
            </a:r>
            <a:r>
              <a:rPr lang="en-US" dirty="0" err="1"/>
              <a:t>perusahaan</a:t>
            </a:r>
            <a:r>
              <a:rPr lang="en-US" dirty="0"/>
              <a:t> pilot </a:t>
            </a:r>
            <a:r>
              <a:rPr lang="en-US" dirty="0" err="1"/>
              <a:t>tanpa</a:t>
            </a:r>
            <a:r>
              <a:rPr lang="en-US" dirty="0"/>
              <a:t> </a:t>
            </a:r>
            <a:r>
              <a:rPr lang="en-US" dirty="0" err="1"/>
              <a:t>harus</a:t>
            </a:r>
            <a:r>
              <a:rPr lang="en-US" dirty="0"/>
              <a:t> </a:t>
            </a:r>
            <a:r>
              <a:rPr lang="en-US" dirty="0" err="1"/>
              <a:t>memilih</a:t>
            </a:r>
            <a:r>
              <a:rPr lang="en-US" dirty="0"/>
              <a:t> </a:t>
            </a:r>
            <a:r>
              <a:rPr lang="en-US" dirty="0" err="1"/>
              <a:t>dengan</a:t>
            </a:r>
            <a:r>
              <a:rPr lang="en-US" dirty="0"/>
              <a:t> </a:t>
            </a:r>
            <a:r>
              <a:rPr lang="en-US" dirty="0" err="1"/>
              <a:t>susah</a:t>
            </a:r>
            <a:r>
              <a:rPr lang="en-US" dirty="0"/>
              <a:t> </a:t>
            </a:r>
            <a:r>
              <a:rPr lang="en-US" dirty="0" err="1"/>
              <a:t>payah</a:t>
            </a:r>
            <a:r>
              <a:rPr lang="en-US" dirty="0"/>
              <a:t>.</a:t>
            </a:r>
          </a:p>
          <a:p>
            <a:r>
              <a:rPr lang="en-US" b="1" dirty="0" err="1"/>
              <a:t>Ketiga</a:t>
            </a:r>
            <a:r>
              <a:rPr lang="en-US" b="1" dirty="0"/>
              <a:t>, </a:t>
            </a:r>
            <a:r>
              <a:rPr lang="en-US" b="1" dirty="0" err="1"/>
              <a:t>jarak</a:t>
            </a:r>
            <a:r>
              <a:rPr lang="en-US" b="1" dirty="0"/>
              <a:t> </a:t>
            </a:r>
            <a:r>
              <a:rPr lang="en-US" b="1" dirty="0" err="1"/>
              <a:t>kurang</a:t>
            </a:r>
            <a:r>
              <a:rPr lang="en-US" b="1" dirty="0"/>
              <a:t> </a:t>
            </a:r>
            <a:r>
              <a:rPr lang="en-US" b="1" dirty="0" err="1"/>
              <a:t>dari</a:t>
            </a:r>
            <a:r>
              <a:rPr lang="en-US" b="1" dirty="0"/>
              <a:t> 30 kilometer </a:t>
            </a:r>
            <a:r>
              <a:rPr lang="en-US" b="1" dirty="0" err="1"/>
              <a:t>dari</a:t>
            </a:r>
            <a:r>
              <a:rPr lang="en-US" b="1" dirty="0"/>
              <a:t> Jakarta.</a:t>
            </a:r>
            <a:r>
              <a:rPr lang="en-US" dirty="0"/>
              <a:t> Ini </a:t>
            </a:r>
            <a:r>
              <a:rPr lang="en-US" dirty="0" err="1"/>
              <a:t>bukan</a:t>
            </a:r>
            <a:r>
              <a:rPr lang="en-US" dirty="0"/>
              <a:t> detail </a:t>
            </a:r>
            <a:r>
              <a:rPr lang="en-US" dirty="0" err="1"/>
              <a:t>kecil</a:t>
            </a:r>
            <a:r>
              <a:rPr lang="en-US" dirty="0"/>
              <a:t>. Kalau </a:t>
            </a:r>
            <a:r>
              <a:rPr lang="en-US" dirty="0" err="1"/>
              <a:t>ada</a:t>
            </a:r>
            <a:r>
              <a:rPr lang="en-US" dirty="0"/>
              <a:t> </a:t>
            </a:r>
            <a:r>
              <a:rPr lang="en-US" dirty="0" err="1"/>
              <a:t>masalah</a:t>
            </a:r>
            <a:r>
              <a:rPr lang="en-US" dirty="0"/>
              <a:t> </a:t>
            </a:r>
            <a:r>
              <a:rPr lang="en-US" dirty="0" err="1"/>
              <a:t>teknis</a:t>
            </a:r>
            <a:r>
              <a:rPr lang="en-US" dirty="0"/>
              <a:t> </a:t>
            </a:r>
            <a:r>
              <a:rPr lang="en-US" dirty="0" err="1"/>
              <a:t>saat</a:t>
            </a:r>
            <a:r>
              <a:rPr lang="en-US" dirty="0"/>
              <a:t> </a:t>
            </a:r>
            <a:r>
              <a:rPr lang="en-US" dirty="0" err="1"/>
              <a:t>implementasi</a:t>
            </a:r>
            <a:r>
              <a:rPr lang="en-US" dirty="0"/>
              <a:t>, </a:t>
            </a:r>
            <a:r>
              <a:rPr lang="en-US" dirty="0" err="1"/>
              <a:t>tim</a:t>
            </a:r>
            <a:r>
              <a:rPr lang="en-US" dirty="0"/>
              <a:t> </a:t>
            </a:r>
            <a:r>
              <a:rPr lang="en-US" dirty="0" err="1"/>
              <a:t>bisa</a:t>
            </a:r>
            <a:r>
              <a:rPr lang="en-US" dirty="0"/>
              <a:t> </a:t>
            </a:r>
            <a:r>
              <a:rPr lang="en-US" dirty="0" err="1"/>
              <a:t>tiba</a:t>
            </a:r>
            <a:r>
              <a:rPr lang="en-US" dirty="0"/>
              <a:t> </a:t>
            </a:r>
            <a:r>
              <a:rPr lang="en-US" dirty="0" err="1"/>
              <a:t>dalam</a:t>
            </a:r>
            <a:r>
              <a:rPr lang="en-US" dirty="0"/>
              <a:t> </a:t>
            </a:r>
            <a:r>
              <a:rPr lang="en-US" dirty="0" err="1"/>
              <a:t>satu</a:t>
            </a:r>
            <a:r>
              <a:rPr lang="en-US" dirty="0"/>
              <a:t> jam. Response time yang </a:t>
            </a:r>
            <a:r>
              <a:rPr lang="en-US" dirty="0" err="1"/>
              <a:t>cepat</a:t>
            </a:r>
            <a:r>
              <a:rPr lang="en-US" dirty="0"/>
              <a:t> sangat </a:t>
            </a:r>
            <a:r>
              <a:rPr lang="en-US" dirty="0" err="1"/>
              <a:t>kritis</a:t>
            </a:r>
            <a:r>
              <a:rPr lang="en-US" dirty="0"/>
              <a:t> di </a:t>
            </a:r>
            <a:r>
              <a:rPr lang="en-US" dirty="0" err="1"/>
              <a:t>bulan-bulan</a:t>
            </a:r>
            <a:r>
              <a:rPr lang="en-US" dirty="0"/>
              <a:t> </a:t>
            </a:r>
            <a:r>
              <a:rPr lang="en-US" dirty="0" err="1"/>
              <a:t>awal</a:t>
            </a:r>
            <a:r>
              <a:rPr lang="en-US" dirty="0"/>
              <a:t> pilot — </a:t>
            </a:r>
            <a:r>
              <a:rPr lang="en-US" dirty="0" err="1"/>
              <a:t>karena</a:t>
            </a:r>
            <a:r>
              <a:rPr lang="en-US" dirty="0"/>
              <a:t> ini yang </a:t>
            </a:r>
            <a:r>
              <a:rPr lang="en-US" dirty="0" err="1"/>
              <a:t>membangun</a:t>
            </a:r>
            <a:r>
              <a:rPr lang="en-US" dirty="0"/>
              <a:t> </a:t>
            </a:r>
            <a:r>
              <a:rPr lang="en-US" dirty="0" err="1"/>
              <a:t>kepercayaan</a:t>
            </a:r>
            <a:r>
              <a:rPr lang="en-US" dirty="0"/>
              <a:t> </a:t>
            </a:r>
            <a:r>
              <a:rPr lang="en-US" dirty="0" err="1"/>
              <a:t>klien</a:t>
            </a:r>
            <a:r>
              <a:rPr lang="en-US" dirty="0"/>
              <a:t>.</a:t>
            </a:r>
          </a:p>
          <a:p>
            <a:r>
              <a:rPr lang="en-US" b="1" dirty="0" err="1"/>
              <a:t>Keempat</a:t>
            </a:r>
            <a:r>
              <a:rPr lang="en-US" b="1" dirty="0"/>
              <a:t>, </a:t>
            </a:r>
            <a:r>
              <a:rPr lang="en-US" b="1" dirty="0" err="1"/>
              <a:t>biaya</a:t>
            </a:r>
            <a:r>
              <a:rPr lang="en-US" b="1" dirty="0"/>
              <a:t> </a:t>
            </a:r>
            <a:r>
              <a:rPr lang="en-US" b="1" dirty="0" err="1"/>
              <a:t>implementasi</a:t>
            </a:r>
            <a:r>
              <a:rPr lang="en-US" b="1" dirty="0"/>
              <a:t> pilot </a:t>
            </a:r>
            <a:r>
              <a:rPr lang="en-US" b="1" dirty="0" err="1"/>
              <a:t>diperkirakan</a:t>
            </a:r>
            <a:r>
              <a:rPr lang="en-US" b="1" dirty="0"/>
              <a:t> 30 </a:t>
            </a:r>
            <a:r>
              <a:rPr lang="en-US" b="1" dirty="0" err="1"/>
              <a:t>sampai</a:t>
            </a:r>
            <a:r>
              <a:rPr lang="en-US" b="1" dirty="0"/>
              <a:t> 40 </a:t>
            </a:r>
            <a:r>
              <a:rPr lang="en-US" b="1" dirty="0" err="1"/>
              <a:t>persen</a:t>
            </a:r>
            <a:r>
              <a:rPr lang="en-US" b="1" dirty="0"/>
              <a:t> </a:t>
            </a:r>
            <a:r>
              <a:rPr lang="en-US" b="1" dirty="0" err="1"/>
              <a:t>lebih</a:t>
            </a:r>
            <a:r>
              <a:rPr lang="en-US" b="1" dirty="0"/>
              <a:t> </a:t>
            </a:r>
            <a:r>
              <a:rPr lang="en-US" b="1" dirty="0" err="1"/>
              <a:t>efisien</a:t>
            </a:r>
            <a:r>
              <a:rPr lang="en-US" dirty="0"/>
              <a:t> </a:t>
            </a:r>
            <a:r>
              <a:rPr lang="en-US" dirty="0" err="1"/>
              <a:t>dibanding</a:t>
            </a:r>
            <a:r>
              <a:rPr lang="en-US" dirty="0"/>
              <a:t> </a:t>
            </a:r>
            <a:r>
              <a:rPr lang="en-US" dirty="0" err="1"/>
              <a:t>kota</a:t>
            </a:r>
            <a:r>
              <a:rPr lang="en-US" dirty="0"/>
              <a:t> tier </a:t>
            </a:r>
            <a:r>
              <a:rPr lang="en-US" dirty="0" err="1"/>
              <a:t>satu</a:t>
            </a:r>
            <a:r>
              <a:rPr lang="en-US" dirty="0"/>
              <a:t> </a:t>
            </a:r>
            <a:r>
              <a:rPr lang="en-US" dirty="0" err="1"/>
              <a:t>seperti</a:t>
            </a:r>
            <a:r>
              <a:rPr lang="en-US" dirty="0"/>
              <a:t> Surabaya </a:t>
            </a:r>
            <a:r>
              <a:rPr lang="en-US" dirty="0" err="1"/>
              <a:t>atau</a:t>
            </a:r>
            <a:r>
              <a:rPr lang="en-US" dirty="0"/>
              <a:t> Bandung. </a:t>
            </a:r>
            <a:r>
              <a:rPr lang="en-US" dirty="0" err="1"/>
              <a:t>Infrastruktur</a:t>
            </a:r>
            <a:r>
              <a:rPr lang="en-US" dirty="0"/>
              <a:t> cloud di </a:t>
            </a:r>
            <a:r>
              <a:rPr lang="en-US" dirty="0" err="1"/>
              <a:t>kawasan</a:t>
            </a:r>
            <a:r>
              <a:rPr lang="en-US" dirty="0"/>
              <a:t> </a:t>
            </a:r>
            <a:r>
              <a:rPr lang="en-US" dirty="0" err="1"/>
              <a:t>Tangsel</a:t>
            </a:r>
            <a:r>
              <a:rPr lang="en-US" dirty="0"/>
              <a:t> </a:t>
            </a:r>
            <a:r>
              <a:rPr lang="en-US" dirty="0" err="1"/>
              <a:t>sudah</a:t>
            </a:r>
            <a:r>
              <a:rPr lang="en-US" dirty="0"/>
              <a:t> </a:t>
            </a:r>
            <a:r>
              <a:rPr lang="en-US" dirty="0" err="1"/>
              <a:t>matang</a:t>
            </a:r>
            <a:r>
              <a:rPr lang="en-US" dirty="0"/>
              <a:t>, </a:t>
            </a:r>
            <a:r>
              <a:rPr lang="en-US" dirty="0" err="1"/>
              <a:t>konektivitas</a:t>
            </a:r>
            <a:r>
              <a:rPr lang="en-US" dirty="0"/>
              <a:t> </a:t>
            </a:r>
            <a:r>
              <a:rPr lang="en-US" dirty="0" err="1"/>
              <a:t>stabil</a:t>
            </a:r>
            <a:r>
              <a:rPr lang="en-US" dirty="0"/>
              <a:t>, dan </a:t>
            </a:r>
            <a:r>
              <a:rPr lang="en-US" dirty="0" err="1"/>
              <a:t>tidak</a:t>
            </a:r>
            <a:r>
              <a:rPr lang="en-US" dirty="0"/>
              <a:t> </a:t>
            </a:r>
            <a:r>
              <a:rPr lang="en-US" dirty="0" err="1"/>
              <a:t>ada</a:t>
            </a:r>
            <a:r>
              <a:rPr lang="en-US" dirty="0"/>
              <a:t> </a:t>
            </a:r>
            <a:r>
              <a:rPr lang="en-US" dirty="0" err="1"/>
              <a:t>biaya</a:t>
            </a:r>
            <a:r>
              <a:rPr lang="en-US" dirty="0"/>
              <a:t> </a:t>
            </a:r>
            <a:r>
              <a:rPr lang="en-US" dirty="0" err="1"/>
              <a:t>mobilisasi</a:t>
            </a:r>
            <a:r>
              <a:rPr lang="en-US" dirty="0"/>
              <a:t> </a:t>
            </a:r>
            <a:r>
              <a:rPr lang="en-US" dirty="0" err="1"/>
              <a:t>tim</a:t>
            </a:r>
            <a:r>
              <a:rPr lang="en-US" dirty="0"/>
              <a:t> yang </a:t>
            </a:r>
            <a:r>
              <a:rPr lang="en-US" dirty="0" err="1"/>
              <a:t>besar</a:t>
            </a:r>
            <a:r>
              <a:rPr lang="en-US" dirty="0"/>
              <a:t>.</a:t>
            </a:r>
          </a:p>
          <a:p>
            <a:r>
              <a:rPr lang="en-US" dirty="0"/>
              <a:t>Jadi ini </a:t>
            </a:r>
            <a:r>
              <a:rPr lang="en-US" dirty="0" err="1"/>
              <a:t>bukan</a:t>
            </a:r>
            <a:r>
              <a:rPr lang="en-US" dirty="0"/>
              <a:t> </a:t>
            </a:r>
            <a:r>
              <a:rPr lang="en-US" dirty="0" err="1"/>
              <a:t>keputusan</a:t>
            </a:r>
            <a:r>
              <a:rPr lang="en-US" dirty="0"/>
              <a:t> </a:t>
            </a:r>
            <a:r>
              <a:rPr lang="en-US" dirty="0" err="1"/>
              <a:t>emosional</a:t>
            </a:r>
            <a:r>
              <a:rPr lang="en-US" dirty="0"/>
              <a:t> — ini </a:t>
            </a:r>
            <a:r>
              <a:rPr lang="en-US" dirty="0" err="1"/>
              <a:t>keputusan</a:t>
            </a:r>
            <a:r>
              <a:rPr lang="en-US" dirty="0"/>
              <a:t> yang </a:t>
            </a:r>
            <a:r>
              <a:rPr lang="en-US" dirty="0" err="1"/>
              <a:t>bisa</a:t>
            </a:r>
            <a:r>
              <a:rPr lang="en-US" dirty="0"/>
              <a:t> </a:t>
            </a:r>
            <a:r>
              <a:rPr lang="en-US" dirty="0" err="1"/>
              <a:t>dipertahankan</a:t>
            </a:r>
            <a:r>
              <a:rPr lang="en-US" dirty="0"/>
              <a:t> di </a:t>
            </a:r>
            <a:r>
              <a:rPr lang="en-US" dirty="0" err="1"/>
              <a:t>depan</a:t>
            </a:r>
            <a:r>
              <a:rPr lang="en-US" dirty="0"/>
              <a:t> </a:t>
            </a:r>
            <a:r>
              <a:rPr lang="en-US" dirty="0" err="1"/>
              <a:t>angka</a:t>
            </a:r>
            <a:r>
              <a:rPr lang="en-US" dirty="0"/>
              <a:t>. </a:t>
            </a:r>
            <a:r>
              <a:rPr lang="en-US" b="1" dirty="0" err="1"/>
              <a:t>Tangsel</a:t>
            </a:r>
            <a:r>
              <a:rPr lang="en-US" b="1" dirty="0"/>
              <a:t> </a:t>
            </a:r>
            <a:r>
              <a:rPr lang="en-US" b="1" dirty="0" err="1"/>
              <a:t>bukan</a:t>
            </a:r>
            <a:r>
              <a:rPr lang="en-US" b="1" dirty="0"/>
              <a:t> pasar </a:t>
            </a:r>
            <a:r>
              <a:rPr lang="en-US" b="1" dirty="0" err="1"/>
              <a:t>terbesar</a:t>
            </a:r>
            <a:r>
              <a:rPr lang="en-US" b="1" dirty="0"/>
              <a:t>, </a:t>
            </a:r>
            <a:r>
              <a:rPr lang="en-US" b="1" dirty="0" err="1"/>
              <a:t>tapi</a:t>
            </a:r>
            <a:r>
              <a:rPr lang="en-US" b="1" dirty="0"/>
              <a:t> </a:t>
            </a:r>
            <a:r>
              <a:rPr lang="en-US" b="1" dirty="0" err="1"/>
              <a:t>dia</a:t>
            </a:r>
            <a:r>
              <a:rPr lang="en-US" b="1" dirty="0"/>
              <a:t> adalah </a:t>
            </a:r>
            <a:r>
              <a:rPr lang="en-US" b="1" dirty="0" err="1"/>
              <a:t>titik</a:t>
            </a:r>
            <a:r>
              <a:rPr lang="en-US" b="1" dirty="0"/>
              <a:t> </a:t>
            </a:r>
            <a:r>
              <a:rPr lang="en-US" b="1" dirty="0" err="1"/>
              <a:t>masuk</a:t>
            </a:r>
            <a:r>
              <a:rPr lang="en-US" b="1" dirty="0"/>
              <a:t> paling </a:t>
            </a:r>
            <a:r>
              <a:rPr lang="en-US" b="1" dirty="0" err="1"/>
              <a:t>efisien</a:t>
            </a:r>
            <a:r>
              <a:rPr lang="en-US" b="1" dirty="0"/>
              <a:t> untuk </a:t>
            </a:r>
            <a:r>
              <a:rPr lang="en-US" b="1" dirty="0" err="1"/>
              <a:t>membuktikan</a:t>
            </a:r>
            <a:r>
              <a:rPr lang="en-US" b="1" dirty="0"/>
              <a:t> </a:t>
            </a:r>
            <a:r>
              <a:rPr lang="en-US" b="1" dirty="0" err="1"/>
              <a:t>bahwa</a:t>
            </a:r>
            <a:r>
              <a:rPr lang="en-US" b="1" dirty="0"/>
              <a:t> </a:t>
            </a:r>
            <a:r>
              <a:rPr lang="en-US" b="1" dirty="0" err="1"/>
              <a:t>produk</a:t>
            </a:r>
            <a:r>
              <a:rPr lang="en-US" b="1" dirty="0"/>
              <a:t> </a:t>
            </a:r>
            <a:r>
              <a:rPr lang="en-US" b="1" dirty="0" err="1"/>
              <a:t>SumThing</a:t>
            </a:r>
            <a:r>
              <a:rPr lang="en-US" b="1" dirty="0"/>
              <a:t> </a:t>
            </a:r>
            <a:r>
              <a:rPr lang="en-US" b="1" dirty="0" err="1"/>
              <a:t>bekerja</a:t>
            </a:r>
            <a:r>
              <a:rPr lang="en-US" b="1" dirty="0"/>
              <a:t> di </a:t>
            </a:r>
            <a:r>
              <a:rPr lang="en-US" b="1" dirty="0" err="1"/>
              <a:t>lapangan</a:t>
            </a:r>
            <a:r>
              <a:rPr lang="en-US" b="1" dirty="0"/>
              <a:t>.</a:t>
            </a:r>
            <a:endParaRPr lang="en-US" dirty="0"/>
          </a:p>
          <a:p>
            <a:r>
              <a:rPr lang="en-US" dirty="0"/>
              <a:t>Dan </a:t>
            </a:r>
            <a:r>
              <a:rPr lang="en-US" dirty="0" err="1"/>
              <a:t>satu</a:t>
            </a:r>
            <a:r>
              <a:rPr lang="en-US" dirty="0"/>
              <a:t> case study yang </a:t>
            </a:r>
            <a:r>
              <a:rPr lang="en-US" dirty="0" err="1"/>
              <a:t>kuat</a:t>
            </a:r>
            <a:r>
              <a:rPr lang="en-US" dirty="0"/>
              <a:t> </a:t>
            </a:r>
            <a:r>
              <a:rPr lang="en-US" dirty="0" err="1"/>
              <a:t>dari</a:t>
            </a:r>
            <a:r>
              <a:rPr lang="en-US" dirty="0"/>
              <a:t> </a:t>
            </a:r>
            <a:r>
              <a:rPr lang="en-US" dirty="0" err="1"/>
              <a:t>Tangsel</a:t>
            </a:r>
            <a:r>
              <a:rPr lang="en-US" dirty="0"/>
              <a:t> </a:t>
            </a:r>
            <a:r>
              <a:rPr lang="en-US" dirty="0" err="1"/>
              <a:t>jauh</a:t>
            </a:r>
            <a:r>
              <a:rPr lang="en-US" dirty="0"/>
              <a:t> </a:t>
            </a:r>
            <a:r>
              <a:rPr lang="en-US" dirty="0" err="1"/>
              <a:t>lebih</a:t>
            </a:r>
            <a:r>
              <a:rPr lang="en-US" dirty="0"/>
              <a:t> </a:t>
            </a:r>
            <a:r>
              <a:rPr lang="en-US" dirty="0" err="1"/>
              <a:t>berharga</a:t>
            </a:r>
            <a:r>
              <a:rPr lang="en-US" dirty="0"/>
              <a:t> untuk pipeline Jatim dan Jabar </a:t>
            </a:r>
            <a:r>
              <a:rPr lang="en-US" dirty="0" err="1"/>
              <a:t>dibanding</a:t>
            </a:r>
            <a:r>
              <a:rPr lang="en-US" dirty="0"/>
              <a:t> </a:t>
            </a:r>
            <a:r>
              <a:rPr lang="en-US" dirty="0" err="1"/>
              <a:t>masuk</a:t>
            </a:r>
            <a:r>
              <a:rPr lang="en-US" dirty="0"/>
              <a:t> ke Surabaya </a:t>
            </a:r>
            <a:r>
              <a:rPr lang="en-US" dirty="0" err="1"/>
              <a:t>sebelum</a:t>
            </a:r>
            <a:r>
              <a:rPr lang="en-US" dirty="0"/>
              <a:t> </a:t>
            </a:r>
            <a:r>
              <a:rPr lang="en-US" dirty="0" err="1"/>
              <a:t>produk</a:t>
            </a:r>
            <a:r>
              <a:rPr lang="en-US" dirty="0"/>
              <a:t> </a:t>
            </a:r>
            <a:r>
              <a:rPr lang="en-US" dirty="0" err="1"/>
              <a:t>terbukti</a:t>
            </a:r>
            <a:r>
              <a:rPr lang="en-US" dirty="0"/>
              <a:t>."</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15</a:t>
            </a:fld>
            <a:endParaRPr lang="en-US" dirty="0"/>
          </a:p>
        </p:txBody>
      </p:sp>
    </p:spTree>
    <p:extLst>
      <p:ext uri="{BB962C8B-B14F-4D97-AF65-F5344CB8AC3E}">
        <p14:creationId xmlns:p14="http://schemas.microsoft.com/office/powerpoint/2010/main" val="400531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"Kita </a:t>
            </a:r>
            <a:r>
              <a:rPr lang="en-US" dirty="0" err="1"/>
              <a:t>sudah</a:t>
            </a:r>
            <a:r>
              <a:rPr lang="en-US" dirty="0"/>
              <a:t> </a:t>
            </a:r>
            <a:r>
              <a:rPr lang="en-US" dirty="0" err="1"/>
              <a:t>melewati</a:t>
            </a:r>
            <a:r>
              <a:rPr lang="en-US" dirty="0"/>
              <a:t> </a:t>
            </a:r>
            <a:r>
              <a:rPr lang="en-US" dirty="0" err="1"/>
              <a:t>empat</a:t>
            </a:r>
            <a:r>
              <a:rPr lang="en-US" dirty="0"/>
              <a:t> </a:t>
            </a:r>
            <a:r>
              <a:rPr lang="en-US" dirty="0" err="1"/>
              <a:t>seksi</a:t>
            </a:r>
            <a:r>
              <a:rPr lang="en-US" dirty="0"/>
              <a:t> </a:t>
            </a:r>
            <a:r>
              <a:rPr lang="en-US" dirty="0" err="1"/>
              <a:t>analisis</a:t>
            </a:r>
            <a:r>
              <a:rPr lang="en-US" dirty="0"/>
              <a:t>. </a:t>
            </a:r>
            <a:r>
              <a:rPr lang="en-US" dirty="0" err="1"/>
              <a:t>Sekarang</a:t>
            </a:r>
            <a:r>
              <a:rPr lang="en-US" dirty="0"/>
              <a:t> </a:t>
            </a:r>
            <a:r>
              <a:rPr lang="en-US" dirty="0" err="1"/>
              <a:t>saatnya</a:t>
            </a:r>
            <a:r>
              <a:rPr lang="en-US" dirty="0"/>
              <a:t> kami </a:t>
            </a:r>
            <a:r>
              <a:rPr lang="en-US" dirty="0" err="1"/>
              <a:t>tarik</a:t>
            </a:r>
            <a:r>
              <a:rPr lang="en-US" dirty="0"/>
              <a:t> </a:t>
            </a:r>
            <a:r>
              <a:rPr lang="en-US" dirty="0" err="1"/>
              <a:t>semua</a:t>
            </a:r>
            <a:r>
              <a:rPr lang="en-US" dirty="0"/>
              <a:t> </a:t>
            </a:r>
            <a:r>
              <a:rPr lang="en-US" dirty="0" err="1"/>
              <a:t>benang</a:t>
            </a:r>
            <a:r>
              <a:rPr lang="en-US" dirty="0"/>
              <a:t> </a:t>
            </a:r>
            <a:r>
              <a:rPr lang="en-US" dirty="0" err="1"/>
              <a:t>itu</a:t>
            </a:r>
            <a:r>
              <a:rPr lang="en-US" dirty="0"/>
              <a:t> </a:t>
            </a:r>
            <a:r>
              <a:rPr lang="en-US" dirty="0" err="1"/>
              <a:t>menjadi</a:t>
            </a:r>
            <a:r>
              <a:rPr lang="en-US" dirty="0"/>
              <a:t> </a:t>
            </a:r>
            <a:r>
              <a:rPr lang="en-US" dirty="0" err="1"/>
              <a:t>satu</a:t>
            </a:r>
            <a:r>
              <a:rPr lang="en-US" dirty="0"/>
              <a:t> </a:t>
            </a:r>
            <a:r>
              <a:rPr lang="en-US" dirty="0" err="1"/>
              <a:t>gambar</a:t>
            </a:r>
            <a:r>
              <a:rPr lang="en-US" dirty="0"/>
              <a:t> yang </a:t>
            </a:r>
            <a:r>
              <a:rPr lang="en-US" dirty="0" err="1"/>
              <a:t>utuh</a:t>
            </a:r>
            <a:r>
              <a:rPr lang="en-US" dirty="0"/>
              <a:t> —</a:t>
            </a:r>
          </a:p>
          <a:p>
            <a:r>
              <a:rPr lang="en-US" b="1" dirty="0" err="1"/>
              <a:t>apa</a:t>
            </a:r>
            <a:r>
              <a:rPr lang="en-US" b="1" dirty="0"/>
              <a:t> yang kami </a:t>
            </a:r>
            <a:r>
              <a:rPr lang="en-US" b="1" dirty="0" err="1"/>
              <a:t>temukan</a:t>
            </a:r>
            <a:r>
              <a:rPr lang="en-US" b="1" dirty="0"/>
              <a:t>, </a:t>
            </a:r>
            <a:r>
              <a:rPr lang="en-US" b="1" dirty="0" err="1"/>
              <a:t>apa</a:t>
            </a:r>
            <a:r>
              <a:rPr lang="en-US" b="1" dirty="0"/>
              <a:t> </a:t>
            </a:r>
            <a:r>
              <a:rPr lang="en-US" b="1" dirty="0" err="1"/>
              <a:t>artinya</a:t>
            </a:r>
            <a:r>
              <a:rPr lang="en-US" b="1" dirty="0"/>
              <a:t>, dan </a:t>
            </a:r>
            <a:r>
              <a:rPr lang="en-US" b="1" dirty="0" err="1"/>
              <a:t>apa</a:t>
            </a:r>
            <a:r>
              <a:rPr lang="en-US" b="1" dirty="0"/>
              <a:t> yang </a:t>
            </a:r>
            <a:r>
              <a:rPr lang="en-US" b="1" dirty="0" err="1"/>
              <a:t>perlu</a:t>
            </a:r>
            <a:r>
              <a:rPr lang="en-US" b="1" dirty="0"/>
              <a:t> </a:t>
            </a:r>
            <a:r>
              <a:rPr lang="en-US" b="1" dirty="0" err="1"/>
              <a:t>dilakukan</a:t>
            </a:r>
            <a:r>
              <a:rPr lang="en-US" b="1" dirty="0"/>
              <a:t> </a:t>
            </a:r>
            <a:r>
              <a:rPr lang="en-US" b="1" dirty="0" err="1"/>
              <a:t>selanjutnya</a:t>
            </a:r>
            <a:r>
              <a:rPr lang="en-US" b="1" dirty="0"/>
              <a:t>.</a:t>
            </a:r>
            <a:r>
              <a:rPr lang="en-US" dirty="0"/>
              <a:t>"</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16</a:t>
            </a:fld>
            <a:endParaRPr lang="en-US" dirty="0"/>
          </a:p>
        </p:txBody>
      </p:sp>
    </p:spTree>
    <p:extLst>
      <p:ext uri="{BB962C8B-B14F-4D97-AF65-F5344CB8AC3E}">
        <p14:creationId xmlns:p14="http://schemas.microsoft.com/office/powerpoint/2010/main" val="3802169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Temuan</a:t>
            </a:r>
            <a:r>
              <a:rPr lang="en-US" b="1" dirty="0"/>
              <a:t> </a:t>
            </a:r>
            <a:r>
              <a:rPr lang="en-US" b="1" dirty="0" err="1"/>
              <a:t>pertama</a:t>
            </a:r>
            <a:r>
              <a:rPr lang="en-US" b="1" dirty="0"/>
              <a:t>: </a:t>
            </a:r>
            <a:r>
              <a:rPr lang="en-US" b="1" dirty="0" err="1"/>
              <a:t>dominasi</a:t>
            </a:r>
            <a:r>
              <a:rPr lang="en-US" b="1" dirty="0"/>
              <a:t> pasar </a:t>
            </a:r>
            <a:r>
              <a:rPr lang="en-US" b="1" dirty="0" err="1"/>
              <a:t>ada</a:t>
            </a:r>
            <a:r>
              <a:rPr lang="en-US" b="1" dirty="0"/>
              <a:t> di dua </a:t>
            </a:r>
            <a:r>
              <a:rPr lang="en-US" b="1" dirty="0" err="1"/>
              <a:t>provinsi</a:t>
            </a:r>
            <a:r>
              <a:rPr lang="en-US" b="1" dirty="0"/>
              <a:t>.</a:t>
            </a:r>
            <a:endParaRPr lang="en-US" dirty="0"/>
          </a:p>
          <a:p>
            <a:r>
              <a:rPr lang="en-US" dirty="0"/>
              <a:t>Jawa Timur dan Jawa Barat </a:t>
            </a:r>
            <a:r>
              <a:rPr lang="en-US" dirty="0" err="1"/>
              <a:t>bersama-sama</a:t>
            </a:r>
            <a:r>
              <a:rPr lang="en-US" dirty="0"/>
              <a:t> </a:t>
            </a:r>
            <a:r>
              <a:rPr lang="en-US" dirty="0" err="1"/>
              <a:t>menguasai</a:t>
            </a:r>
            <a:r>
              <a:rPr lang="en-US" dirty="0"/>
              <a:t> </a:t>
            </a:r>
            <a:r>
              <a:rPr lang="en-US" dirty="0" err="1"/>
              <a:t>hampir</a:t>
            </a:r>
            <a:r>
              <a:rPr lang="en-US" dirty="0"/>
              <a:t> 65 </a:t>
            </a:r>
            <a:r>
              <a:rPr lang="en-US" dirty="0" err="1"/>
              <a:t>persen</a:t>
            </a:r>
            <a:r>
              <a:rPr lang="en-US" dirty="0"/>
              <a:t> </a:t>
            </a:r>
            <a:r>
              <a:rPr lang="en-US" dirty="0" err="1"/>
              <a:t>dari</a:t>
            </a:r>
            <a:r>
              <a:rPr lang="en-US" dirty="0"/>
              <a:t> total 65.587 </a:t>
            </a:r>
            <a:r>
              <a:rPr lang="en-US" dirty="0" err="1"/>
              <a:t>perusahaan</a:t>
            </a:r>
            <a:r>
              <a:rPr lang="en-US" dirty="0"/>
              <a:t> </a:t>
            </a:r>
            <a:r>
              <a:rPr lang="en-US" dirty="0" err="1"/>
              <a:t>konstruksi</a:t>
            </a:r>
            <a:r>
              <a:rPr lang="en-US" dirty="0"/>
              <a:t> di </a:t>
            </a:r>
            <a:r>
              <a:rPr lang="en-US" dirty="0" err="1"/>
              <a:t>empat</a:t>
            </a:r>
            <a:r>
              <a:rPr lang="en-US" dirty="0"/>
              <a:t> </a:t>
            </a:r>
            <a:r>
              <a:rPr lang="en-US" dirty="0" err="1"/>
              <a:t>provinsi</a:t>
            </a:r>
            <a:r>
              <a:rPr lang="en-US" dirty="0"/>
              <a:t> yang kami </a:t>
            </a:r>
            <a:r>
              <a:rPr lang="en-US" dirty="0" err="1"/>
              <a:t>analisis</a:t>
            </a:r>
            <a:r>
              <a:rPr lang="en-US" dirty="0"/>
              <a:t>. Ini </a:t>
            </a:r>
            <a:r>
              <a:rPr lang="en-US" dirty="0" err="1"/>
              <a:t>bukan</a:t>
            </a:r>
            <a:r>
              <a:rPr lang="en-US" dirty="0"/>
              <a:t> </a:t>
            </a:r>
            <a:r>
              <a:rPr lang="en-US" dirty="0" err="1"/>
              <a:t>distribusi</a:t>
            </a:r>
            <a:r>
              <a:rPr lang="en-US" dirty="0"/>
              <a:t> yang </a:t>
            </a:r>
            <a:r>
              <a:rPr lang="en-US" dirty="0" err="1"/>
              <a:t>merata</a:t>
            </a:r>
            <a:r>
              <a:rPr lang="en-US" dirty="0"/>
              <a:t> — </a:t>
            </a:r>
            <a:r>
              <a:rPr lang="en-US" b="1" dirty="0"/>
              <a:t>pasar sangat </a:t>
            </a:r>
            <a:r>
              <a:rPr lang="en-US" b="1" dirty="0" err="1"/>
              <a:t>terkonsentrasi</a:t>
            </a:r>
            <a:r>
              <a:rPr lang="en-US" b="1" dirty="0"/>
              <a:t>.</a:t>
            </a:r>
            <a:r>
              <a:rPr lang="en-US" dirty="0"/>
              <a:t> </a:t>
            </a:r>
            <a:r>
              <a:rPr lang="en-US" dirty="0" err="1"/>
              <a:t>Implikasinya</a:t>
            </a:r>
            <a:r>
              <a:rPr lang="en-US" dirty="0"/>
              <a:t>: </a:t>
            </a:r>
            <a:r>
              <a:rPr lang="en-US" dirty="0" err="1"/>
              <a:t>SumThing</a:t>
            </a:r>
            <a:r>
              <a:rPr lang="en-US" dirty="0"/>
              <a:t> </a:t>
            </a:r>
            <a:r>
              <a:rPr lang="en-US" dirty="0" err="1"/>
              <a:t>tidak</a:t>
            </a:r>
            <a:r>
              <a:rPr lang="en-US" dirty="0"/>
              <a:t> </a:t>
            </a:r>
            <a:r>
              <a:rPr lang="en-US" dirty="0" err="1"/>
              <a:t>perlu</a:t>
            </a:r>
            <a:r>
              <a:rPr lang="en-US" dirty="0"/>
              <a:t> </a:t>
            </a:r>
            <a:r>
              <a:rPr lang="en-US" dirty="0" err="1"/>
              <a:t>menyebar</a:t>
            </a:r>
            <a:r>
              <a:rPr lang="en-US" dirty="0"/>
              <a:t> tipis ke </a:t>
            </a:r>
            <a:r>
              <a:rPr lang="en-US" dirty="0" err="1"/>
              <a:t>seluruh</a:t>
            </a:r>
            <a:r>
              <a:rPr lang="en-US" dirty="0"/>
              <a:t> Jawa. </a:t>
            </a:r>
            <a:r>
              <a:rPr lang="en-US" dirty="0" err="1"/>
              <a:t>Fokus</a:t>
            </a:r>
            <a:r>
              <a:rPr lang="en-US" dirty="0"/>
              <a:t> ke dua </a:t>
            </a:r>
            <a:r>
              <a:rPr lang="en-US" dirty="0" err="1"/>
              <a:t>provinsi</a:t>
            </a:r>
            <a:r>
              <a:rPr lang="en-US" dirty="0"/>
              <a:t> ini </a:t>
            </a:r>
            <a:r>
              <a:rPr lang="en-US" dirty="0" err="1"/>
              <a:t>sudah</a:t>
            </a:r>
            <a:r>
              <a:rPr lang="en-US" dirty="0"/>
              <a:t> </a:t>
            </a:r>
            <a:r>
              <a:rPr lang="en-US" dirty="0" err="1"/>
              <a:t>menjangkau</a:t>
            </a:r>
            <a:r>
              <a:rPr lang="en-US" dirty="0"/>
              <a:t> dua </a:t>
            </a:r>
            <a:r>
              <a:rPr lang="en-US" dirty="0" err="1"/>
              <a:t>pertiga</a:t>
            </a:r>
            <a:r>
              <a:rPr lang="en-US" dirty="0"/>
              <a:t> </a:t>
            </a:r>
            <a:r>
              <a:rPr lang="en-US" dirty="0" err="1"/>
              <a:t>pasarnya</a:t>
            </a:r>
            <a:r>
              <a:rPr lang="en-US" dirty="0"/>
              <a:t>.</a:t>
            </a:r>
          </a:p>
          <a:p>
            <a:r>
              <a:rPr lang="en-US" b="1" dirty="0" err="1"/>
              <a:t>Temuan</a:t>
            </a:r>
            <a:r>
              <a:rPr lang="en-US" b="1" dirty="0"/>
              <a:t> </a:t>
            </a:r>
            <a:r>
              <a:rPr lang="en-US" b="1" dirty="0" err="1"/>
              <a:t>kedua</a:t>
            </a:r>
            <a:r>
              <a:rPr lang="en-US" b="1" dirty="0"/>
              <a:t>: opportunity score dan risk density </a:t>
            </a:r>
            <a:r>
              <a:rPr lang="en-US" b="1" dirty="0" err="1"/>
              <a:t>bercerita</a:t>
            </a:r>
            <a:r>
              <a:rPr lang="en-US" b="1" dirty="0"/>
              <a:t> </a:t>
            </a:r>
            <a:r>
              <a:rPr lang="en-US" b="1" dirty="0" err="1"/>
              <a:t>berbeda</a:t>
            </a:r>
            <a:r>
              <a:rPr lang="en-US" b="1" dirty="0"/>
              <a:t> — dan </a:t>
            </a:r>
            <a:r>
              <a:rPr lang="en-US" b="1" dirty="0" err="1"/>
              <a:t>keduanya</a:t>
            </a:r>
            <a:r>
              <a:rPr lang="en-US" b="1" dirty="0"/>
              <a:t> </a:t>
            </a:r>
            <a:r>
              <a:rPr lang="en-US" b="1" dirty="0" err="1"/>
              <a:t>penting</a:t>
            </a:r>
            <a:r>
              <a:rPr lang="en-US" b="1" dirty="0"/>
              <a:t>.</a:t>
            </a:r>
            <a:endParaRPr lang="en-US" dirty="0"/>
          </a:p>
          <a:p>
            <a:r>
              <a:rPr lang="en-US" dirty="0"/>
              <a:t>Jawa Timur punya opportunity score </a:t>
            </a:r>
            <a:r>
              <a:rPr lang="en-US" dirty="0" err="1"/>
              <a:t>tertinggi</a:t>
            </a:r>
            <a:r>
              <a:rPr lang="en-US" dirty="0"/>
              <a:t>, </a:t>
            </a:r>
            <a:r>
              <a:rPr lang="en-US" dirty="0" err="1"/>
              <a:t>tapi</a:t>
            </a:r>
            <a:r>
              <a:rPr lang="en-US" dirty="0"/>
              <a:t> Banten punya risk density </a:t>
            </a:r>
            <a:r>
              <a:rPr lang="en-US" dirty="0" err="1"/>
              <a:t>tertinggi</a:t>
            </a:r>
            <a:r>
              <a:rPr lang="en-US" dirty="0"/>
              <a:t>. Ini </a:t>
            </a:r>
            <a:r>
              <a:rPr lang="en-US" dirty="0" err="1"/>
              <a:t>artinya</a:t>
            </a:r>
            <a:r>
              <a:rPr lang="en-US" dirty="0"/>
              <a:t> </a:t>
            </a:r>
            <a:r>
              <a:rPr lang="en-US" b="1" dirty="0" err="1"/>
              <a:t>satu</a:t>
            </a:r>
            <a:r>
              <a:rPr lang="en-US" b="1" dirty="0"/>
              <a:t> </a:t>
            </a:r>
            <a:r>
              <a:rPr lang="en-US" b="1" dirty="0" err="1"/>
              <a:t>metrik</a:t>
            </a:r>
            <a:r>
              <a:rPr lang="en-US" b="1" dirty="0"/>
              <a:t> </a:t>
            </a:r>
            <a:r>
              <a:rPr lang="en-US" b="1" dirty="0" err="1"/>
              <a:t>tidak</a:t>
            </a:r>
            <a:r>
              <a:rPr lang="en-US" b="1" dirty="0"/>
              <a:t> </a:t>
            </a:r>
            <a:r>
              <a:rPr lang="en-US" b="1" dirty="0" err="1"/>
              <a:t>cukup</a:t>
            </a:r>
            <a:r>
              <a:rPr lang="en-US" b="1" dirty="0"/>
              <a:t> untuk </a:t>
            </a:r>
            <a:r>
              <a:rPr lang="en-US" b="1" dirty="0" err="1"/>
              <a:t>membuat</a:t>
            </a:r>
            <a:r>
              <a:rPr lang="en-US" b="1" dirty="0"/>
              <a:t> </a:t>
            </a:r>
            <a:r>
              <a:rPr lang="en-US" b="1" dirty="0" err="1"/>
              <a:t>keputusan</a:t>
            </a:r>
            <a:r>
              <a:rPr lang="en-US" b="1" dirty="0"/>
              <a:t> </a:t>
            </a:r>
            <a:r>
              <a:rPr lang="en-US" b="1" dirty="0" err="1"/>
              <a:t>prioritas</a:t>
            </a:r>
            <a:r>
              <a:rPr lang="en-US" b="1" dirty="0"/>
              <a:t>.</a:t>
            </a:r>
            <a:r>
              <a:rPr lang="en-US" dirty="0"/>
              <a:t> Tim marketing </a:t>
            </a:r>
            <a:r>
              <a:rPr lang="en-US" dirty="0" err="1"/>
              <a:t>perlu</a:t>
            </a:r>
            <a:r>
              <a:rPr lang="en-US" dirty="0"/>
              <a:t> dua </a:t>
            </a:r>
            <a:r>
              <a:rPr lang="en-US" dirty="0" err="1"/>
              <a:t>versi</a:t>
            </a:r>
            <a:r>
              <a:rPr lang="en-US" dirty="0"/>
              <a:t> </a:t>
            </a:r>
            <a:r>
              <a:rPr lang="en-US" dirty="0" err="1"/>
              <a:t>pesan</a:t>
            </a:r>
            <a:r>
              <a:rPr lang="en-US" dirty="0"/>
              <a:t>: </a:t>
            </a:r>
            <a:r>
              <a:rPr lang="en-US" dirty="0" err="1"/>
              <a:t>pesan</a:t>
            </a:r>
            <a:r>
              <a:rPr lang="en-US" dirty="0"/>
              <a:t> </a:t>
            </a:r>
            <a:r>
              <a:rPr lang="en-US" dirty="0" err="1"/>
              <a:t>berbasis</a:t>
            </a:r>
            <a:r>
              <a:rPr lang="en-US" dirty="0"/>
              <a:t> </a:t>
            </a:r>
            <a:r>
              <a:rPr lang="en-US" dirty="0" err="1"/>
              <a:t>skala</a:t>
            </a:r>
            <a:r>
              <a:rPr lang="en-US" dirty="0"/>
              <a:t> untuk Jatim, </a:t>
            </a:r>
            <a:r>
              <a:rPr lang="en-US" dirty="0" err="1"/>
              <a:t>pesan</a:t>
            </a:r>
            <a:r>
              <a:rPr lang="en-US" dirty="0"/>
              <a:t> </a:t>
            </a:r>
            <a:r>
              <a:rPr lang="en-US" dirty="0" err="1"/>
              <a:t>berbasis</a:t>
            </a:r>
            <a:r>
              <a:rPr lang="en-US" dirty="0"/>
              <a:t> </a:t>
            </a:r>
            <a:r>
              <a:rPr lang="en-US" dirty="0" err="1"/>
              <a:t>urgensi</a:t>
            </a:r>
            <a:r>
              <a:rPr lang="en-US" dirty="0"/>
              <a:t> untuk Banten dan Jabar.</a:t>
            </a:r>
          </a:p>
          <a:p>
            <a:r>
              <a:rPr lang="en-US" b="1" dirty="0" err="1"/>
              <a:t>Temuan</a:t>
            </a:r>
            <a:r>
              <a:rPr lang="en-US" b="1" dirty="0"/>
              <a:t> </a:t>
            </a:r>
            <a:r>
              <a:rPr lang="en-US" b="1" dirty="0" err="1"/>
              <a:t>ketiga</a:t>
            </a:r>
            <a:r>
              <a:rPr lang="en-US" b="1" dirty="0"/>
              <a:t>: hotspot </a:t>
            </a:r>
            <a:r>
              <a:rPr lang="en-US" b="1" dirty="0" err="1"/>
              <a:t>utama</a:t>
            </a:r>
            <a:r>
              <a:rPr lang="en-US" b="1" dirty="0"/>
              <a:t> </a:t>
            </a:r>
            <a:r>
              <a:rPr lang="en-US" b="1" dirty="0" err="1"/>
              <a:t>sudah</a:t>
            </a:r>
            <a:r>
              <a:rPr lang="en-US" b="1" dirty="0"/>
              <a:t> </a:t>
            </a:r>
            <a:r>
              <a:rPr lang="en-US" b="1" dirty="0" err="1"/>
              <a:t>teridentifikasi</a:t>
            </a:r>
            <a:r>
              <a:rPr lang="en-US" b="1" dirty="0"/>
              <a:t> </a:t>
            </a:r>
            <a:r>
              <a:rPr lang="en-US" b="1" dirty="0" err="1"/>
              <a:t>jelas</a:t>
            </a:r>
            <a:r>
              <a:rPr lang="en-US" b="1" dirty="0"/>
              <a:t>.</a:t>
            </a:r>
            <a:endParaRPr lang="en-US" dirty="0"/>
          </a:p>
          <a:p>
            <a:r>
              <a:rPr lang="en-US" dirty="0"/>
              <a:t>Surabaya untuk sales, Tangerang Selatan untuk pilot AI Safety </a:t>
            </a:r>
            <a:r>
              <a:rPr lang="en-US" dirty="0" err="1"/>
              <a:t>pertama</a:t>
            </a:r>
            <a:r>
              <a:rPr lang="en-US" dirty="0"/>
              <a:t>, Bandung dan Bekasi untuk </a:t>
            </a:r>
            <a:r>
              <a:rPr lang="en-US" dirty="0" err="1"/>
              <a:t>gelombang</a:t>
            </a:r>
            <a:r>
              <a:rPr lang="en-US" dirty="0"/>
              <a:t> </a:t>
            </a:r>
            <a:r>
              <a:rPr lang="en-US" dirty="0" err="1"/>
              <a:t>kedua</a:t>
            </a:r>
            <a:r>
              <a:rPr lang="en-US" dirty="0"/>
              <a:t>. </a:t>
            </a:r>
            <a:r>
              <a:rPr lang="en-US" dirty="0" err="1"/>
              <a:t>Bukan</a:t>
            </a:r>
            <a:r>
              <a:rPr lang="en-US" dirty="0"/>
              <a:t> </a:t>
            </a:r>
            <a:r>
              <a:rPr lang="en-US" dirty="0" err="1"/>
              <a:t>sekadar</a:t>
            </a:r>
            <a:r>
              <a:rPr lang="en-US" dirty="0"/>
              <a:t> nama </a:t>
            </a:r>
            <a:r>
              <a:rPr lang="en-US" dirty="0" err="1"/>
              <a:t>kota</a:t>
            </a:r>
            <a:r>
              <a:rPr lang="en-US" dirty="0"/>
              <a:t> — </a:t>
            </a:r>
            <a:r>
              <a:rPr lang="en-US" dirty="0" err="1"/>
              <a:t>tapi</a:t>
            </a:r>
            <a:r>
              <a:rPr lang="en-US" dirty="0"/>
              <a:t> masing-masing </a:t>
            </a:r>
            <a:r>
              <a:rPr lang="en-US" dirty="0" err="1"/>
              <a:t>dengan</a:t>
            </a:r>
            <a:r>
              <a:rPr lang="en-US" dirty="0"/>
              <a:t> </a:t>
            </a:r>
            <a:r>
              <a:rPr lang="en-US" dirty="0" err="1"/>
              <a:t>justifikasi</a:t>
            </a:r>
            <a:r>
              <a:rPr lang="en-US" dirty="0"/>
              <a:t> data yang </a:t>
            </a:r>
            <a:r>
              <a:rPr lang="en-US" dirty="0" err="1"/>
              <a:t>sudah</a:t>
            </a:r>
            <a:r>
              <a:rPr lang="en-US" dirty="0"/>
              <a:t> kami </a:t>
            </a:r>
            <a:r>
              <a:rPr lang="en-US" dirty="0" err="1"/>
              <a:t>tunjukkan</a:t>
            </a:r>
            <a:r>
              <a:rPr lang="en-US" dirty="0"/>
              <a:t>.</a:t>
            </a:r>
          </a:p>
          <a:p>
            <a:r>
              <a:rPr lang="en-US" b="1" dirty="0" err="1"/>
              <a:t>Temuan</a:t>
            </a:r>
            <a:r>
              <a:rPr lang="en-US" b="1" dirty="0"/>
              <a:t> </a:t>
            </a:r>
            <a:r>
              <a:rPr lang="en-US" b="1" dirty="0" err="1"/>
              <a:t>keempat</a:t>
            </a:r>
            <a:r>
              <a:rPr lang="en-US" b="1" dirty="0"/>
              <a:t>: </a:t>
            </a:r>
            <a:r>
              <a:rPr lang="en-US" b="1" dirty="0" err="1"/>
              <a:t>potensi</a:t>
            </a:r>
            <a:r>
              <a:rPr lang="en-US" b="1" dirty="0"/>
              <a:t> AI Safety </a:t>
            </a:r>
            <a:r>
              <a:rPr lang="en-US" b="1" dirty="0" err="1"/>
              <a:t>terbesar</a:t>
            </a:r>
            <a:r>
              <a:rPr lang="en-US" b="1" dirty="0"/>
              <a:t> </a:t>
            </a:r>
            <a:r>
              <a:rPr lang="en-US" b="1" dirty="0" err="1"/>
              <a:t>ada</a:t>
            </a:r>
            <a:r>
              <a:rPr lang="en-US" b="1" dirty="0"/>
              <a:t> di dua </a:t>
            </a:r>
            <a:r>
              <a:rPr lang="en-US" b="1" dirty="0" err="1"/>
              <a:t>kawasan</a:t>
            </a:r>
            <a:r>
              <a:rPr lang="en-US" b="1" dirty="0"/>
              <a:t> metropolitan.</a:t>
            </a:r>
            <a:endParaRPr lang="en-US" dirty="0"/>
          </a:p>
          <a:p>
            <a:r>
              <a:rPr lang="en-US" dirty="0"/>
              <a:t>Tangerang Raya dan Bandung Raya </a:t>
            </a:r>
            <a:r>
              <a:rPr lang="en-US" dirty="0" err="1"/>
              <a:t>menunjukkan</a:t>
            </a:r>
            <a:r>
              <a:rPr lang="en-US" dirty="0"/>
              <a:t> </a:t>
            </a:r>
            <a:r>
              <a:rPr lang="en-US" dirty="0" err="1"/>
              <a:t>kombinasi</a:t>
            </a:r>
            <a:r>
              <a:rPr lang="en-US" dirty="0"/>
              <a:t> risk density </a:t>
            </a:r>
            <a:r>
              <a:rPr lang="en-US" dirty="0" err="1"/>
              <a:t>tinggi</a:t>
            </a:r>
            <a:r>
              <a:rPr lang="en-US" dirty="0"/>
              <a:t> </a:t>
            </a:r>
            <a:r>
              <a:rPr lang="en-US" dirty="0" err="1"/>
              <a:t>sekaligus</a:t>
            </a:r>
            <a:r>
              <a:rPr lang="en-US" dirty="0"/>
              <a:t> </a:t>
            </a:r>
            <a:r>
              <a:rPr lang="en-US" dirty="0" err="1"/>
              <a:t>kepadatan</a:t>
            </a:r>
            <a:r>
              <a:rPr lang="en-US" dirty="0"/>
              <a:t> </a:t>
            </a:r>
            <a:r>
              <a:rPr lang="en-US" dirty="0" err="1"/>
              <a:t>perusahaan</a:t>
            </a:r>
            <a:r>
              <a:rPr lang="en-US" dirty="0"/>
              <a:t> yang </a:t>
            </a:r>
            <a:r>
              <a:rPr lang="en-US" dirty="0" err="1"/>
              <a:t>substansial</a:t>
            </a:r>
            <a:r>
              <a:rPr lang="en-US" dirty="0"/>
              <a:t>. </a:t>
            </a:r>
            <a:r>
              <a:rPr lang="en-US" b="1" dirty="0"/>
              <a:t>Dua </a:t>
            </a:r>
            <a:r>
              <a:rPr lang="en-US" b="1" dirty="0" err="1"/>
              <a:t>kawasan</a:t>
            </a:r>
            <a:r>
              <a:rPr lang="en-US" b="1" dirty="0"/>
              <a:t> </a:t>
            </a:r>
            <a:r>
              <a:rPr lang="en-US" b="1" dirty="0" err="1"/>
              <a:t>inilah</a:t>
            </a:r>
            <a:r>
              <a:rPr lang="en-US" b="1" dirty="0"/>
              <a:t> di mana ROI </a:t>
            </a:r>
            <a:r>
              <a:rPr lang="en-US" b="1" dirty="0" err="1"/>
              <a:t>implementasi</a:t>
            </a:r>
            <a:r>
              <a:rPr lang="en-US" b="1" dirty="0"/>
              <a:t> AI Safety paling </a:t>
            </a:r>
            <a:r>
              <a:rPr lang="en-US" b="1" dirty="0" err="1"/>
              <a:t>cepat</a:t>
            </a:r>
            <a:r>
              <a:rPr lang="en-US" b="1" dirty="0"/>
              <a:t> </a:t>
            </a:r>
            <a:r>
              <a:rPr lang="en-US" b="1" dirty="0" err="1"/>
              <a:t>bisa</a:t>
            </a:r>
            <a:r>
              <a:rPr lang="en-US" b="1" dirty="0"/>
              <a:t> </a:t>
            </a:r>
            <a:r>
              <a:rPr lang="en-US" b="1" dirty="0" err="1"/>
              <a:t>dibuktikan</a:t>
            </a:r>
            <a:r>
              <a:rPr lang="en-US" dirty="0"/>
              <a:t> — </a:t>
            </a:r>
            <a:r>
              <a:rPr lang="en-US" dirty="0" err="1"/>
              <a:t>karena</a:t>
            </a:r>
            <a:r>
              <a:rPr lang="en-US" dirty="0"/>
              <a:t> </a:t>
            </a:r>
            <a:r>
              <a:rPr lang="en-US" dirty="0" err="1"/>
              <a:t>masalahnya</a:t>
            </a:r>
            <a:r>
              <a:rPr lang="en-US" dirty="0"/>
              <a:t> </a:t>
            </a:r>
            <a:r>
              <a:rPr lang="en-US" dirty="0" err="1"/>
              <a:t>nyata</a:t>
            </a:r>
            <a:r>
              <a:rPr lang="en-US" dirty="0"/>
              <a:t>, </a:t>
            </a:r>
            <a:r>
              <a:rPr lang="en-US" dirty="0" err="1"/>
              <a:t>kliennya</a:t>
            </a:r>
            <a:r>
              <a:rPr lang="en-US" dirty="0"/>
              <a:t> </a:t>
            </a:r>
            <a:r>
              <a:rPr lang="en-US" dirty="0" err="1"/>
              <a:t>banyak</a:t>
            </a:r>
            <a:r>
              <a:rPr lang="en-US" dirty="0"/>
              <a:t>, dan </a:t>
            </a:r>
            <a:r>
              <a:rPr lang="en-US" dirty="0" err="1"/>
              <a:t>argumen</a:t>
            </a:r>
            <a:r>
              <a:rPr lang="en-US" dirty="0"/>
              <a:t> </a:t>
            </a:r>
            <a:r>
              <a:rPr lang="en-US" dirty="0" err="1"/>
              <a:t>bisnisnya</a:t>
            </a:r>
            <a:r>
              <a:rPr lang="en-US" dirty="0"/>
              <a:t> </a:t>
            </a:r>
            <a:r>
              <a:rPr lang="en-US" dirty="0" err="1"/>
              <a:t>mudah</a:t>
            </a:r>
            <a:r>
              <a:rPr lang="en-US" dirty="0"/>
              <a:t> </a:t>
            </a:r>
            <a:r>
              <a:rPr lang="en-US" dirty="0" err="1"/>
              <a:t>dikomunikasikan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a:t>
            </a:r>
            <a:r>
              <a:rPr lang="en-US" dirty="0" err="1"/>
              <a:t>keempat</a:t>
            </a:r>
            <a:r>
              <a:rPr lang="en-US" dirty="0"/>
              <a:t> </a:t>
            </a:r>
            <a:r>
              <a:rPr lang="en-US" dirty="0" err="1"/>
              <a:t>temuan</a:t>
            </a:r>
            <a:r>
              <a:rPr lang="en-US" dirty="0"/>
              <a:t> </a:t>
            </a:r>
            <a:r>
              <a:rPr lang="en-US" dirty="0" err="1"/>
              <a:t>itu</a:t>
            </a:r>
            <a:r>
              <a:rPr lang="en-US" dirty="0"/>
              <a:t>, kami </a:t>
            </a:r>
            <a:r>
              <a:rPr lang="en-US" dirty="0" err="1"/>
              <a:t>menyusun</a:t>
            </a:r>
            <a:r>
              <a:rPr lang="en-US" dirty="0"/>
              <a:t> </a:t>
            </a:r>
            <a:r>
              <a:rPr lang="en-US" dirty="0" err="1"/>
              <a:t>rekomendasi</a:t>
            </a:r>
            <a:r>
              <a:rPr lang="en-US" dirty="0"/>
              <a:t> </a:t>
            </a:r>
            <a:r>
              <a:rPr lang="en-US" dirty="0" err="1"/>
              <a:t>dalam</a:t>
            </a:r>
            <a:r>
              <a:rPr lang="en-US" dirty="0"/>
              <a:t> </a:t>
            </a:r>
            <a:r>
              <a:rPr lang="en-US" dirty="0" err="1"/>
              <a:t>tiga</a:t>
            </a:r>
            <a:r>
              <a:rPr lang="en-US" dirty="0"/>
              <a:t> horizon </a:t>
            </a:r>
            <a:r>
              <a:rPr lang="en-US" dirty="0" err="1"/>
              <a:t>waktu</a:t>
            </a:r>
            <a:r>
              <a:rPr lang="en-US" dirty="0"/>
              <a:t>.</a:t>
            </a:r>
          </a:p>
          <a:p>
            <a:r>
              <a:rPr lang="en-US" b="1" dirty="0"/>
              <a:t>Short term, </a:t>
            </a:r>
            <a:r>
              <a:rPr lang="en-US" b="1" dirty="0" err="1"/>
              <a:t>bulan</a:t>
            </a:r>
            <a:r>
              <a:rPr lang="en-US" b="1" dirty="0"/>
              <a:t> </a:t>
            </a:r>
            <a:r>
              <a:rPr lang="en-US" b="1" dirty="0" err="1"/>
              <a:t>satu</a:t>
            </a:r>
            <a:r>
              <a:rPr lang="en-US" b="1" dirty="0"/>
              <a:t> dan dua: </a:t>
            </a:r>
            <a:r>
              <a:rPr lang="en-US" b="1" dirty="0" err="1"/>
              <a:t>bergerak</a:t>
            </a:r>
            <a:r>
              <a:rPr lang="en-US" b="1" dirty="0"/>
              <a:t> </a:t>
            </a:r>
            <a:r>
              <a:rPr lang="en-US" b="1" dirty="0" err="1"/>
              <a:t>cepat</a:t>
            </a:r>
            <a:r>
              <a:rPr lang="en-US" b="1" dirty="0"/>
              <a:t> di Jawa Timur dan </a:t>
            </a:r>
            <a:r>
              <a:rPr lang="en-US" b="1" dirty="0" err="1"/>
              <a:t>mulai</a:t>
            </a:r>
            <a:r>
              <a:rPr lang="en-US" b="1" dirty="0"/>
              <a:t> </a:t>
            </a:r>
            <a:r>
              <a:rPr lang="en-US" b="1" dirty="0" err="1"/>
              <a:t>menyiapkan</a:t>
            </a:r>
            <a:r>
              <a:rPr lang="en-US" b="1" dirty="0"/>
              <a:t> pilot.</a:t>
            </a:r>
            <a:endParaRPr lang="en-US" dirty="0"/>
          </a:p>
          <a:p>
            <a:r>
              <a:rPr lang="en-US" dirty="0"/>
              <a:t>Ini </a:t>
            </a:r>
            <a:r>
              <a:rPr lang="en-US" dirty="0" err="1"/>
              <a:t>waktunya</a:t>
            </a:r>
            <a:r>
              <a:rPr lang="en-US" dirty="0"/>
              <a:t> </a:t>
            </a:r>
            <a:r>
              <a:rPr lang="en-US" dirty="0" err="1"/>
              <a:t>tim</a:t>
            </a:r>
            <a:r>
              <a:rPr lang="en-US" dirty="0"/>
              <a:t> sales </a:t>
            </a:r>
            <a:r>
              <a:rPr lang="en-US" dirty="0" err="1"/>
              <a:t>fokus</a:t>
            </a:r>
            <a:r>
              <a:rPr lang="en-US" dirty="0"/>
              <a:t>. </a:t>
            </a:r>
            <a:r>
              <a:rPr lang="en-US" dirty="0" err="1"/>
              <a:t>Bukan</a:t>
            </a:r>
            <a:r>
              <a:rPr lang="en-US" dirty="0"/>
              <a:t> </a:t>
            </a:r>
            <a:r>
              <a:rPr lang="en-US" dirty="0" err="1"/>
              <a:t>menyebar</a:t>
            </a:r>
            <a:r>
              <a:rPr lang="en-US" dirty="0"/>
              <a:t> ke </a:t>
            </a:r>
            <a:r>
              <a:rPr lang="en-US" dirty="0" err="1"/>
              <a:t>semua</a:t>
            </a:r>
            <a:r>
              <a:rPr lang="en-US" dirty="0"/>
              <a:t> </a:t>
            </a:r>
            <a:r>
              <a:rPr lang="en-US" dirty="0" err="1"/>
              <a:t>kota</a:t>
            </a:r>
            <a:r>
              <a:rPr lang="en-US" dirty="0"/>
              <a:t>, </a:t>
            </a:r>
            <a:r>
              <a:rPr lang="en-US" dirty="0" err="1"/>
              <a:t>tapi</a:t>
            </a:r>
            <a:r>
              <a:rPr lang="en-US" dirty="0"/>
              <a:t> </a:t>
            </a:r>
            <a:r>
              <a:rPr lang="en-US" dirty="0" err="1"/>
              <a:t>masuk</a:t>
            </a:r>
            <a:r>
              <a:rPr lang="en-US" dirty="0"/>
              <a:t> </a:t>
            </a:r>
            <a:r>
              <a:rPr lang="en-US" dirty="0" err="1"/>
              <a:t>dalam</a:t>
            </a:r>
            <a:r>
              <a:rPr lang="en-US" dirty="0"/>
              <a:t> di Surabaya — workshop gratis </a:t>
            </a:r>
            <a:r>
              <a:rPr lang="en-US" dirty="0" err="1"/>
              <a:t>sebagai</a:t>
            </a:r>
            <a:r>
              <a:rPr lang="en-US" dirty="0"/>
              <a:t> conversation starter, </a:t>
            </a:r>
            <a:r>
              <a:rPr lang="en-US" dirty="0" err="1"/>
              <a:t>lalu</a:t>
            </a:r>
            <a:r>
              <a:rPr lang="en-US" dirty="0"/>
              <a:t> </a:t>
            </a:r>
            <a:r>
              <a:rPr lang="en-US" dirty="0" err="1"/>
              <a:t>identifikasi</a:t>
            </a:r>
            <a:r>
              <a:rPr lang="en-US" dirty="0"/>
              <a:t> 100 </a:t>
            </a:r>
            <a:r>
              <a:rPr lang="en-US" dirty="0" err="1"/>
              <a:t>perusahaan</a:t>
            </a:r>
            <a:r>
              <a:rPr lang="en-US" dirty="0"/>
              <a:t> target untuk outreach </a:t>
            </a:r>
            <a:r>
              <a:rPr lang="en-US" dirty="0" err="1"/>
              <a:t>langsung</a:t>
            </a:r>
            <a:r>
              <a:rPr lang="en-US" dirty="0"/>
              <a:t>. </a:t>
            </a:r>
            <a:r>
              <a:rPr lang="en-US" dirty="0" err="1"/>
              <a:t>Paralel</a:t>
            </a:r>
            <a:r>
              <a:rPr lang="en-US" dirty="0"/>
              <a:t> </a:t>
            </a:r>
            <a:r>
              <a:rPr lang="en-US" dirty="0" err="1"/>
              <a:t>dengan</a:t>
            </a:r>
            <a:r>
              <a:rPr lang="en-US" dirty="0"/>
              <a:t> </a:t>
            </a:r>
            <a:r>
              <a:rPr lang="en-US" dirty="0" err="1"/>
              <a:t>itu</a:t>
            </a:r>
            <a:r>
              <a:rPr lang="en-US" dirty="0"/>
              <a:t>, </a:t>
            </a:r>
            <a:r>
              <a:rPr lang="en-US" dirty="0" err="1"/>
              <a:t>mulai</a:t>
            </a:r>
            <a:r>
              <a:rPr lang="en-US" dirty="0"/>
              <a:t> </a:t>
            </a:r>
            <a:r>
              <a:rPr lang="en-US" dirty="0" err="1"/>
              <a:t>persiapan</a:t>
            </a:r>
            <a:r>
              <a:rPr lang="en-US" dirty="0"/>
              <a:t> </a:t>
            </a:r>
            <a:r>
              <a:rPr lang="en-US" dirty="0" err="1"/>
              <a:t>administratif</a:t>
            </a:r>
            <a:r>
              <a:rPr lang="en-US" dirty="0"/>
              <a:t> dan </a:t>
            </a:r>
            <a:r>
              <a:rPr lang="en-US" dirty="0" err="1"/>
              <a:t>teknis</a:t>
            </a:r>
            <a:r>
              <a:rPr lang="en-US" dirty="0"/>
              <a:t> untuk pilot di Tangerang Selatan. Dua </a:t>
            </a:r>
            <a:r>
              <a:rPr lang="en-US" dirty="0" err="1"/>
              <a:t>bulan</a:t>
            </a:r>
            <a:r>
              <a:rPr lang="en-US" dirty="0"/>
              <a:t> </a:t>
            </a:r>
            <a:r>
              <a:rPr lang="en-US" dirty="0" err="1"/>
              <a:t>pertama</a:t>
            </a:r>
            <a:r>
              <a:rPr lang="en-US" dirty="0"/>
              <a:t> ini </a:t>
            </a:r>
            <a:r>
              <a:rPr lang="en-US" dirty="0" err="1"/>
              <a:t>soal</a:t>
            </a:r>
            <a:r>
              <a:rPr lang="en-US" dirty="0"/>
              <a:t> </a:t>
            </a:r>
            <a:r>
              <a:rPr lang="en-US" b="1" dirty="0" err="1"/>
              <a:t>membangun</a:t>
            </a:r>
            <a:r>
              <a:rPr lang="en-US" b="1" dirty="0"/>
              <a:t> pipeline</a:t>
            </a:r>
            <a:r>
              <a:rPr lang="en-US" dirty="0"/>
              <a:t>, </a:t>
            </a:r>
            <a:r>
              <a:rPr lang="en-US" dirty="0" err="1"/>
              <a:t>bukan</a:t>
            </a:r>
            <a:r>
              <a:rPr lang="en-US" dirty="0"/>
              <a:t> </a:t>
            </a:r>
            <a:r>
              <a:rPr lang="en-US" dirty="0" err="1"/>
              <a:t>menutup</a:t>
            </a:r>
            <a:r>
              <a:rPr lang="en-US" dirty="0"/>
              <a:t> deal.</a:t>
            </a:r>
          </a:p>
          <a:p>
            <a:r>
              <a:rPr lang="en-US" b="1" dirty="0"/>
              <a:t>Medium term, </a:t>
            </a:r>
            <a:r>
              <a:rPr lang="en-US" b="1" dirty="0" err="1"/>
              <a:t>bulan</a:t>
            </a:r>
            <a:r>
              <a:rPr lang="en-US" b="1" dirty="0"/>
              <a:t> </a:t>
            </a:r>
            <a:r>
              <a:rPr lang="en-US" b="1" dirty="0" err="1"/>
              <a:t>tiga</a:t>
            </a:r>
            <a:r>
              <a:rPr lang="en-US" b="1" dirty="0"/>
              <a:t> dan </a:t>
            </a:r>
            <a:r>
              <a:rPr lang="en-US" b="1" dirty="0" err="1"/>
              <a:t>empat</a:t>
            </a:r>
            <a:r>
              <a:rPr lang="en-US" b="1" dirty="0"/>
              <a:t>: </a:t>
            </a:r>
            <a:r>
              <a:rPr lang="en-US" b="1" dirty="0" err="1"/>
              <a:t>jalankan</a:t>
            </a:r>
            <a:r>
              <a:rPr lang="en-US" b="1" dirty="0"/>
              <a:t> pilot dan </a:t>
            </a:r>
            <a:r>
              <a:rPr lang="en-US" b="1" dirty="0" err="1"/>
              <a:t>mulai</a:t>
            </a:r>
            <a:r>
              <a:rPr lang="en-US" b="1" dirty="0"/>
              <a:t> </a:t>
            </a:r>
            <a:r>
              <a:rPr lang="en-US" b="1" dirty="0" err="1"/>
              <a:t>masuk</a:t>
            </a:r>
            <a:r>
              <a:rPr lang="en-US" b="1" dirty="0"/>
              <a:t> Jawa Barat.</a:t>
            </a:r>
            <a:endParaRPr lang="en-US" dirty="0"/>
          </a:p>
          <a:p>
            <a:r>
              <a:rPr lang="en-US" dirty="0"/>
              <a:t>Pilot </a:t>
            </a:r>
            <a:r>
              <a:rPr lang="en-US" dirty="0" err="1"/>
              <a:t>resmi</a:t>
            </a:r>
            <a:r>
              <a:rPr lang="en-US" dirty="0"/>
              <a:t> di </a:t>
            </a:r>
            <a:r>
              <a:rPr lang="en-US" dirty="0" err="1"/>
              <a:t>Tangsel</a:t>
            </a:r>
            <a:r>
              <a:rPr lang="en-US" dirty="0"/>
              <a:t> </a:t>
            </a:r>
            <a:r>
              <a:rPr lang="en-US" dirty="0" err="1"/>
              <a:t>atau</a:t>
            </a:r>
            <a:r>
              <a:rPr lang="en-US" dirty="0"/>
              <a:t> Bandung untuk 10 </a:t>
            </a:r>
            <a:r>
              <a:rPr lang="en-US" dirty="0" err="1"/>
              <a:t>perusahaan</a:t>
            </a:r>
            <a:r>
              <a:rPr lang="en-US" dirty="0"/>
              <a:t>. Ini adalah </a:t>
            </a:r>
            <a:r>
              <a:rPr lang="en-US" dirty="0" err="1"/>
              <a:t>fase</a:t>
            </a:r>
            <a:r>
              <a:rPr lang="en-US" dirty="0"/>
              <a:t> paling </a:t>
            </a:r>
            <a:r>
              <a:rPr lang="en-US" dirty="0" err="1"/>
              <a:t>kritis</a:t>
            </a:r>
            <a:r>
              <a:rPr lang="en-US" dirty="0"/>
              <a:t> di </a:t>
            </a:r>
            <a:r>
              <a:rPr lang="en-US" dirty="0" err="1"/>
              <a:t>seluruh</a:t>
            </a:r>
            <a:r>
              <a:rPr lang="en-US" dirty="0"/>
              <a:t> roadmap — </a:t>
            </a:r>
            <a:r>
              <a:rPr lang="en-US" dirty="0" err="1"/>
              <a:t>karena</a:t>
            </a:r>
            <a:r>
              <a:rPr lang="en-US" dirty="0"/>
              <a:t> </a:t>
            </a:r>
            <a:r>
              <a:rPr lang="en-US" dirty="0" err="1"/>
              <a:t>hasilnya</a:t>
            </a:r>
            <a:r>
              <a:rPr lang="en-US" dirty="0"/>
              <a:t> </a:t>
            </a:r>
            <a:r>
              <a:rPr lang="en-US" dirty="0" err="1"/>
              <a:t>menentukan</a:t>
            </a:r>
            <a:r>
              <a:rPr lang="en-US" dirty="0"/>
              <a:t> </a:t>
            </a:r>
            <a:r>
              <a:rPr lang="en-US" dirty="0" err="1"/>
              <a:t>apakah</a:t>
            </a:r>
            <a:r>
              <a:rPr lang="en-US" dirty="0"/>
              <a:t> </a:t>
            </a:r>
            <a:r>
              <a:rPr lang="en-US" dirty="0" err="1"/>
              <a:t>ada</a:t>
            </a:r>
            <a:r>
              <a:rPr lang="en-US" dirty="0"/>
              <a:t> </a:t>
            </a:r>
            <a:r>
              <a:rPr lang="en-US" dirty="0" err="1"/>
              <a:t>cerita</a:t>
            </a:r>
            <a:r>
              <a:rPr lang="en-US" dirty="0"/>
              <a:t> yang </a:t>
            </a:r>
            <a:r>
              <a:rPr lang="en-US" dirty="0" err="1"/>
              <a:t>bisa</a:t>
            </a:r>
            <a:r>
              <a:rPr lang="en-US" dirty="0"/>
              <a:t> </a:t>
            </a:r>
            <a:r>
              <a:rPr lang="en-US" dirty="0" err="1"/>
              <a:t>dijual</a:t>
            </a:r>
            <a:r>
              <a:rPr lang="en-US" dirty="0"/>
              <a:t>. Kalau pilot </a:t>
            </a:r>
            <a:r>
              <a:rPr lang="en-US" dirty="0" err="1"/>
              <a:t>berjalan</a:t>
            </a:r>
            <a:r>
              <a:rPr lang="en-US" dirty="0"/>
              <a:t> </a:t>
            </a:r>
            <a:r>
              <a:rPr lang="en-US" dirty="0" err="1"/>
              <a:t>baik</a:t>
            </a:r>
            <a:r>
              <a:rPr lang="en-US" dirty="0"/>
              <a:t> dan </a:t>
            </a:r>
            <a:r>
              <a:rPr lang="en-US" dirty="0" err="1"/>
              <a:t>menghasilkan</a:t>
            </a:r>
            <a:r>
              <a:rPr lang="en-US" dirty="0"/>
              <a:t> data </a:t>
            </a:r>
            <a:r>
              <a:rPr lang="en-US" dirty="0" err="1"/>
              <a:t>pengurangan</a:t>
            </a:r>
            <a:r>
              <a:rPr lang="en-US" dirty="0"/>
              <a:t> </a:t>
            </a:r>
            <a:r>
              <a:rPr lang="en-US" dirty="0" err="1"/>
              <a:t>insiden</a:t>
            </a:r>
            <a:r>
              <a:rPr lang="en-US" dirty="0"/>
              <a:t> yang </a:t>
            </a:r>
            <a:r>
              <a:rPr lang="en-US" dirty="0" err="1"/>
              <a:t>terukur</a:t>
            </a:r>
            <a:r>
              <a:rPr lang="en-US" dirty="0"/>
              <a:t>, </a:t>
            </a:r>
            <a:r>
              <a:rPr lang="en-US" dirty="0" err="1"/>
              <a:t>itu</a:t>
            </a:r>
            <a:r>
              <a:rPr lang="en-US" dirty="0"/>
              <a:t> </a:t>
            </a:r>
            <a:r>
              <a:rPr lang="en-US" dirty="0" err="1"/>
              <a:t>menjadi</a:t>
            </a:r>
            <a:r>
              <a:rPr lang="en-US" dirty="0"/>
              <a:t> </a:t>
            </a:r>
            <a:r>
              <a:rPr lang="en-US" b="1" dirty="0" err="1"/>
              <a:t>senjata</a:t>
            </a:r>
            <a:r>
              <a:rPr lang="en-US" b="1" dirty="0"/>
              <a:t> </a:t>
            </a:r>
            <a:r>
              <a:rPr lang="en-US" b="1" dirty="0" err="1"/>
              <a:t>komersial</a:t>
            </a:r>
            <a:r>
              <a:rPr lang="en-US" b="1" dirty="0"/>
              <a:t> </a:t>
            </a:r>
            <a:r>
              <a:rPr lang="en-US" b="1" dirty="0" err="1"/>
              <a:t>terkuat</a:t>
            </a:r>
            <a:r>
              <a:rPr lang="en-US" dirty="0"/>
              <a:t> untuk </a:t>
            </a:r>
            <a:r>
              <a:rPr lang="en-US" dirty="0" err="1"/>
              <a:t>masuk</a:t>
            </a:r>
            <a:r>
              <a:rPr lang="en-US" dirty="0"/>
              <a:t> ke </a:t>
            </a:r>
            <a:r>
              <a:rPr lang="en-US" dirty="0" err="1"/>
              <a:t>klien</a:t>
            </a:r>
            <a:r>
              <a:rPr lang="en-US" dirty="0"/>
              <a:t> yang </a:t>
            </a:r>
            <a:r>
              <a:rPr lang="en-US" dirty="0" err="1"/>
              <a:t>lebih</a:t>
            </a:r>
            <a:r>
              <a:rPr lang="en-US" dirty="0"/>
              <a:t> </a:t>
            </a:r>
            <a:r>
              <a:rPr lang="en-US" dirty="0" err="1"/>
              <a:t>besar</a:t>
            </a:r>
            <a:r>
              <a:rPr lang="en-US" dirty="0"/>
              <a:t>. Di </a:t>
            </a:r>
            <a:r>
              <a:rPr lang="en-US" dirty="0" err="1"/>
              <a:t>sisi</a:t>
            </a:r>
            <a:r>
              <a:rPr lang="en-US" dirty="0"/>
              <a:t> lain, </a:t>
            </a:r>
            <a:r>
              <a:rPr lang="en-US" dirty="0" err="1"/>
              <a:t>mulai</a:t>
            </a:r>
            <a:r>
              <a:rPr lang="en-US" dirty="0"/>
              <a:t> </a:t>
            </a:r>
            <a:r>
              <a:rPr lang="en-US" dirty="0" err="1"/>
              <a:t>perluas</a:t>
            </a:r>
            <a:r>
              <a:rPr lang="en-US" dirty="0"/>
              <a:t> sales ke Jawa Barat </a:t>
            </a:r>
            <a:r>
              <a:rPr lang="en-US" dirty="0" err="1"/>
              <a:t>dengan</a:t>
            </a:r>
            <a:r>
              <a:rPr lang="en-US" dirty="0"/>
              <a:t> </a:t>
            </a:r>
            <a:r>
              <a:rPr lang="en-US" dirty="0" err="1"/>
              <a:t>pendekatan</a:t>
            </a:r>
            <a:r>
              <a:rPr lang="en-US" dirty="0"/>
              <a:t> partnership.</a:t>
            </a:r>
          </a:p>
          <a:p>
            <a:r>
              <a:rPr lang="en-US" b="1" dirty="0"/>
              <a:t>Long term, </a:t>
            </a:r>
            <a:r>
              <a:rPr lang="en-US" b="1" dirty="0" err="1"/>
              <a:t>bulan</a:t>
            </a:r>
            <a:r>
              <a:rPr lang="en-US" b="1" dirty="0"/>
              <a:t> lima ke </a:t>
            </a:r>
            <a:r>
              <a:rPr lang="en-US" b="1" dirty="0" err="1"/>
              <a:t>atas</a:t>
            </a:r>
            <a:r>
              <a:rPr lang="en-US" b="1" dirty="0"/>
              <a:t>: </a:t>
            </a:r>
            <a:r>
              <a:rPr lang="en-US" b="1" dirty="0" err="1"/>
              <a:t>skalakan</a:t>
            </a:r>
            <a:r>
              <a:rPr lang="en-US" b="1" dirty="0"/>
              <a:t> dan </a:t>
            </a:r>
            <a:r>
              <a:rPr lang="en-US" b="1" dirty="0" err="1"/>
              <a:t>perkuat</a:t>
            </a:r>
            <a:r>
              <a:rPr lang="en-US" b="1" dirty="0"/>
              <a:t> </a:t>
            </a:r>
            <a:r>
              <a:rPr lang="en-US" b="1" dirty="0" err="1"/>
              <a:t>posisi</a:t>
            </a:r>
            <a:r>
              <a:rPr lang="en-US" b="1" dirty="0"/>
              <a:t>.</a:t>
            </a:r>
            <a:endParaRPr lang="en-US" dirty="0"/>
          </a:p>
          <a:p>
            <a:r>
              <a:rPr lang="en-US" dirty="0" err="1"/>
              <a:t>Setelah</a:t>
            </a:r>
            <a:r>
              <a:rPr lang="en-US" dirty="0"/>
              <a:t> case study </a:t>
            </a:r>
            <a:r>
              <a:rPr lang="en-US" dirty="0" err="1"/>
              <a:t>ada</a:t>
            </a:r>
            <a:r>
              <a:rPr lang="en-US" dirty="0"/>
              <a:t> di </a:t>
            </a:r>
            <a:r>
              <a:rPr lang="en-US" dirty="0" err="1"/>
              <a:t>tangan</a:t>
            </a:r>
            <a:r>
              <a:rPr lang="en-US" dirty="0"/>
              <a:t>, </a:t>
            </a:r>
            <a:r>
              <a:rPr lang="en-US" dirty="0" err="1"/>
              <a:t>skalakan</a:t>
            </a:r>
            <a:r>
              <a:rPr lang="en-US" dirty="0"/>
              <a:t> ke Bandung, Bekasi, dan Semarang. Mulai </a:t>
            </a:r>
            <a:r>
              <a:rPr lang="en-US" dirty="0" err="1"/>
              <a:t>kembangkan</a:t>
            </a:r>
            <a:r>
              <a:rPr lang="en-US" dirty="0"/>
              <a:t> </a:t>
            </a:r>
            <a:r>
              <a:rPr lang="en-US" dirty="0" err="1"/>
              <a:t>fitur</a:t>
            </a:r>
            <a:r>
              <a:rPr lang="en-US" dirty="0"/>
              <a:t> predictive safety monitoring — </a:t>
            </a:r>
            <a:r>
              <a:rPr lang="en-US" dirty="0" err="1"/>
              <a:t>tidak</a:t>
            </a:r>
            <a:r>
              <a:rPr lang="en-US" dirty="0"/>
              <a:t> </a:t>
            </a:r>
            <a:r>
              <a:rPr lang="en-US" dirty="0" err="1"/>
              <a:t>hanya</a:t>
            </a:r>
            <a:r>
              <a:rPr lang="en-US" dirty="0"/>
              <a:t> </a:t>
            </a:r>
            <a:r>
              <a:rPr lang="en-US" dirty="0" err="1"/>
              <a:t>reaktif</a:t>
            </a:r>
            <a:r>
              <a:rPr lang="en-US" dirty="0"/>
              <a:t> </a:t>
            </a:r>
            <a:r>
              <a:rPr lang="en-US" dirty="0" err="1"/>
              <a:t>mendeteksi</a:t>
            </a:r>
            <a:r>
              <a:rPr lang="en-US" dirty="0"/>
              <a:t> </a:t>
            </a:r>
            <a:r>
              <a:rPr lang="en-US" dirty="0" err="1"/>
              <a:t>insiden</a:t>
            </a:r>
            <a:r>
              <a:rPr lang="en-US" dirty="0"/>
              <a:t>, </a:t>
            </a:r>
            <a:r>
              <a:rPr lang="en-US" dirty="0" err="1"/>
              <a:t>tapi</a:t>
            </a:r>
            <a:r>
              <a:rPr lang="en-US" dirty="0"/>
              <a:t> </a:t>
            </a:r>
            <a:r>
              <a:rPr lang="en-US" dirty="0" err="1"/>
              <a:t>proaktif</a:t>
            </a:r>
            <a:r>
              <a:rPr lang="en-US" dirty="0"/>
              <a:t> </a:t>
            </a:r>
            <a:r>
              <a:rPr lang="en-US" dirty="0" err="1"/>
              <a:t>memprediksi</a:t>
            </a:r>
            <a:r>
              <a:rPr lang="en-US" dirty="0"/>
              <a:t> area </a:t>
            </a:r>
            <a:r>
              <a:rPr lang="en-US" dirty="0" err="1"/>
              <a:t>berisiko</a:t>
            </a:r>
            <a:r>
              <a:rPr lang="en-US" dirty="0"/>
              <a:t> </a:t>
            </a:r>
            <a:r>
              <a:rPr lang="en-US" dirty="0" err="1"/>
              <a:t>berdasarkan</a:t>
            </a:r>
            <a:r>
              <a:rPr lang="en-US" dirty="0"/>
              <a:t> </a:t>
            </a:r>
            <a:r>
              <a:rPr lang="en-US" dirty="0" err="1"/>
              <a:t>pola</a:t>
            </a:r>
            <a:r>
              <a:rPr lang="en-US" dirty="0"/>
              <a:t> </a:t>
            </a:r>
            <a:r>
              <a:rPr lang="en-US" dirty="0" err="1"/>
              <a:t>historis</a:t>
            </a:r>
            <a:r>
              <a:rPr lang="en-US" dirty="0"/>
              <a:t>. Target </a:t>
            </a:r>
            <a:r>
              <a:rPr lang="en-US" dirty="0" err="1"/>
              <a:t>jangka</a:t>
            </a:r>
            <a:r>
              <a:rPr lang="en-US" dirty="0"/>
              <a:t> </a:t>
            </a:r>
            <a:r>
              <a:rPr lang="en-US" dirty="0" err="1"/>
              <a:t>panjangnya</a:t>
            </a:r>
            <a:r>
              <a:rPr lang="en-US" dirty="0"/>
              <a:t> </a:t>
            </a:r>
            <a:r>
              <a:rPr lang="en-US" dirty="0" err="1"/>
              <a:t>satu</a:t>
            </a:r>
            <a:r>
              <a:rPr lang="en-US" dirty="0"/>
              <a:t>: </a:t>
            </a:r>
            <a:r>
              <a:rPr lang="en-US" b="1" dirty="0" err="1"/>
              <a:t>SumThing</a:t>
            </a:r>
            <a:r>
              <a:rPr lang="en-US" b="1" dirty="0"/>
              <a:t> </a:t>
            </a:r>
            <a:r>
              <a:rPr lang="en-US" b="1" dirty="0" err="1"/>
              <a:t>dikenal</a:t>
            </a:r>
            <a:r>
              <a:rPr lang="en-US" b="1" dirty="0"/>
              <a:t> </a:t>
            </a:r>
            <a:r>
              <a:rPr lang="en-US" b="1" dirty="0" err="1"/>
              <a:t>sebagai</a:t>
            </a:r>
            <a:r>
              <a:rPr lang="en-US" b="1" dirty="0"/>
              <a:t> AI Safety partner </a:t>
            </a:r>
            <a:r>
              <a:rPr lang="en-US" b="1" dirty="0" err="1"/>
              <a:t>nomor</a:t>
            </a:r>
            <a:r>
              <a:rPr lang="en-US" b="1" dirty="0"/>
              <a:t> </a:t>
            </a:r>
            <a:r>
              <a:rPr lang="en-US" b="1" dirty="0" err="1"/>
              <a:t>satu</a:t>
            </a:r>
            <a:r>
              <a:rPr lang="en-US" b="1" dirty="0"/>
              <a:t> untuk </a:t>
            </a:r>
            <a:r>
              <a:rPr lang="en-US" b="1" dirty="0" err="1"/>
              <a:t>sektor</a:t>
            </a:r>
            <a:r>
              <a:rPr lang="en-US" b="1" dirty="0"/>
              <a:t> </a:t>
            </a:r>
            <a:r>
              <a:rPr lang="en-US" b="1" dirty="0" err="1"/>
              <a:t>konstruksi</a:t>
            </a:r>
            <a:r>
              <a:rPr lang="en-US" b="1" dirty="0"/>
              <a:t> di Pulau Jawa.</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"Supaya </a:t>
            </a:r>
            <a:r>
              <a:rPr lang="en-US" dirty="0" err="1"/>
              <a:t>tidak</a:t>
            </a:r>
            <a:r>
              <a:rPr lang="en-US" dirty="0"/>
              <a:t> </a:t>
            </a:r>
            <a:r>
              <a:rPr lang="en-US" dirty="0" err="1"/>
              <a:t>berhenti</a:t>
            </a:r>
            <a:r>
              <a:rPr lang="en-US" dirty="0"/>
              <a:t> di level </a:t>
            </a:r>
            <a:r>
              <a:rPr lang="en-US" dirty="0" err="1"/>
              <a:t>konsep</a:t>
            </a:r>
            <a:r>
              <a:rPr lang="en-US" dirty="0"/>
              <a:t>, kami </a:t>
            </a:r>
            <a:r>
              <a:rPr lang="en-US" dirty="0" err="1"/>
              <a:t>turunkan</a:t>
            </a:r>
            <a:r>
              <a:rPr lang="en-US" dirty="0"/>
              <a:t> roadmap </a:t>
            </a:r>
            <a:r>
              <a:rPr lang="en-US" dirty="0" err="1"/>
              <a:t>itu</a:t>
            </a:r>
            <a:r>
              <a:rPr lang="en-US" dirty="0"/>
              <a:t> ke </a:t>
            </a:r>
            <a:r>
              <a:rPr lang="en-US" dirty="0" err="1"/>
              <a:t>tabel</a:t>
            </a:r>
            <a:r>
              <a:rPr lang="en-US" dirty="0"/>
              <a:t> yang </a:t>
            </a:r>
            <a:r>
              <a:rPr lang="en-US" dirty="0" err="1"/>
              <a:t>lebih</a:t>
            </a:r>
            <a:r>
              <a:rPr lang="en-US" dirty="0"/>
              <a:t> </a:t>
            </a:r>
            <a:r>
              <a:rPr lang="en-US" dirty="0" err="1"/>
              <a:t>konkret</a:t>
            </a:r>
            <a:r>
              <a:rPr lang="en-US" dirty="0"/>
              <a:t> — per </a:t>
            </a:r>
            <a:r>
              <a:rPr lang="en-US" dirty="0" err="1"/>
              <a:t>bulan</a:t>
            </a:r>
            <a:r>
              <a:rPr lang="en-US" dirty="0"/>
              <a:t>, per </a:t>
            </a:r>
            <a:r>
              <a:rPr lang="en-US" dirty="0" err="1"/>
              <a:t>aktivitas</a:t>
            </a:r>
            <a:r>
              <a:rPr lang="en-US" dirty="0"/>
              <a:t>, </a:t>
            </a:r>
            <a:r>
              <a:rPr lang="en-US" dirty="0" err="1"/>
              <a:t>lengkap</a:t>
            </a:r>
            <a:r>
              <a:rPr lang="en-US" dirty="0"/>
              <a:t> </a:t>
            </a:r>
            <a:r>
              <a:rPr lang="en-US" dirty="0" err="1"/>
              <a:t>dengan</a:t>
            </a:r>
            <a:r>
              <a:rPr lang="en-US" dirty="0"/>
              <a:t> target yang </a:t>
            </a:r>
            <a:r>
              <a:rPr lang="en-US" dirty="0" err="1"/>
              <a:t>bisa</a:t>
            </a:r>
            <a:r>
              <a:rPr lang="en-US" dirty="0"/>
              <a:t> </a:t>
            </a:r>
            <a:r>
              <a:rPr lang="en-US" dirty="0" err="1"/>
              <a:t>ditracking</a:t>
            </a:r>
            <a:r>
              <a:rPr lang="en-US" dirty="0"/>
              <a:t>.</a:t>
            </a:r>
          </a:p>
          <a:p>
            <a:r>
              <a:rPr lang="en-US" dirty="0"/>
              <a:t>Bulan </a:t>
            </a:r>
            <a:r>
              <a:rPr lang="en-US" dirty="0" err="1"/>
              <a:t>satu</a:t>
            </a:r>
            <a:r>
              <a:rPr lang="en-US" dirty="0"/>
              <a:t> dan dua: </a:t>
            </a:r>
            <a:r>
              <a:rPr lang="en-US" b="1" dirty="0"/>
              <a:t>pilot di Tangerang Selatan</a:t>
            </a:r>
            <a:r>
              <a:rPr lang="en-US" dirty="0"/>
              <a:t>, target 3 </a:t>
            </a:r>
            <a:r>
              <a:rPr lang="en-US" dirty="0" err="1"/>
              <a:t>perusahaan</a:t>
            </a:r>
            <a:r>
              <a:rPr lang="en-US" dirty="0"/>
              <a:t> </a:t>
            </a:r>
            <a:r>
              <a:rPr lang="en-US" dirty="0" err="1"/>
              <a:t>lanjut</a:t>
            </a:r>
            <a:r>
              <a:rPr lang="en-US" dirty="0"/>
              <a:t> ke </a:t>
            </a:r>
            <a:r>
              <a:rPr lang="en-US" dirty="0" err="1"/>
              <a:t>kontrak</a:t>
            </a:r>
            <a:r>
              <a:rPr lang="en-US" dirty="0"/>
              <a:t> </a:t>
            </a:r>
            <a:r>
              <a:rPr lang="en-US" dirty="0" err="1"/>
              <a:t>berbayar</a:t>
            </a:r>
            <a:r>
              <a:rPr lang="en-US" dirty="0"/>
              <a:t> </a:t>
            </a:r>
            <a:r>
              <a:rPr lang="en-US" dirty="0" err="1"/>
              <a:t>dari</a:t>
            </a:r>
            <a:r>
              <a:rPr lang="en-US" dirty="0"/>
              <a:t> 10 yang </a:t>
            </a:r>
            <a:r>
              <a:rPr lang="en-US" dirty="0" err="1"/>
              <a:t>diundang</a:t>
            </a:r>
            <a:r>
              <a:rPr lang="en-US" dirty="0"/>
              <a:t>. Ini </a:t>
            </a:r>
            <a:r>
              <a:rPr lang="en-US" dirty="0" err="1"/>
              <a:t>konversi</a:t>
            </a:r>
            <a:r>
              <a:rPr lang="en-US" dirty="0"/>
              <a:t> 30 </a:t>
            </a:r>
            <a:r>
              <a:rPr lang="en-US" dirty="0" err="1"/>
              <a:t>persen</a:t>
            </a:r>
            <a:r>
              <a:rPr lang="en-US" dirty="0"/>
              <a:t> — </a:t>
            </a:r>
            <a:r>
              <a:rPr lang="en-US" dirty="0" err="1"/>
              <a:t>angka</a:t>
            </a:r>
            <a:r>
              <a:rPr lang="en-US" dirty="0"/>
              <a:t> yang kami </a:t>
            </a:r>
            <a:r>
              <a:rPr lang="en-US" dirty="0" err="1"/>
              <a:t>akui</a:t>
            </a:r>
            <a:r>
              <a:rPr lang="en-US" dirty="0"/>
              <a:t> </a:t>
            </a:r>
            <a:r>
              <a:rPr lang="en-US" dirty="0" err="1"/>
              <a:t>masih</a:t>
            </a:r>
            <a:r>
              <a:rPr lang="en-US" dirty="0"/>
              <a:t> </a:t>
            </a:r>
            <a:r>
              <a:rPr lang="en-US" dirty="0" err="1"/>
              <a:t>perlu</a:t>
            </a:r>
            <a:r>
              <a:rPr lang="en-US" dirty="0"/>
              <a:t> </a:t>
            </a:r>
            <a:r>
              <a:rPr lang="en-US" dirty="0" err="1"/>
              <a:t>dikalibrasi</a:t>
            </a:r>
            <a:r>
              <a:rPr lang="en-US" dirty="0"/>
              <a:t> </a:t>
            </a:r>
            <a:r>
              <a:rPr lang="en-US" dirty="0" err="1"/>
              <a:t>dengan</a:t>
            </a:r>
            <a:r>
              <a:rPr lang="en-US" dirty="0"/>
              <a:t> data internal </a:t>
            </a:r>
            <a:r>
              <a:rPr lang="en-US" dirty="0" err="1"/>
              <a:t>SumThing</a:t>
            </a:r>
            <a:r>
              <a:rPr lang="en-US" dirty="0"/>
              <a:t>, </a:t>
            </a:r>
            <a:r>
              <a:rPr lang="en-US" dirty="0" err="1"/>
              <a:t>tapi</a:t>
            </a:r>
            <a:r>
              <a:rPr lang="en-US" dirty="0"/>
              <a:t> </a:t>
            </a:r>
            <a:r>
              <a:rPr lang="en-US" dirty="0" err="1"/>
              <a:t>menjadi</a:t>
            </a:r>
            <a:r>
              <a:rPr lang="en-US" dirty="0"/>
              <a:t> </a:t>
            </a:r>
            <a:r>
              <a:rPr lang="en-US" dirty="0" err="1"/>
              <a:t>titik</a:t>
            </a:r>
            <a:r>
              <a:rPr lang="en-US" dirty="0"/>
              <a:t> </a:t>
            </a:r>
            <a:r>
              <a:rPr lang="en-US" dirty="0" err="1"/>
              <a:t>awal</a:t>
            </a:r>
            <a:r>
              <a:rPr lang="en-US" dirty="0"/>
              <a:t> </a:t>
            </a:r>
            <a:r>
              <a:rPr lang="en-US" dirty="0" err="1"/>
              <a:t>diskusi</a:t>
            </a:r>
            <a:r>
              <a:rPr lang="en-US" dirty="0"/>
              <a:t> yang </a:t>
            </a:r>
            <a:r>
              <a:rPr lang="en-US" dirty="0" err="1"/>
              <a:t>konkret</a:t>
            </a:r>
            <a:r>
              <a:rPr lang="en-US" dirty="0"/>
              <a:t>.</a:t>
            </a:r>
          </a:p>
          <a:p>
            <a:r>
              <a:rPr lang="en-US" dirty="0"/>
              <a:t>Bulan </a:t>
            </a:r>
            <a:r>
              <a:rPr lang="en-US" dirty="0" err="1"/>
              <a:t>tiga</a:t>
            </a:r>
            <a:r>
              <a:rPr lang="en-US" dirty="0"/>
              <a:t>: </a:t>
            </a:r>
            <a:r>
              <a:rPr lang="en-US" b="1" dirty="0"/>
              <a:t>ramp-up sales di Surabaya</a:t>
            </a:r>
            <a:r>
              <a:rPr lang="en-US" dirty="0"/>
              <a:t> — 30 </a:t>
            </a:r>
            <a:r>
              <a:rPr lang="en-US" dirty="0" err="1"/>
              <a:t>kunjungan</a:t>
            </a:r>
            <a:r>
              <a:rPr lang="en-US" dirty="0"/>
              <a:t> ke </a:t>
            </a:r>
            <a:r>
              <a:rPr lang="en-US" dirty="0" err="1"/>
              <a:t>kontraktor</a:t>
            </a:r>
            <a:r>
              <a:rPr lang="en-US" dirty="0"/>
              <a:t> </a:t>
            </a:r>
            <a:r>
              <a:rPr lang="en-US" dirty="0" err="1"/>
              <a:t>besar</a:t>
            </a:r>
            <a:r>
              <a:rPr lang="en-US" dirty="0"/>
              <a:t>, 5 proposal </a:t>
            </a:r>
            <a:r>
              <a:rPr lang="en-US" dirty="0" err="1"/>
              <a:t>terkirim</a:t>
            </a:r>
            <a:r>
              <a:rPr lang="en-US" dirty="0"/>
              <a:t>. Ini </a:t>
            </a:r>
            <a:r>
              <a:rPr lang="en-US" dirty="0" err="1"/>
              <a:t>soal</a:t>
            </a:r>
            <a:r>
              <a:rPr lang="en-US" dirty="0"/>
              <a:t> </a:t>
            </a:r>
            <a:r>
              <a:rPr lang="en-US" dirty="0" err="1"/>
              <a:t>membangun</a:t>
            </a:r>
            <a:r>
              <a:rPr lang="en-US" dirty="0"/>
              <a:t> pipeline yang </a:t>
            </a:r>
            <a:r>
              <a:rPr lang="en-US" dirty="0" err="1"/>
              <a:t>terstruktur</a:t>
            </a:r>
            <a:r>
              <a:rPr lang="en-US" dirty="0"/>
              <a:t>, </a:t>
            </a:r>
            <a:r>
              <a:rPr lang="en-US" dirty="0" err="1"/>
              <a:t>bukan</a:t>
            </a:r>
            <a:r>
              <a:rPr lang="en-US" dirty="0"/>
              <a:t> </a:t>
            </a:r>
            <a:r>
              <a:rPr lang="en-US" dirty="0" err="1"/>
              <a:t>sekadar</a:t>
            </a:r>
            <a:r>
              <a:rPr lang="en-US" dirty="0"/>
              <a:t> networking.</a:t>
            </a:r>
          </a:p>
          <a:p>
            <a:r>
              <a:rPr lang="en-US" dirty="0"/>
              <a:t>Bulan </a:t>
            </a:r>
            <a:r>
              <a:rPr lang="en-US" dirty="0" err="1"/>
              <a:t>empat</a:t>
            </a:r>
            <a:r>
              <a:rPr lang="en-US" dirty="0"/>
              <a:t> dan lima: </a:t>
            </a:r>
            <a:r>
              <a:rPr lang="en-US" b="1" dirty="0" err="1"/>
              <a:t>kampanye</a:t>
            </a:r>
            <a:r>
              <a:rPr lang="en-US" b="1" dirty="0"/>
              <a:t> digital di Jawa Tengah dan Banten</a:t>
            </a:r>
            <a:r>
              <a:rPr lang="en-US" dirty="0"/>
              <a:t> — 500 leads </a:t>
            </a:r>
            <a:r>
              <a:rPr lang="en-US" dirty="0" err="1"/>
              <a:t>dengan</a:t>
            </a:r>
            <a:r>
              <a:rPr lang="en-US" dirty="0"/>
              <a:t> cost per lead di </a:t>
            </a:r>
            <a:r>
              <a:rPr lang="en-US" dirty="0" err="1"/>
              <a:t>bawah</a:t>
            </a:r>
            <a:r>
              <a:rPr lang="en-US" dirty="0"/>
              <a:t> 50 </a:t>
            </a:r>
            <a:r>
              <a:rPr lang="en-US" dirty="0" err="1"/>
              <a:t>ribu</a:t>
            </a:r>
            <a:r>
              <a:rPr lang="en-US" dirty="0"/>
              <a:t> rupiah. Dua </a:t>
            </a:r>
            <a:r>
              <a:rPr lang="en-US" dirty="0" err="1"/>
              <a:t>provinsi</a:t>
            </a:r>
            <a:r>
              <a:rPr lang="en-US" dirty="0"/>
              <a:t> ini </a:t>
            </a:r>
            <a:r>
              <a:rPr lang="en-US" dirty="0" err="1"/>
              <a:t>belum</a:t>
            </a:r>
            <a:r>
              <a:rPr lang="en-US" dirty="0"/>
              <a:t> </a:t>
            </a:r>
            <a:r>
              <a:rPr lang="en-US" dirty="0" err="1"/>
              <a:t>siap</a:t>
            </a:r>
            <a:r>
              <a:rPr lang="en-US" dirty="0"/>
              <a:t> untuk direct sales, </a:t>
            </a:r>
            <a:r>
              <a:rPr lang="en-US" dirty="0" err="1"/>
              <a:t>tapi</a:t>
            </a:r>
            <a:r>
              <a:rPr lang="en-US" dirty="0"/>
              <a:t> sangat </a:t>
            </a:r>
            <a:r>
              <a:rPr lang="en-US" dirty="0" err="1"/>
              <a:t>bisa</a:t>
            </a:r>
            <a:r>
              <a:rPr lang="en-US" dirty="0"/>
              <a:t> </a:t>
            </a:r>
            <a:r>
              <a:rPr lang="en-US" dirty="0" err="1"/>
              <a:t>digarap</a:t>
            </a:r>
            <a:r>
              <a:rPr lang="en-US" dirty="0"/>
              <a:t> untuk awareness dan lead generation yang </a:t>
            </a:r>
            <a:r>
              <a:rPr lang="en-US" dirty="0" err="1"/>
              <a:t>efisien</a:t>
            </a:r>
            <a:r>
              <a:rPr lang="en-US" dirty="0"/>
              <a:t>.</a:t>
            </a:r>
          </a:p>
          <a:p>
            <a:r>
              <a:rPr lang="en-US" dirty="0"/>
              <a:t>Bulan </a:t>
            </a:r>
            <a:r>
              <a:rPr lang="en-US" dirty="0" err="1"/>
              <a:t>enam</a:t>
            </a:r>
            <a:r>
              <a:rPr lang="en-US" dirty="0"/>
              <a:t>: </a:t>
            </a:r>
            <a:r>
              <a:rPr lang="en-US" b="1" dirty="0" err="1"/>
              <a:t>evaluasi</a:t>
            </a:r>
            <a:r>
              <a:rPr lang="en-US" b="1" dirty="0"/>
              <a:t> pilot, </a:t>
            </a:r>
            <a:r>
              <a:rPr lang="en-US" b="1" dirty="0" err="1"/>
              <a:t>skalakan</a:t>
            </a:r>
            <a:r>
              <a:rPr lang="en-US" b="1" dirty="0"/>
              <a:t> ke Bandung dan Bekasi</a:t>
            </a:r>
            <a:r>
              <a:rPr lang="en-US" dirty="0"/>
              <a:t>, dan publish minimal </a:t>
            </a:r>
            <a:r>
              <a:rPr lang="en-US" dirty="0" err="1"/>
              <a:t>satu</a:t>
            </a:r>
            <a:r>
              <a:rPr lang="en-US" dirty="0"/>
              <a:t> case study yang </a:t>
            </a:r>
            <a:r>
              <a:rPr lang="en-US" dirty="0" err="1"/>
              <a:t>bisa</a:t>
            </a:r>
            <a:r>
              <a:rPr lang="en-US" dirty="0"/>
              <a:t> </a:t>
            </a:r>
            <a:r>
              <a:rPr lang="en-US" dirty="0" err="1"/>
              <a:t>digunakan</a:t>
            </a:r>
            <a:r>
              <a:rPr lang="en-US" dirty="0"/>
              <a:t> </a:t>
            </a:r>
            <a:r>
              <a:rPr lang="en-US" dirty="0" err="1"/>
              <a:t>sebagai</a:t>
            </a:r>
            <a:r>
              <a:rPr lang="en-US" dirty="0"/>
              <a:t> </a:t>
            </a:r>
            <a:r>
              <a:rPr lang="en-US" dirty="0" err="1"/>
              <a:t>referensi</a:t>
            </a:r>
            <a:r>
              <a:rPr lang="en-US" dirty="0"/>
              <a:t> </a:t>
            </a:r>
            <a:r>
              <a:rPr lang="en-US" dirty="0" err="1"/>
              <a:t>komersial</a:t>
            </a:r>
            <a:r>
              <a:rPr lang="en-US" dirty="0"/>
              <a:t>.</a:t>
            </a:r>
          </a:p>
          <a:p>
            <a:r>
              <a:rPr lang="en-US" i="1" dirty="0"/>
              <a:t>(</a:t>
            </a:r>
            <a:r>
              <a:rPr lang="en-US" i="1" dirty="0" err="1"/>
              <a:t>tunjuk</a:t>
            </a:r>
            <a:r>
              <a:rPr lang="en-US" i="1" dirty="0"/>
              <a:t> OKR box di </a:t>
            </a:r>
            <a:r>
              <a:rPr lang="en-US" i="1" dirty="0" err="1"/>
              <a:t>bawah</a:t>
            </a:r>
            <a:r>
              <a:rPr lang="en-US" i="1" dirty="0"/>
              <a:t> </a:t>
            </a:r>
            <a:r>
              <a:rPr lang="en-US" i="1" dirty="0" err="1"/>
              <a:t>tabel</a:t>
            </a:r>
            <a:r>
              <a:rPr lang="en-US" i="1" dirty="0"/>
              <a:t>) OKR(objective key result)</a:t>
            </a:r>
            <a:endParaRPr lang="en-US" dirty="0"/>
          </a:p>
          <a:p>
            <a:r>
              <a:rPr lang="en-US" dirty="0"/>
              <a:t>Dan di </a:t>
            </a:r>
            <a:r>
              <a:rPr lang="en-US" dirty="0" err="1"/>
              <a:t>ujung</a:t>
            </a:r>
            <a:r>
              <a:rPr lang="en-US" dirty="0"/>
              <a:t> </a:t>
            </a:r>
            <a:r>
              <a:rPr lang="en-US" dirty="0" err="1"/>
              <a:t>dari</a:t>
            </a:r>
            <a:r>
              <a:rPr lang="en-US" dirty="0"/>
              <a:t> </a:t>
            </a:r>
            <a:r>
              <a:rPr lang="en-US" dirty="0" err="1"/>
              <a:t>semua</a:t>
            </a:r>
            <a:r>
              <a:rPr lang="en-US" dirty="0"/>
              <a:t> ini, </a:t>
            </a:r>
            <a:r>
              <a:rPr lang="en-US" dirty="0" err="1"/>
              <a:t>ada</a:t>
            </a:r>
            <a:r>
              <a:rPr lang="en-US" dirty="0"/>
              <a:t> </a:t>
            </a:r>
            <a:r>
              <a:rPr lang="en-US" dirty="0" err="1"/>
              <a:t>tiga</a:t>
            </a:r>
            <a:r>
              <a:rPr lang="en-US" dirty="0"/>
              <a:t> OKR yang kami </a:t>
            </a:r>
            <a:r>
              <a:rPr lang="en-US" dirty="0" err="1"/>
              <a:t>usulkan</a:t>
            </a:r>
            <a:r>
              <a:rPr lang="en-US" dirty="0"/>
              <a:t> </a:t>
            </a:r>
            <a:r>
              <a:rPr lang="en-US" dirty="0" err="1"/>
              <a:t>sebagai</a:t>
            </a:r>
            <a:r>
              <a:rPr lang="en-US" dirty="0"/>
              <a:t> </a:t>
            </a:r>
            <a:r>
              <a:rPr lang="en-US" dirty="0" err="1"/>
              <a:t>ukuran</a:t>
            </a:r>
            <a:r>
              <a:rPr lang="en-US" dirty="0"/>
              <a:t> </a:t>
            </a:r>
            <a:r>
              <a:rPr lang="en-US" dirty="0" err="1"/>
              <a:t>keberhasilan</a:t>
            </a:r>
            <a:r>
              <a:rPr lang="en-US" dirty="0"/>
              <a:t> </a:t>
            </a:r>
            <a:r>
              <a:rPr lang="en-US" dirty="0" err="1"/>
              <a:t>keseluruhan</a:t>
            </a:r>
            <a:r>
              <a:rPr lang="en-US" dirty="0"/>
              <a:t>: </a:t>
            </a:r>
            <a:r>
              <a:rPr lang="en-US" b="1" dirty="0"/>
              <a:t>lima </a:t>
            </a:r>
            <a:r>
              <a:rPr lang="en-US" b="1" dirty="0" err="1"/>
              <a:t>kontrak</a:t>
            </a:r>
            <a:r>
              <a:rPr lang="en-US" b="1" dirty="0"/>
              <a:t> enterprise </a:t>
            </a:r>
            <a:r>
              <a:rPr lang="en-US" b="1" dirty="0" err="1"/>
              <a:t>aktif</a:t>
            </a:r>
            <a:r>
              <a:rPr lang="en-US" b="1" dirty="0"/>
              <a:t>, 30 </a:t>
            </a:r>
            <a:r>
              <a:rPr lang="en-US" b="1" dirty="0" err="1"/>
              <a:t>persen</a:t>
            </a:r>
            <a:r>
              <a:rPr lang="en-US" b="1" dirty="0"/>
              <a:t> </a:t>
            </a:r>
            <a:r>
              <a:rPr lang="en-US" b="1" dirty="0" err="1"/>
              <a:t>konversi</a:t>
            </a:r>
            <a:r>
              <a:rPr lang="en-US" b="1" dirty="0"/>
              <a:t> </a:t>
            </a:r>
            <a:r>
              <a:rPr lang="en-US" b="1" dirty="0" err="1"/>
              <a:t>dari</a:t>
            </a:r>
            <a:r>
              <a:rPr lang="en-US" b="1" dirty="0"/>
              <a:t> pilot, dan positioning </a:t>
            </a:r>
            <a:r>
              <a:rPr lang="en-US" b="1" dirty="0" err="1"/>
              <a:t>sebagai</a:t>
            </a:r>
            <a:r>
              <a:rPr lang="en-US" b="1" dirty="0"/>
              <a:t> AI Safety partner </a:t>
            </a:r>
            <a:r>
              <a:rPr lang="en-US" b="1" dirty="0" err="1"/>
              <a:t>utama</a:t>
            </a:r>
            <a:r>
              <a:rPr lang="en-US" b="1" dirty="0"/>
              <a:t> di </a:t>
            </a:r>
            <a:r>
              <a:rPr lang="en-US" b="1" dirty="0" err="1"/>
              <a:t>konstruksi</a:t>
            </a:r>
            <a:r>
              <a:rPr lang="en-US" b="1" dirty="0"/>
              <a:t> Jawa Timur.</a:t>
            </a:r>
            <a:endParaRPr lang="en-US" dirty="0"/>
          </a:p>
          <a:p>
            <a:r>
              <a:rPr lang="en-US" dirty="0"/>
              <a:t>Kami </a:t>
            </a:r>
            <a:r>
              <a:rPr lang="en-US" dirty="0" err="1"/>
              <a:t>sadar</a:t>
            </a:r>
            <a:r>
              <a:rPr lang="en-US" dirty="0"/>
              <a:t> </a:t>
            </a:r>
            <a:r>
              <a:rPr lang="en-US" dirty="0" err="1"/>
              <a:t>angka-angka</a:t>
            </a:r>
            <a:r>
              <a:rPr lang="en-US" dirty="0"/>
              <a:t> ini </a:t>
            </a:r>
            <a:r>
              <a:rPr lang="en-US" dirty="0" err="1"/>
              <a:t>perlu</a:t>
            </a:r>
            <a:r>
              <a:rPr lang="en-US" dirty="0"/>
              <a:t> </a:t>
            </a:r>
            <a:r>
              <a:rPr lang="en-US" dirty="0" err="1"/>
              <a:t>dikonfirmasi</a:t>
            </a:r>
            <a:r>
              <a:rPr lang="en-US" dirty="0"/>
              <a:t> </a:t>
            </a:r>
            <a:r>
              <a:rPr lang="en-US" dirty="0" err="1"/>
              <a:t>dengan</a:t>
            </a:r>
            <a:r>
              <a:rPr lang="en-US" dirty="0"/>
              <a:t> data </a:t>
            </a:r>
            <a:r>
              <a:rPr lang="en-US" dirty="0" err="1"/>
              <a:t>operasional</a:t>
            </a:r>
            <a:r>
              <a:rPr lang="en-US" dirty="0"/>
              <a:t> internal </a:t>
            </a:r>
            <a:r>
              <a:rPr lang="en-US" dirty="0" err="1"/>
              <a:t>SumThing</a:t>
            </a:r>
            <a:r>
              <a:rPr lang="en-US" dirty="0"/>
              <a:t> — </a:t>
            </a:r>
            <a:r>
              <a:rPr lang="en-US" dirty="0" err="1"/>
              <a:t>khususnya</a:t>
            </a:r>
            <a:r>
              <a:rPr lang="en-US" dirty="0"/>
              <a:t> </a:t>
            </a:r>
            <a:r>
              <a:rPr lang="en-US" dirty="0" err="1"/>
              <a:t>kapasitas</a:t>
            </a:r>
            <a:r>
              <a:rPr lang="en-US" dirty="0"/>
              <a:t> </a:t>
            </a:r>
            <a:r>
              <a:rPr lang="en-US" dirty="0" err="1"/>
              <a:t>tim</a:t>
            </a:r>
            <a:r>
              <a:rPr lang="en-US" dirty="0"/>
              <a:t> sales dan conversion rate </a:t>
            </a:r>
            <a:r>
              <a:rPr lang="en-US" dirty="0" err="1"/>
              <a:t>historis</a:t>
            </a:r>
            <a:r>
              <a:rPr lang="en-US" dirty="0"/>
              <a:t>. Tapi </a:t>
            </a:r>
            <a:r>
              <a:rPr lang="en-US" dirty="0" err="1"/>
              <a:t>kerangka</a:t>
            </a:r>
            <a:r>
              <a:rPr lang="en-US" dirty="0"/>
              <a:t> </a:t>
            </a:r>
            <a:r>
              <a:rPr lang="en-US" dirty="0" err="1"/>
              <a:t>berpikirnya</a:t>
            </a:r>
            <a:r>
              <a:rPr lang="en-US" dirty="0"/>
              <a:t> </a:t>
            </a:r>
            <a:r>
              <a:rPr lang="en-US" dirty="0" err="1"/>
              <a:t>sudah</a:t>
            </a:r>
            <a:r>
              <a:rPr lang="en-US" dirty="0"/>
              <a:t> </a:t>
            </a:r>
            <a:r>
              <a:rPr lang="en-US" dirty="0" err="1"/>
              <a:t>ada</a:t>
            </a:r>
            <a:r>
              <a:rPr lang="en-US" dirty="0"/>
              <a:t> di </a:t>
            </a:r>
            <a:r>
              <a:rPr lang="en-US" dirty="0" err="1"/>
              <a:t>sini</a:t>
            </a:r>
            <a:r>
              <a:rPr lang="en-US" dirty="0"/>
              <a:t>, dan </a:t>
            </a:r>
            <a:r>
              <a:rPr lang="en-US" dirty="0" err="1"/>
              <a:t>siap</a:t>
            </a:r>
            <a:r>
              <a:rPr lang="en-US" dirty="0"/>
              <a:t> untuk </a:t>
            </a:r>
            <a:r>
              <a:rPr lang="en-US" dirty="0" err="1"/>
              <a:t>dipertajam</a:t>
            </a:r>
            <a:r>
              <a:rPr lang="en-US" dirty="0"/>
              <a:t> </a:t>
            </a:r>
            <a:r>
              <a:rPr lang="en-US" dirty="0" err="1"/>
              <a:t>bersama</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Demikian</a:t>
            </a:r>
            <a:r>
              <a:rPr lang="en-US" dirty="0"/>
              <a:t> </a:t>
            </a:r>
            <a:r>
              <a:rPr lang="en-US" dirty="0" err="1"/>
              <a:t>presentasi</a:t>
            </a:r>
            <a:r>
              <a:rPr lang="en-US" dirty="0"/>
              <a:t> </a:t>
            </a:r>
            <a:r>
              <a:rPr lang="en-US" dirty="0" err="1"/>
              <a:t>dari</a:t>
            </a:r>
            <a:r>
              <a:rPr lang="en-US" dirty="0"/>
              <a:t> kami.</a:t>
            </a:r>
          </a:p>
          <a:p>
            <a:r>
              <a:rPr lang="en-US" dirty="0"/>
              <a:t>Untuk </a:t>
            </a:r>
            <a:r>
              <a:rPr lang="en-US" dirty="0" err="1"/>
              <a:t>merangkum</a:t>
            </a:r>
            <a:r>
              <a:rPr lang="en-US" dirty="0"/>
              <a:t> </a:t>
            </a:r>
            <a:r>
              <a:rPr lang="en-US" dirty="0" err="1"/>
              <a:t>dalam</a:t>
            </a:r>
            <a:r>
              <a:rPr lang="en-US" dirty="0"/>
              <a:t> </a:t>
            </a:r>
            <a:r>
              <a:rPr lang="en-US" dirty="0" err="1"/>
              <a:t>satu</a:t>
            </a:r>
            <a:r>
              <a:rPr lang="en-US" dirty="0"/>
              <a:t> </a:t>
            </a:r>
            <a:r>
              <a:rPr lang="en-US" dirty="0" err="1"/>
              <a:t>kalimat</a:t>
            </a:r>
            <a:r>
              <a:rPr lang="en-US" dirty="0"/>
              <a:t>: </a:t>
            </a:r>
            <a:r>
              <a:rPr lang="en-US" b="1" dirty="0"/>
              <a:t>pasar </a:t>
            </a:r>
            <a:r>
              <a:rPr lang="en-US" b="1" dirty="0" err="1"/>
              <a:t>konstruksi</a:t>
            </a:r>
            <a:r>
              <a:rPr lang="en-US" b="1" dirty="0"/>
              <a:t> Jawa sangat </a:t>
            </a:r>
            <a:r>
              <a:rPr lang="en-US" b="1" dirty="0" err="1"/>
              <a:t>besar</a:t>
            </a:r>
            <a:r>
              <a:rPr lang="en-US" b="1" dirty="0"/>
              <a:t>, sangat </a:t>
            </a:r>
            <a:r>
              <a:rPr lang="en-US" b="1" dirty="0" err="1"/>
              <a:t>terkonsentrasi</a:t>
            </a:r>
            <a:r>
              <a:rPr lang="en-US" b="1" dirty="0"/>
              <a:t>, dan sangat </a:t>
            </a:r>
            <a:r>
              <a:rPr lang="en-US" b="1" dirty="0" err="1"/>
              <a:t>bermasalah</a:t>
            </a:r>
            <a:r>
              <a:rPr lang="en-US" b="1" dirty="0"/>
              <a:t> </a:t>
            </a:r>
            <a:r>
              <a:rPr lang="en-US" b="1" dirty="0" err="1"/>
              <a:t>soal</a:t>
            </a:r>
            <a:r>
              <a:rPr lang="en-US" b="1" dirty="0"/>
              <a:t> </a:t>
            </a:r>
            <a:r>
              <a:rPr lang="en-US" b="1" dirty="0" err="1"/>
              <a:t>keselamatan</a:t>
            </a:r>
            <a:r>
              <a:rPr lang="en-US" b="1" dirty="0"/>
              <a:t> — </a:t>
            </a:r>
            <a:r>
              <a:rPr lang="en-US" b="1" dirty="0" err="1"/>
              <a:t>tiga</a:t>
            </a:r>
            <a:r>
              <a:rPr lang="en-US" b="1" dirty="0"/>
              <a:t> </a:t>
            </a:r>
            <a:r>
              <a:rPr lang="en-US" b="1" dirty="0" err="1"/>
              <a:t>kondisi</a:t>
            </a:r>
            <a:r>
              <a:rPr lang="en-US" b="1" dirty="0"/>
              <a:t> yang </a:t>
            </a:r>
            <a:r>
              <a:rPr lang="en-US" b="1" dirty="0" err="1"/>
              <a:t>semuanya</a:t>
            </a:r>
            <a:r>
              <a:rPr lang="en-US" b="1" dirty="0"/>
              <a:t> </a:t>
            </a:r>
            <a:r>
              <a:rPr lang="en-US" b="1" dirty="0" err="1"/>
              <a:t>menguntungkan</a:t>
            </a:r>
            <a:r>
              <a:rPr lang="en-US" b="1" dirty="0"/>
              <a:t> </a:t>
            </a:r>
            <a:r>
              <a:rPr lang="en-US" b="1" dirty="0" err="1"/>
              <a:t>SumThing</a:t>
            </a:r>
            <a:r>
              <a:rPr lang="en-US" b="1" dirty="0"/>
              <a:t>.</a:t>
            </a:r>
            <a:endParaRPr lang="en-US" dirty="0"/>
          </a:p>
          <a:p>
            <a:r>
              <a:rPr lang="en-US" dirty="0"/>
              <a:t>Yang </a:t>
            </a:r>
            <a:r>
              <a:rPr lang="en-US" dirty="0" err="1"/>
              <a:t>perlu</a:t>
            </a:r>
            <a:r>
              <a:rPr lang="en-US" dirty="0"/>
              <a:t> </a:t>
            </a:r>
            <a:r>
              <a:rPr lang="en-US" dirty="0" err="1"/>
              <a:t>dilakukan</a:t>
            </a:r>
            <a:r>
              <a:rPr lang="en-US" dirty="0"/>
              <a:t> </a:t>
            </a:r>
            <a:r>
              <a:rPr lang="en-US" dirty="0" err="1"/>
              <a:t>sekarang</a:t>
            </a:r>
            <a:r>
              <a:rPr lang="en-US" dirty="0"/>
              <a:t> </a:t>
            </a:r>
            <a:r>
              <a:rPr lang="en-US" dirty="0" err="1"/>
              <a:t>bukan</a:t>
            </a:r>
            <a:r>
              <a:rPr lang="en-US" dirty="0"/>
              <a:t> </a:t>
            </a:r>
            <a:r>
              <a:rPr lang="en-US" dirty="0" err="1"/>
              <a:t>riset</a:t>
            </a:r>
            <a:r>
              <a:rPr lang="en-US" dirty="0"/>
              <a:t> </a:t>
            </a:r>
            <a:r>
              <a:rPr lang="en-US" dirty="0" err="1"/>
              <a:t>lagi</a:t>
            </a:r>
            <a:r>
              <a:rPr lang="en-US" dirty="0"/>
              <a:t>, </a:t>
            </a:r>
            <a:r>
              <a:rPr lang="en-US" dirty="0" err="1"/>
              <a:t>tapi</a:t>
            </a:r>
            <a:r>
              <a:rPr lang="en-US" dirty="0"/>
              <a:t> </a:t>
            </a:r>
            <a:r>
              <a:rPr lang="en-US" dirty="0" err="1"/>
              <a:t>eksekusi</a:t>
            </a:r>
            <a:r>
              <a:rPr lang="en-US" dirty="0"/>
              <a:t>. Mulai </a:t>
            </a:r>
            <a:r>
              <a:rPr lang="en-US" dirty="0" err="1"/>
              <a:t>dari</a:t>
            </a:r>
            <a:r>
              <a:rPr lang="en-US" dirty="0"/>
              <a:t> Surabaya untuk </a:t>
            </a:r>
            <a:r>
              <a:rPr lang="en-US" dirty="0" err="1"/>
              <a:t>membangun</a:t>
            </a:r>
            <a:r>
              <a:rPr lang="en-US" dirty="0"/>
              <a:t> pipeline, </a:t>
            </a:r>
            <a:r>
              <a:rPr lang="en-US" dirty="0" err="1"/>
              <a:t>Tangsel</a:t>
            </a:r>
            <a:r>
              <a:rPr lang="en-US" dirty="0"/>
              <a:t> untuk </a:t>
            </a:r>
            <a:r>
              <a:rPr lang="en-US" dirty="0" err="1"/>
              <a:t>membuktikan</a:t>
            </a:r>
            <a:r>
              <a:rPr lang="en-US" dirty="0"/>
              <a:t> </a:t>
            </a:r>
            <a:r>
              <a:rPr lang="en-US" dirty="0" err="1"/>
              <a:t>produk</a:t>
            </a:r>
            <a:r>
              <a:rPr lang="en-US" dirty="0"/>
              <a:t>, dan Bandung-Bekasi untuk </a:t>
            </a:r>
            <a:r>
              <a:rPr lang="en-US" dirty="0" err="1"/>
              <a:t>memperluas</a:t>
            </a:r>
            <a:r>
              <a:rPr lang="en-US" dirty="0"/>
              <a:t> </a:t>
            </a:r>
            <a:r>
              <a:rPr lang="en-US" dirty="0" err="1"/>
              <a:t>jejak</a:t>
            </a:r>
            <a:r>
              <a:rPr lang="en-US" dirty="0"/>
              <a:t>.</a:t>
            </a:r>
          </a:p>
          <a:p>
            <a:r>
              <a:rPr lang="en-US" dirty="0"/>
              <a:t>Kami </a:t>
            </a:r>
            <a:r>
              <a:rPr lang="en-US" dirty="0" err="1"/>
              <a:t>dari</a:t>
            </a:r>
            <a:r>
              <a:rPr lang="en-US" dirty="0"/>
              <a:t> </a:t>
            </a:r>
            <a:r>
              <a:rPr lang="en-US" dirty="0" err="1"/>
              <a:t>Kelompok</a:t>
            </a:r>
            <a:r>
              <a:rPr lang="en-US" dirty="0"/>
              <a:t> 1 </a:t>
            </a:r>
            <a:r>
              <a:rPr lang="en-US" dirty="0" err="1"/>
              <a:t>siap</a:t>
            </a:r>
            <a:r>
              <a:rPr lang="en-US" dirty="0"/>
              <a:t> </a:t>
            </a:r>
            <a:r>
              <a:rPr lang="en-US" dirty="0" err="1"/>
              <a:t>menjawab</a:t>
            </a:r>
            <a:r>
              <a:rPr lang="en-US" dirty="0"/>
              <a:t> </a:t>
            </a:r>
            <a:r>
              <a:rPr lang="en-US" dirty="0" err="1"/>
              <a:t>pertanyaan</a:t>
            </a:r>
            <a:r>
              <a:rPr lang="en-US" dirty="0"/>
              <a:t>, </a:t>
            </a:r>
            <a:r>
              <a:rPr lang="en-US" dirty="0" err="1"/>
              <a:t>diskusi</a:t>
            </a:r>
            <a:r>
              <a:rPr lang="en-US" dirty="0"/>
              <a:t> </a:t>
            </a:r>
            <a:r>
              <a:rPr lang="en-US" dirty="0" err="1"/>
              <a:t>metodologi</a:t>
            </a:r>
            <a:r>
              <a:rPr lang="en-US" dirty="0"/>
              <a:t>, </a:t>
            </a:r>
            <a:r>
              <a:rPr lang="en-US" dirty="0" err="1"/>
              <a:t>atau</a:t>
            </a:r>
            <a:r>
              <a:rPr lang="en-US" dirty="0"/>
              <a:t> </a:t>
            </a:r>
            <a:r>
              <a:rPr lang="en-US" dirty="0" err="1"/>
              <a:t>eksplorasi</a:t>
            </a:r>
            <a:r>
              <a:rPr lang="en-US" dirty="0"/>
              <a:t> </a:t>
            </a:r>
            <a:r>
              <a:rPr lang="en-US" dirty="0" err="1"/>
              <a:t>lebih</a:t>
            </a:r>
            <a:r>
              <a:rPr lang="en-US" dirty="0"/>
              <a:t> </a:t>
            </a:r>
            <a:r>
              <a:rPr lang="en-US" dirty="0" err="1"/>
              <a:t>dalam</a:t>
            </a:r>
            <a:r>
              <a:rPr lang="en-US" dirty="0"/>
              <a:t> ke </a:t>
            </a:r>
            <a:r>
              <a:rPr lang="en-US" dirty="0" err="1"/>
              <a:t>bagian</a:t>
            </a:r>
            <a:r>
              <a:rPr lang="en-US" dirty="0"/>
              <a:t> mana pun yang </a:t>
            </a:r>
            <a:r>
              <a:rPr lang="en-US" dirty="0" err="1"/>
              <a:t>ingin</a:t>
            </a:r>
            <a:r>
              <a:rPr lang="en-US" dirty="0"/>
              <a:t> Bapak/Ibu </a:t>
            </a:r>
            <a:r>
              <a:rPr lang="en-US" dirty="0" err="1"/>
              <a:t>gali</a:t>
            </a:r>
            <a:r>
              <a:rPr lang="en-US" dirty="0"/>
              <a:t>."</a:t>
            </a:r>
          </a:p>
          <a:p>
            <a:endParaRPr lang="en-US" dirty="0"/>
          </a:p>
        </p:txBody>
      </p:sp>
      <p:sp>
        <p:nvSpPr>
          <p:cNvPr id="4" name="Slide Number Placeholder 3"/>
          <p:cNvSpPr>
            <a:spLocks noGrp="1"/>
          </p:cNvSpPr>
          <p:nvPr>
            <p:ph type="sldNum" sz="quarter" idx="5"/>
          </p:nvPr>
        </p:nvSpPr>
        <p:spPr/>
        <p:txBody>
          <a:bodyPr/>
          <a:lstStyle/>
          <a:p>
            <a:fld id="{3CFA0038-7055-434C-B6C4-B8C69565C600}" type="slidenum">
              <a:rPr lang="en-US" smtClean="0"/>
              <a:t>20</a:t>
            </a:fld>
            <a:endParaRPr lang="en-US" dirty="0"/>
          </a:p>
        </p:txBody>
      </p:sp>
    </p:spTree>
    <p:extLst>
      <p:ext uri="{BB962C8B-B14F-4D97-AF65-F5344CB8AC3E}">
        <p14:creationId xmlns:p14="http://schemas.microsoft.com/office/powerpoint/2010/main" val="173458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userDrawn="1"/>
        </p:nvSpPr>
        <p:spPr>
          <a:xfrm>
            <a:off x="0" y="1539433"/>
            <a:ext cx="8866207" cy="53185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0" y="0"/>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2002421"/>
            <a:ext cx="7252505" cy="891250"/>
          </a:xfrm>
        </p:spPr>
        <p:txBody>
          <a:bodyPr anchor="t">
            <a:noAutofit/>
          </a:bodyPr>
          <a:lstStyle>
            <a:lvl1pP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4"/>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userDrawn="1"/>
        </p:nvSpPr>
        <p:spPr>
          <a:xfrm rot="16200000" flipV="1">
            <a:off x="1094402" y="1819845"/>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39946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userDrawn="1"/>
        </p:nvSpPr>
        <p:spPr>
          <a:xfrm>
            <a:off x="-1" y="1539432"/>
            <a:ext cx="8866207" cy="53185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0" y="0"/>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2002421"/>
            <a:ext cx="7252505" cy="891250"/>
          </a:xfrm>
        </p:spPr>
        <p:txBody>
          <a:bodyPr anchor="t">
            <a:noAutofit/>
          </a:bodyPr>
          <a:lstStyle>
            <a:lvl1pPr>
              <a:defRPr sz="5000" b="1">
                <a:solidFill>
                  <a:schemeClr val="bg1"/>
                </a:solidFill>
                <a:latin typeface="+mj-lt"/>
              </a:defRPr>
            </a:lvl1pPr>
          </a:lstStyle>
          <a:p>
            <a:r>
              <a:rPr lang="en-US" dirty="0"/>
              <a:t>THANK YOU</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4"/>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WWW.WEBSITENAME.COM</a:t>
            </a:r>
          </a:p>
        </p:txBody>
      </p:sp>
      <p:sp>
        <p:nvSpPr>
          <p:cNvPr id="5" name="Shape 62">
            <a:extLst>
              <a:ext uri="{FF2B5EF4-FFF2-40B4-BE49-F238E27FC236}">
                <a16:creationId xmlns:a16="http://schemas.microsoft.com/office/drawing/2014/main" id="{E1A23DB6-E067-4A30-8C4B-98B452428518}"/>
              </a:ext>
            </a:extLst>
          </p:cNvPr>
          <p:cNvSpPr/>
          <p:nvPr userDrawn="1"/>
        </p:nvSpPr>
        <p:spPr>
          <a:xfrm rot="16200000" flipV="1">
            <a:off x="1094402" y="1819845"/>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3091658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ith Imag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userDrawn="1"/>
        </p:nvSpPr>
        <p:spPr>
          <a:xfrm>
            <a:off x="0" y="1539433"/>
            <a:ext cx="8866207" cy="5318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0" y="0"/>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2002421"/>
            <a:ext cx="7252505" cy="891250"/>
          </a:xfrm>
        </p:spPr>
        <p:txBody>
          <a:bodyPr anchor="t">
            <a:noAutofit/>
          </a:bodyPr>
          <a:lstStyle>
            <a:lvl1pP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4"/>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userDrawn="1"/>
        </p:nvSpPr>
        <p:spPr>
          <a:xfrm rot="16200000" flipV="1">
            <a:off x="1094402" y="1819845"/>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55885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with Imag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199" y="578736"/>
            <a:ext cx="7252505" cy="891250"/>
          </a:xfrm>
        </p:spPr>
        <p:txBody>
          <a:bodyPr anchor="t">
            <a:noAutofit/>
          </a:bodyPr>
          <a:lstStyle>
            <a:lvl1pPr>
              <a:defRPr sz="500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1666759"/>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userDrawn="1"/>
        </p:nvSpPr>
        <p:spPr>
          <a:xfrm rot="16200000" flipV="1">
            <a:off x="1094402" y="396160"/>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20" name="Picture Placeholder 4">
            <a:extLst>
              <a:ext uri="{FF2B5EF4-FFF2-40B4-BE49-F238E27FC236}">
                <a16:creationId xmlns:a16="http://schemas.microsoft.com/office/drawing/2014/main" id="{99E7C9A1-D1C2-4923-B0AE-127044646A05}"/>
              </a:ext>
            </a:extLst>
          </p:cNvPr>
          <p:cNvSpPr>
            <a:spLocks noGrp="1"/>
          </p:cNvSpPr>
          <p:nvPr>
            <p:ph type="pic" sz="quarter" idx="10"/>
          </p:nvPr>
        </p:nvSpPr>
        <p:spPr>
          <a:xfrm>
            <a:off x="8866207" y="0"/>
            <a:ext cx="3325792" cy="6858000"/>
          </a:xfrm>
          <a:solidFill>
            <a:schemeClr val="bg1"/>
          </a:solidFill>
        </p:spPr>
        <p:txBody>
          <a:bodyPr/>
          <a:lstStyle/>
          <a:p>
            <a:r>
              <a:rPr lang="en-US"/>
              <a:t>Click icon to add picture</a:t>
            </a:r>
            <a:endParaRPr lang="en-US" dirty="0"/>
          </a:p>
        </p:txBody>
      </p:sp>
    </p:spTree>
    <p:extLst>
      <p:ext uri="{BB962C8B-B14F-4D97-AF65-F5344CB8AC3E}">
        <p14:creationId xmlns:p14="http://schemas.microsoft.com/office/powerpoint/2010/main" val="853328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Divider with Imag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838199" y="2708475"/>
            <a:ext cx="7252505" cy="891250"/>
          </a:xfrm>
        </p:spPr>
        <p:txBody>
          <a:bodyPr anchor="t">
            <a:noAutofit/>
          </a:bodyPr>
          <a:lstStyle>
            <a:lvl1pPr>
              <a:defRPr sz="5000" b="1">
                <a:solidFill>
                  <a:schemeClr val="bg1"/>
                </a:solidFill>
                <a:latin typeface="+mj-lt"/>
              </a:defRPr>
            </a:lvl1pPr>
          </a:lstStyle>
          <a:p>
            <a:r>
              <a:rPr lang="en-US" dirty="0"/>
              <a:t>CLICK TO ADD TITLE</a:t>
            </a:r>
          </a:p>
        </p:txBody>
      </p:sp>
      <p:sp>
        <p:nvSpPr>
          <p:cNvPr id="9"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838200" y="3796498"/>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10" name="Shape 62">
            <a:extLst>
              <a:ext uri="{FF2B5EF4-FFF2-40B4-BE49-F238E27FC236}">
                <a16:creationId xmlns:a16="http://schemas.microsoft.com/office/drawing/2014/main" id="{171AB7B1-2963-43C8-84A5-2FCF188ACF42}"/>
              </a:ext>
            </a:extLst>
          </p:cNvPr>
          <p:cNvSpPr/>
          <p:nvPr userDrawn="1"/>
        </p:nvSpPr>
        <p:spPr>
          <a:xfrm rot="16200000" flipV="1">
            <a:off x="1094402" y="2525899"/>
            <a:ext cx="1" cy="2188805"/>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7" name="Picture Placeholder 6">
            <a:extLst>
              <a:ext uri="{FF2B5EF4-FFF2-40B4-BE49-F238E27FC236}">
                <a16:creationId xmlns:a16="http://schemas.microsoft.com/office/drawing/2014/main" id="{DAA0C5BA-C2D3-4A68-8EDE-1831408789D6}"/>
              </a:ext>
            </a:extLst>
          </p:cNvPr>
          <p:cNvSpPr>
            <a:spLocks noGrp="1"/>
          </p:cNvSpPr>
          <p:nvPr>
            <p:ph type="pic" sz="quarter" idx="13"/>
          </p:nvPr>
        </p:nvSpPr>
        <p:spPr>
          <a:xfrm>
            <a:off x="0" y="0"/>
            <a:ext cx="12191999" cy="6858000"/>
          </a:xfrm>
          <a:custGeom>
            <a:avLst/>
            <a:gdLst>
              <a:gd name="connsiteX0" fmla="*/ 0 w 11933381"/>
              <a:gd name="connsiteY0" fmla="*/ 0 h 6858000"/>
              <a:gd name="connsiteX1" fmla="*/ 11933381 w 11933381"/>
              <a:gd name="connsiteY1" fmla="*/ 0 h 6858000"/>
              <a:gd name="connsiteX2" fmla="*/ 11933381 w 11933381"/>
              <a:gd name="connsiteY2" fmla="*/ 6858000 h 6858000"/>
              <a:gd name="connsiteX3" fmla="*/ 0 w 11933381"/>
              <a:gd name="connsiteY3" fmla="*/ 6858000 h 6858000"/>
              <a:gd name="connsiteX4" fmla="*/ 0 w 11933381"/>
              <a:gd name="connsiteY4" fmla="*/ 5854361 h 6858000"/>
              <a:gd name="connsiteX5" fmla="*/ 8109878 w 11933381"/>
              <a:gd name="connsiteY5" fmla="*/ 5854361 h 6858000"/>
              <a:gd name="connsiteX6" fmla="*/ 8109878 w 11933381"/>
              <a:gd name="connsiteY6" fmla="*/ 1949923 h 6858000"/>
              <a:gd name="connsiteX7" fmla="*/ 0 w 11933381"/>
              <a:gd name="connsiteY7" fmla="*/ 1949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33381" h="6858000">
                <a:moveTo>
                  <a:pt x="0" y="0"/>
                </a:moveTo>
                <a:lnTo>
                  <a:pt x="11933381" y="0"/>
                </a:lnTo>
                <a:lnTo>
                  <a:pt x="11933381" y="6858000"/>
                </a:lnTo>
                <a:lnTo>
                  <a:pt x="0" y="6858000"/>
                </a:lnTo>
                <a:lnTo>
                  <a:pt x="0" y="5854361"/>
                </a:lnTo>
                <a:lnTo>
                  <a:pt x="8109878" y="5854361"/>
                </a:lnTo>
                <a:lnTo>
                  <a:pt x="8109878" y="1949923"/>
                </a:lnTo>
                <a:lnTo>
                  <a:pt x="0" y="1949923"/>
                </a:lnTo>
                <a:close/>
              </a:path>
            </a:pathLst>
          </a:custGeom>
          <a:solidFill>
            <a:schemeClr val="bg1"/>
          </a:solid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132737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 Divider with Image">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373C762-8092-4F49-BC46-91BCA0557F23}"/>
              </a:ext>
            </a:extLst>
          </p:cNvPr>
          <p:cNvSpPr>
            <a:spLocks noGrp="1"/>
          </p:cNvSpPr>
          <p:nvPr>
            <p:ph type="pic" sz="quarter" idx="10"/>
          </p:nvPr>
        </p:nvSpPr>
        <p:spPr>
          <a:xfrm>
            <a:off x="0"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2430682 h 6858000"/>
              <a:gd name="connsiteX3" fmla="*/ 3823504 w 12191999"/>
              <a:gd name="connsiteY3" fmla="*/ 2430682 h 6858000"/>
              <a:gd name="connsiteX4" fmla="*/ 3823504 w 12191999"/>
              <a:gd name="connsiteY4" fmla="*/ 6335120 h 6858000"/>
              <a:gd name="connsiteX5" fmla="*/ 12191999 w 12191999"/>
              <a:gd name="connsiteY5" fmla="*/ 633512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2191999" y="0"/>
                </a:lnTo>
                <a:lnTo>
                  <a:pt x="12191999" y="2430682"/>
                </a:lnTo>
                <a:lnTo>
                  <a:pt x="3823504" y="2430682"/>
                </a:lnTo>
                <a:lnTo>
                  <a:pt x="3823504" y="6335120"/>
                </a:lnTo>
                <a:lnTo>
                  <a:pt x="12191999" y="6335120"/>
                </a:lnTo>
                <a:lnTo>
                  <a:pt x="12191999" y="6858000"/>
                </a:lnTo>
                <a:lnTo>
                  <a:pt x="0" y="6858000"/>
                </a:lnTo>
                <a:close/>
              </a:path>
            </a:pathLst>
          </a:custGeom>
          <a:solidFill>
            <a:schemeClr val="bg1"/>
          </a:solidFill>
        </p:spPr>
        <p:txBody>
          <a:bodyPr wrap="square">
            <a:noAutofit/>
          </a:bodyPr>
          <a:lstStyle/>
          <a:p>
            <a:r>
              <a:rPr lang="en-US"/>
              <a:t>Click icon to add picture</a:t>
            </a:r>
            <a:endParaRPr lang="en-US" dirty="0"/>
          </a:p>
        </p:txBody>
      </p:sp>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4403208" y="2870519"/>
            <a:ext cx="7252505" cy="891250"/>
          </a:xfrm>
        </p:spPr>
        <p:txBody>
          <a:bodyPr anchor="t">
            <a:noAutofit/>
          </a:bodyPr>
          <a:lstStyle>
            <a:lvl1pPr>
              <a:defRPr sz="5000" b="1">
                <a:solidFill>
                  <a:schemeClr val="bg1"/>
                </a:solidFill>
                <a:latin typeface="+mj-lt"/>
              </a:defRPr>
            </a:lvl1pPr>
          </a:lstStyle>
          <a:p>
            <a:r>
              <a:rPr lang="en-US" dirty="0"/>
              <a:t>CLICK TO ADD TITLE</a:t>
            </a:r>
          </a:p>
        </p:txBody>
      </p:sp>
      <p:sp>
        <p:nvSpPr>
          <p:cNvPr id="9"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4403209" y="3958542"/>
            <a:ext cx="7252504" cy="338549"/>
          </a:xfrm>
        </p:spPr>
        <p:txBody>
          <a:bodyPr>
            <a:normAutofit/>
          </a:bodyPr>
          <a:lstStyle>
            <a:lvl1pPr marL="0" indent="0">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10" name="Shape 62">
            <a:extLst>
              <a:ext uri="{FF2B5EF4-FFF2-40B4-BE49-F238E27FC236}">
                <a16:creationId xmlns:a16="http://schemas.microsoft.com/office/drawing/2014/main" id="{171AB7B1-2963-43C8-84A5-2FCF188ACF42}"/>
              </a:ext>
            </a:extLst>
          </p:cNvPr>
          <p:cNvSpPr/>
          <p:nvPr userDrawn="1"/>
        </p:nvSpPr>
        <p:spPr>
          <a:xfrm rot="16200000" flipV="1">
            <a:off x="4788658" y="2817190"/>
            <a:ext cx="0" cy="1930310"/>
          </a:xfrm>
          <a:prstGeom prst="line">
            <a:avLst/>
          </a:prstGeom>
          <a:ln w="25400">
            <a:solidFill>
              <a:schemeClr val="bg1"/>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4235650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Divider 2">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652B907-27B2-46E0-B157-E5617EF0413D}"/>
              </a:ext>
            </a:extLst>
          </p:cNvPr>
          <p:cNvSpPr>
            <a:spLocks noGrp="1"/>
          </p:cNvSpPr>
          <p:nvPr>
            <p:ph type="pic" sz="quarter" idx="10"/>
          </p:nvPr>
        </p:nvSpPr>
        <p:spPr>
          <a:xfrm>
            <a:off x="0" y="0"/>
            <a:ext cx="12191999" cy="6858000"/>
          </a:xfrm>
          <a:custGeom>
            <a:avLst/>
            <a:gdLst>
              <a:gd name="connsiteX0" fmla="*/ 0 w 12191999"/>
              <a:gd name="connsiteY0" fmla="*/ 0 h 6553196"/>
              <a:gd name="connsiteX1" fmla="*/ 12191999 w 12191999"/>
              <a:gd name="connsiteY1" fmla="*/ 0 h 6553196"/>
              <a:gd name="connsiteX2" fmla="*/ 12191999 w 12191999"/>
              <a:gd name="connsiteY2" fmla="*/ 6553196 h 6553196"/>
              <a:gd name="connsiteX3" fmla="*/ 9099630 w 12191999"/>
              <a:gd name="connsiteY3" fmla="*/ 6553196 h 6553196"/>
              <a:gd name="connsiteX4" fmla="*/ 9099630 w 12191999"/>
              <a:gd name="connsiteY4" fmla="*/ 2953562 h 6553196"/>
              <a:gd name="connsiteX5" fmla="*/ 731134 w 12191999"/>
              <a:gd name="connsiteY5" fmla="*/ 2953562 h 6553196"/>
              <a:gd name="connsiteX6" fmla="*/ 731134 w 12191999"/>
              <a:gd name="connsiteY6" fmla="*/ 6553196 h 6553196"/>
              <a:gd name="connsiteX7" fmla="*/ 0 w 12191999"/>
              <a:gd name="connsiteY7" fmla="*/ 6553196 h 655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553196">
                <a:moveTo>
                  <a:pt x="0" y="0"/>
                </a:moveTo>
                <a:lnTo>
                  <a:pt x="12191999" y="0"/>
                </a:lnTo>
                <a:lnTo>
                  <a:pt x="12191999" y="6553196"/>
                </a:lnTo>
                <a:lnTo>
                  <a:pt x="9099630" y="6553196"/>
                </a:lnTo>
                <a:lnTo>
                  <a:pt x="9099630" y="2953562"/>
                </a:lnTo>
                <a:lnTo>
                  <a:pt x="731134" y="2953562"/>
                </a:lnTo>
                <a:lnTo>
                  <a:pt x="731134" y="6553196"/>
                </a:lnTo>
                <a:lnTo>
                  <a:pt x="0" y="6553196"/>
                </a:lnTo>
                <a:close/>
              </a:path>
            </a:pathLst>
          </a:custGeom>
          <a:solidFill>
            <a:schemeClr val="bg1"/>
          </a:solidFill>
        </p:spPr>
        <p:txBody>
          <a:bodyPr wrap="square">
            <a:noAutofit/>
          </a:bodyPr>
          <a:lstStyle>
            <a:lvl1pPr>
              <a:defRPr>
                <a:latin typeface="+mn-lt"/>
              </a:defRPr>
            </a:lvl1pPr>
          </a:lstStyle>
          <a:p>
            <a:r>
              <a:rPr lang="en-US"/>
              <a:t>Click icon to add picture</a:t>
            </a:r>
            <a:endParaRPr lang="en-US" dirty="0"/>
          </a:p>
        </p:txBody>
      </p:sp>
      <p:sp>
        <p:nvSpPr>
          <p:cNvPr id="7" name="Title 1">
            <a:extLst>
              <a:ext uri="{FF2B5EF4-FFF2-40B4-BE49-F238E27FC236}">
                <a16:creationId xmlns:a16="http://schemas.microsoft.com/office/drawing/2014/main" id="{81AEE170-55AC-411A-B257-BD682DE716D0}"/>
              </a:ext>
            </a:extLst>
          </p:cNvPr>
          <p:cNvSpPr>
            <a:spLocks noGrp="1"/>
          </p:cNvSpPr>
          <p:nvPr>
            <p:ph type="title" hasCustomPrompt="1"/>
          </p:nvPr>
        </p:nvSpPr>
        <p:spPr>
          <a:xfrm>
            <a:off x="1220164" y="3379810"/>
            <a:ext cx="7252505" cy="891250"/>
          </a:xfrm>
        </p:spPr>
        <p:txBody>
          <a:bodyPr anchor="t">
            <a:noAutofit/>
          </a:bodyPr>
          <a:lstStyle>
            <a:lvl1pPr algn="l">
              <a:defRPr sz="5000" b="1">
                <a:solidFill>
                  <a:schemeClr val="bg1"/>
                </a:solidFill>
                <a:latin typeface="+mj-lt"/>
              </a:defRPr>
            </a:lvl1pPr>
          </a:lstStyle>
          <a:p>
            <a:r>
              <a:rPr lang="en-US" dirty="0"/>
              <a:t>CLICK TO ADD TITLE</a:t>
            </a:r>
          </a:p>
        </p:txBody>
      </p:sp>
      <p:sp>
        <p:nvSpPr>
          <p:cNvPr id="8" name="Text Placeholder 12">
            <a:extLst>
              <a:ext uri="{FF2B5EF4-FFF2-40B4-BE49-F238E27FC236}">
                <a16:creationId xmlns:a16="http://schemas.microsoft.com/office/drawing/2014/main" id="{92D701DC-3803-4D06-BFB3-A9F78E4022EF}"/>
              </a:ext>
            </a:extLst>
          </p:cNvPr>
          <p:cNvSpPr>
            <a:spLocks noGrp="1"/>
          </p:cNvSpPr>
          <p:nvPr>
            <p:ph type="body" sz="quarter" idx="14" hasCustomPrompt="1"/>
          </p:nvPr>
        </p:nvSpPr>
        <p:spPr>
          <a:xfrm>
            <a:off x="1220165" y="4467833"/>
            <a:ext cx="7252504" cy="338549"/>
          </a:xfrm>
        </p:spPr>
        <p:txBody>
          <a:bodyPr>
            <a:normAutofit/>
          </a:bodyPr>
          <a:lstStyle>
            <a:lvl1pPr marL="0" indent="0" algn="l">
              <a:buNone/>
              <a:defRPr sz="1600" spc="300">
                <a:solidFill>
                  <a:schemeClr val="bg1"/>
                </a:solidFill>
                <a:latin typeface="+mn-lt"/>
                <a:cs typeface="Arial" panose="020B0604020202020204" pitchFamily="34" charset="0"/>
              </a:defRPr>
            </a:lvl1pPr>
          </a:lstStyle>
          <a:p>
            <a:pPr lvl="0"/>
            <a:r>
              <a:rPr lang="en-US" dirty="0"/>
              <a:t>SUBTITLE GOES HERE</a:t>
            </a:r>
          </a:p>
        </p:txBody>
      </p:sp>
      <p:sp>
        <p:nvSpPr>
          <p:cNvPr id="9" name="Shape 62">
            <a:extLst>
              <a:ext uri="{FF2B5EF4-FFF2-40B4-BE49-F238E27FC236}">
                <a16:creationId xmlns:a16="http://schemas.microsoft.com/office/drawing/2014/main" id="{71FB5177-8D30-4482-99E2-8BFEB1D37D9E}"/>
              </a:ext>
            </a:extLst>
          </p:cNvPr>
          <p:cNvSpPr/>
          <p:nvPr userDrawn="1"/>
        </p:nvSpPr>
        <p:spPr>
          <a:xfrm rot="16200000" flipV="1">
            <a:off x="1285385" y="3006251"/>
            <a:ext cx="0" cy="2570770"/>
          </a:xfrm>
          <a:prstGeom prst="line">
            <a:avLst/>
          </a:prstGeom>
          <a:ln w="25400">
            <a:solidFill>
              <a:schemeClr val="bg1"/>
            </a:solidFill>
            <a:miter lim="400000"/>
          </a:ln>
        </p:spPr>
        <p:txBody>
          <a:bodyPr lIns="19050" tIns="19050" rIns="19050" bIns="19050" anchor="ctr"/>
          <a:lstStyle/>
          <a:p>
            <a:pPr algn="l">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9341788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6" y="4867539"/>
            <a:ext cx="2275389" cy="1025525"/>
          </a:xfrm>
          <a:noFill/>
        </p:spPr>
        <p:txBody>
          <a:bodyPr vert="horz" lIns="0" tIns="45720" rIns="91440" bIns="0" rtlCol="0" anchor="b">
            <a:noAutofit/>
          </a:bodyPr>
          <a:lstStyle>
            <a:lvl1pPr>
              <a:defRPr lang="en-US" sz="5000" b="1">
                <a:solidFill>
                  <a:schemeClr val="tx2"/>
                </a:solidFill>
                <a:latin typeface="+mj-lt"/>
              </a:defRPr>
            </a:lvl1pPr>
          </a:lstStyle>
          <a:p>
            <a:pPr marL="0" lvl="0"/>
            <a:r>
              <a:rPr lang="en-US" dirty="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8634413" y="812800"/>
            <a:ext cx="3557587" cy="5232400"/>
          </a:xfrm>
        </p:spPr>
        <p:txBody>
          <a:bodyPr/>
          <a:lstStyle>
            <a:lvl1pPr>
              <a:defRPr>
                <a:latin typeface="+mn-lt"/>
              </a:defRPr>
            </a:lvl1p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155313" y="879710"/>
            <a:ext cx="4294206" cy="755650"/>
          </a:xfrm>
        </p:spPr>
        <p:txBody>
          <a:bodyPr anchor="ctr">
            <a:normAutofit/>
          </a:bodyPr>
          <a:lstStyle>
            <a:lvl1pPr marL="0" indent="0">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155313" y="1956155"/>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155313" y="3032600"/>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155313" y="4109045"/>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155313" y="5185490"/>
            <a:ext cx="4294206"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42" name="Shape 62">
            <a:extLst>
              <a:ext uri="{FF2B5EF4-FFF2-40B4-BE49-F238E27FC236}">
                <a16:creationId xmlns:a16="http://schemas.microsoft.com/office/drawing/2014/main" id="{2683CBB0-468F-4DD2-853B-FBFFA91B662E}"/>
              </a:ext>
            </a:extLst>
          </p:cNvPr>
          <p:cNvSpPr/>
          <p:nvPr userDrawn="1"/>
        </p:nvSpPr>
        <p:spPr>
          <a:xfrm rot="16200000" flipV="1">
            <a:off x="965155" y="3899540"/>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122606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6" y="4867539"/>
            <a:ext cx="2356412" cy="1025525"/>
          </a:xfrm>
          <a:noFill/>
        </p:spPr>
        <p:txBody>
          <a:bodyPr vert="horz" lIns="0" tIns="45720" rIns="91440" bIns="0" rtlCol="0" anchor="b">
            <a:noAutofit/>
          </a:bodyPr>
          <a:lstStyle>
            <a:lvl1pPr>
              <a:defRPr lang="en-US" sz="5000" b="1">
                <a:solidFill>
                  <a:schemeClr val="tx2"/>
                </a:solidFill>
                <a:latin typeface="+mj-lt"/>
              </a:defRPr>
            </a:lvl1pPr>
          </a:lstStyle>
          <a:p>
            <a:pPr marL="0" lvl="0"/>
            <a:r>
              <a:rPr lang="en-US" dirty="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3778137" y="2225040"/>
            <a:ext cx="3557587" cy="3668025"/>
          </a:xfrm>
        </p:spPr>
        <p:txBody>
          <a:bodyPr/>
          <a:lstStyle>
            <a:lvl1pPr>
              <a:defRPr>
                <a:latin typeface="+mn-lt"/>
              </a:defRPr>
            </a:lvl1p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7559432" y="2055335"/>
            <a:ext cx="4294206" cy="755650"/>
          </a:xfrm>
        </p:spPr>
        <p:txBody>
          <a:bodyPr anchor="ctr">
            <a:normAutofit/>
          </a:bodyPr>
          <a:lstStyle>
            <a:lvl1pPr marL="0" indent="0">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7559432" y="2782449"/>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7559432" y="4352427"/>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7559432" y="3567438"/>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7559432" y="5137415"/>
            <a:ext cx="4294206" cy="755650"/>
          </a:xfrm>
        </p:spPr>
        <p:txBody>
          <a:bodyPr anchor="ctr">
            <a:normAutofit/>
          </a:bodyPr>
          <a:lstStyle>
            <a:lvl1pPr marL="0" indent="0">
              <a:spcBef>
                <a:spcPts val="0"/>
              </a:spcBef>
              <a:buNone/>
              <a:defRPr sz="1400">
                <a:solidFill>
                  <a:schemeClr val="tx2"/>
                </a:solidFill>
                <a:latin typeface="+mn-lt"/>
                <a:cs typeface="Arial" panose="020B0604020202020204" pitchFamily="34" charset="0"/>
              </a:defRPr>
            </a:lvl1pPr>
            <a:lvl2pPr marL="457200" indent="0">
              <a:buNone/>
              <a:defRPr/>
            </a:lvl2pPr>
          </a:lstStyle>
          <a:p>
            <a:pPr lvl="0"/>
            <a:r>
              <a:rPr lang="en-US" dirty="0"/>
              <a:t>Click to edit Master </a:t>
            </a:r>
            <a:br>
              <a:rPr lang="en-US" dirty="0"/>
            </a:br>
            <a:r>
              <a:rPr lang="en-US" dirty="0"/>
              <a:t>text styles</a:t>
            </a:r>
          </a:p>
        </p:txBody>
      </p:sp>
      <p:sp>
        <p:nvSpPr>
          <p:cNvPr id="42" name="Shape 62">
            <a:extLst>
              <a:ext uri="{FF2B5EF4-FFF2-40B4-BE49-F238E27FC236}">
                <a16:creationId xmlns:a16="http://schemas.microsoft.com/office/drawing/2014/main" id="{2683CBB0-468F-4DD2-853B-FBFFA91B662E}"/>
              </a:ext>
            </a:extLst>
          </p:cNvPr>
          <p:cNvSpPr/>
          <p:nvPr userDrawn="1"/>
        </p:nvSpPr>
        <p:spPr>
          <a:xfrm rot="16200000" flipV="1">
            <a:off x="965155" y="3899540"/>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3" name="Rectangle 2">
            <a:extLst>
              <a:ext uri="{FF2B5EF4-FFF2-40B4-BE49-F238E27FC236}">
                <a16:creationId xmlns:a16="http://schemas.microsoft.com/office/drawing/2014/main" id="{E2F3CED5-D6C7-4A0B-B731-FDB78F4E3341}"/>
              </a:ext>
            </a:extLst>
          </p:cNvPr>
          <p:cNvSpPr/>
          <p:nvPr userDrawn="1"/>
        </p:nvSpPr>
        <p:spPr>
          <a:xfrm>
            <a:off x="3778137" y="0"/>
            <a:ext cx="3586162" cy="20593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9504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6" y="4867539"/>
            <a:ext cx="2239803" cy="1025525"/>
          </a:xfrm>
          <a:noFill/>
        </p:spPr>
        <p:txBody>
          <a:bodyPr vert="horz" lIns="0" tIns="45720" rIns="91440" bIns="0" rtlCol="0" anchor="b">
            <a:noAutofit/>
          </a:bodyPr>
          <a:lstStyle>
            <a:lvl1pPr>
              <a:defRPr lang="en-US" sz="5000" b="1">
                <a:solidFill>
                  <a:schemeClr val="tx2"/>
                </a:solidFill>
                <a:latin typeface="+mj-lt"/>
              </a:defRPr>
            </a:lvl1pPr>
          </a:lstStyle>
          <a:p>
            <a:pPr marL="0" lvl="0"/>
            <a:r>
              <a:rPr lang="en-US" noProof="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8634413" y="812800"/>
            <a:ext cx="3557587" cy="5232400"/>
          </a:xfrm>
        </p:spPr>
        <p:txBody>
          <a:bodyPr/>
          <a:lstStyle>
            <a:lvl1pPr>
              <a:defRPr>
                <a:latin typeface="+mn-lt"/>
              </a:defRPr>
            </a:lvl1pPr>
          </a:lstStyle>
          <a:p>
            <a:r>
              <a:rPr lang="en-US" noProof="0"/>
              <a:t>Click icon to add picture</a:t>
            </a:r>
            <a:endParaRPr lang="en-US" noProof="0"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476854" y="879710"/>
            <a:ext cx="3983858" cy="755650"/>
          </a:xfrm>
        </p:spPr>
        <p:txBody>
          <a:bodyPr anchor="ctr">
            <a:normAutofit/>
          </a:bodyPr>
          <a:lstStyle>
            <a:lvl1pPr marL="0" indent="0">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476854" y="1956155"/>
            <a:ext cx="3983858"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476854" y="3032600"/>
            <a:ext cx="3983858"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476854" y="4109045"/>
            <a:ext cx="3983858"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476854" y="5185490"/>
            <a:ext cx="3983858" cy="755650"/>
          </a:xfrm>
        </p:spPr>
        <p:txBody>
          <a:bodyPr anchor="ctr">
            <a:normAutofit/>
          </a:bodyPr>
          <a:lstStyle>
            <a:lvl1pPr marL="0" indent="0">
              <a:spcBef>
                <a:spcPts val="0"/>
              </a:spcBef>
              <a:buNone/>
              <a:defRPr sz="1600">
                <a:solidFill>
                  <a:schemeClr val="tx2"/>
                </a:solidFill>
                <a:latin typeface="+mn-lt"/>
                <a:cs typeface="Arial" panose="020B0604020202020204" pitchFamily="34" charset="0"/>
              </a:defRPr>
            </a:lvl1pPr>
            <a:lvl2pPr marL="457200" indent="0">
              <a:buNone/>
              <a:defRPr/>
            </a:lvl2pPr>
          </a:lstStyle>
          <a:p>
            <a:pPr lvl="0"/>
            <a:r>
              <a:rPr lang="en-US" noProof="0"/>
              <a:t>Click to edit Master </a:t>
            </a:r>
            <a:br>
              <a:rPr lang="en-US" noProof="0"/>
            </a:br>
            <a:r>
              <a:rPr lang="en-US" noProof="0"/>
              <a:t>text styles</a:t>
            </a:r>
          </a:p>
        </p:txBody>
      </p:sp>
      <p:sp>
        <p:nvSpPr>
          <p:cNvPr id="37" name="Text Placeholder 30">
            <a:extLst>
              <a:ext uri="{FF2B5EF4-FFF2-40B4-BE49-F238E27FC236}">
                <a16:creationId xmlns:a16="http://schemas.microsoft.com/office/drawing/2014/main" id="{2D435A30-7C8E-4847-B027-91CBFA159229}"/>
              </a:ext>
            </a:extLst>
          </p:cNvPr>
          <p:cNvSpPr>
            <a:spLocks noGrp="1"/>
          </p:cNvSpPr>
          <p:nvPr>
            <p:ph type="body" sz="quarter" idx="17" hasCustomPrompt="1"/>
          </p:nvPr>
        </p:nvSpPr>
        <p:spPr>
          <a:xfrm>
            <a:off x="3527730" y="879710"/>
            <a:ext cx="741082" cy="755650"/>
          </a:xfrm>
        </p:spPr>
        <p:txBody>
          <a:bodyPr rIns="0" anchor="ctr">
            <a:noAutofit/>
          </a:bodyPr>
          <a:lstStyle>
            <a:lvl1pPr marL="0" indent="0" algn="r">
              <a:buNone/>
              <a:defRPr sz="6000">
                <a:solidFill>
                  <a:schemeClr val="accent2"/>
                </a:solidFill>
                <a:latin typeface="+mj-lt"/>
                <a:cs typeface="Arial" panose="020B0604020202020204" pitchFamily="34" charset="0"/>
              </a:defRPr>
            </a:lvl1pPr>
            <a:lvl2pPr marL="457200" indent="0">
              <a:buNone/>
              <a:defRPr/>
            </a:lvl2pPr>
          </a:lstStyle>
          <a:p>
            <a:pPr lvl="0"/>
            <a:r>
              <a:rPr lang="en-US" noProof="0"/>
              <a:t>1</a:t>
            </a:r>
          </a:p>
        </p:txBody>
      </p:sp>
      <p:sp>
        <p:nvSpPr>
          <p:cNvPr id="38" name="Text Placeholder 30">
            <a:extLst>
              <a:ext uri="{FF2B5EF4-FFF2-40B4-BE49-F238E27FC236}">
                <a16:creationId xmlns:a16="http://schemas.microsoft.com/office/drawing/2014/main" id="{819BB324-34C6-4FF7-8780-D294AC6EC5AC}"/>
              </a:ext>
            </a:extLst>
          </p:cNvPr>
          <p:cNvSpPr>
            <a:spLocks noGrp="1"/>
          </p:cNvSpPr>
          <p:nvPr>
            <p:ph type="body" sz="quarter" idx="18" hasCustomPrompt="1"/>
          </p:nvPr>
        </p:nvSpPr>
        <p:spPr>
          <a:xfrm>
            <a:off x="3527730" y="1956155"/>
            <a:ext cx="741082" cy="755650"/>
          </a:xfrm>
        </p:spPr>
        <p:txBody>
          <a:bodyPr rIns="0" anchor="ctr">
            <a:noAutofit/>
          </a:bodyPr>
          <a:lstStyle>
            <a:lvl1pPr marL="0" indent="0" algn="r">
              <a:buNone/>
              <a:defRPr sz="6000">
                <a:solidFill>
                  <a:schemeClr val="accent2"/>
                </a:solidFill>
                <a:latin typeface="+mj-lt"/>
                <a:cs typeface="Arial" panose="020B0604020202020204" pitchFamily="34" charset="0"/>
              </a:defRPr>
            </a:lvl1pPr>
            <a:lvl2pPr marL="457200" indent="0">
              <a:buNone/>
              <a:defRPr/>
            </a:lvl2pPr>
          </a:lstStyle>
          <a:p>
            <a:pPr lvl="0"/>
            <a:r>
              <a:rPr lang="en-US" noProof="0"/>
              <a:t>2</a:t>
            </a:r>
          </a:p>
        </p:txBody>
      </p:sp>
      <p:sp>
        <p:nvSpPr>
          <p:cNvPr id="39" name="Text Placeholder 30">
            <a:extLst>
              <a:ext uri="{FF2B5EF4-FFF2-40B4-BE49-F238E27FC236}">
                <a16:creationId xmlns:a16="http://schemas.microsoft.com/office/drawing/2014/main" id="{43B3C496-FB0A-4924-A341-696D17E2D9C5}"/>
              </a:ext>
            </a:extLst>
          </p:cNvPr>
          <p:cNvSpPr>
            <a:spLocks noGrp="1"/>
          </p:cNvSpPr>
          <p:nvPr>
            <p:ph type="body" sz="quarter" idx="19" hasCustomPrompt="1"/>
          </p:nvPr>
        </p:nvSpPr>
        <p:spPr>
          <a:xfrm>
            <a:off x="3527730" y="3032600"/>
            <a:ext cx="741082" cy="755650"/>
          </a:xfrm>
        </p:spPr>
        <p:txBody>
          <a:bodyPr rIns="0" anchor="ctr">
            <a:noAutofit/>
          </a:bodyPr>
          <a:lstStyle>
            <a:lvl1pPr marL="0" indent="0" algn="r">
              <a:buNone/>
              <a:defRPr sz="6000">
                <a:solidFill>
                  <a:schemeClr val="accent2"/>
                </a:solidFill>
                <a:latin typeface="+mj-lt"/>
                <a:cs typeface="Arial" panose="020B0604020202020204" pitchFamily="34" charset="0"/>
              </a:defRPr>
            </a:lvl1pPr>
            <a:lvl2pPr marL="457200" indent="0">
              <a:buNone/>
              <a:defRPr/>
            </a:lvl2pPr>
          </a:lstStyle>
          <a:p>
            <a:pPr lvl="0"/>
            <a:r>
              <a:rPr lang="en-US" noProof="0"/>
              <a:t>3</a:t>
            </a:r>
          </a:p>
        </p:txBody>
      </p:sp>
      <p:sp>
        <p:nvSpPr>
          <p:cNvPr id="40" name="Text Placeholder 30">
            <a:extLst>
              <a:ext uri="{FF2B5EF4-FFF2-40B4-BE49-F238E27FC236}">
                <a16:creationId xmlns:a16="http://schemas.microsoft.com/office/drawing/2014/main" id="{FEACD5FF-800E-4BB0-82F3-2E0AEF1215D5}"/>
              </a:ext>
            </a:extLst>
          </p:cNvPr>
          <p:cNvSpPr>
            <a:spLocks noGrp="1"/>
          </p:cNvSpPr>
          <p:nvPr>
            <p:ph type="body" sz="quarter" idx="20" hasCustomPrompt="1"/>
          </p:nvPr>
        </p:nvSpPr>
        <p:spPr>
          <a:xfrm>
            <a:off x="3527730" y="4109045"/>
            <a:ext cx="741082" cy="755650"/>
          </a:xfrm>
        </p:spPr>
        <p:txBody>
          <a:bodyPr rIns="0" anchor="ctr">
            <a:noAutofit/>
          </a:bodyPr>
          <a:lstStyle>
            <a:lvl1pPr marL="0" indent="0" algn="r">
              <a:buNone/>
              <a:defRPr sz="6000">
                <a:solidFill>
                  <a:schemeClr val="accent2"/>
                </a:solidFill>
                <a:latin typeface="+mj-lt"/>
                <a:cs typeface="Arial" panose="020B0604020202020204" pitchFamily="34" charset="0"/>
              </a:defRPr>
            </a:lvl1pPr>
            <a:lvl2pPr marL="457200" indent="0">
              <a:buNone/>
              <a:defRPr/>
            </a:lvl2pPr>
          </a:lstStyle>
          <a:p>
            <a:pPr lvl="0"/>
            <a:r>
              <a:rPr lang="en-US" noProof="0"/>
              <a:t>4</a:t>
            </a:r>
          </a:p>
        </p:txBody>
      </p:sp>
      <p:sp>
        <p:nvSpPr>
          <p:cNvPr id="41" name="Text Placeholder 30">
            <a:extLst>
              <a:ext uri="{FF2B5EF4-FFF2-40B4-BE49-F238E27FC236}">
                <a16:creationId xmlns:a16="http://schemas.microsoft.com/office/drawing/2014/main" id="{58B97284-E1BE-4DCD-9CC1-C441D1A8573A}"/>
              </a:ext>
            </a:extLst>
          </p:cNvPr>
          <p:cNvSpPr>
            <a:spLocks noGrp="1"/>
          </p:cNvSpPr>
          <p:nvPr>
            <p:ph type="body" sz="quarter" idx="21" hasCustomPrompt="1"/>
          </p:nvPr>
        </p:nvSpPr>
        <p:spPr>
          <a:xfrm>
            <a:off x="3527730" y="5185490"/>
            <a:ext cx="741082" cy="755650"/>
          </a:xfrm>
        </p:spPr>
        <p:txBody>
          <a:bodyPr rIns="0" anchor="ctr">
            <a:noAutofit/>
          </a:bodyPr>
          <a:lstStyle>
            <a:lvl1pPr marL="0" indent="0" algn="r">
              <a:buNone/>
              <a:defRPr sz="6000">
                <a:solidFill>
                  <a:schemeClr val="accent2"/>
                </a:solidFill>
                <a:latin typeface="+mj-lt"/>
                <a:cs typeface="Arial" panose="020B0604020202020204" pitchFamily="34" charset="0"/>
              </a:defRPr>
            </a:lvl1pPr>
            <a:lvl2pPr marL="457200" indent="0">
              <a:buNone/>
              <a:defRPr/>
            </a:lvl2pPr>
          </a:lstStyle>
          <a:p>
            <a:pPr lvl="0"/>
            <a:r>
              <a:rPr lang="en-US" noProof="0"/>
              <a:t>5</a:t>
            </a:r>
          </a:p>
        </p:txBody>
      </p:sp>
      <p:sp>
        <p:nvSpPr>
          <p:cNvPr id="42" name="Shape 62">
            <a:extLst>
              <a:ext uri="{FF2B5EF4-FFF2-40B4-BE49-F238E27FC236}">
                <a16:creationId xmlns:a16="http://schemas.microsoft.com/office/drawing/2014/main" id="{79517603-8FAC-41C9-B5BE-3F8BA7D93CE6}"/>
              </a:ext>
            </a:extLst>
          </p:cNvPr>
          <p:cNvSpPr/>
          <p:nvPr userDrawn="1"/>
        </p:nvSpPr>
        <p:spPr>
          <a:xfrm rot="16200000" flipV="1">
            <a:off x="965155" y="3899540"/>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4283145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2812643" y="1691472"/>
            <a:ext cx="4385841" cy="1325563"/>
          </a:xfrm>
        </p:spPr>
        <p:txBody>
          <a:bodyPr anchor="b"/>
          <a:lstStyle>
            <a:lvl1pPr algn="r">
              <a:defRPr>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0" y="3500437"/>
            <a:ext cx="12192000" cy="3357563"/>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7569843" y="1690688"/>
            <a:ext cx="4155432" cy="1325562"/>
          </a:xfrm>
        </p:spPr>
        <p:txBody>
          <a:bodyPr>
            <a:noAutofit/>
          </a:bodyPr>
          <a:lstStyle>
            <a:lvl1pPr marL="0" indent="0">
              <a:lnSpc>
                <a:spcPct val="100000"/>
              </a:lnSpc>
              <a:buNone/>
              <a:defRPr sz="1400">
                <a:latin typeface="+mn-lt"/>
                <a:cs typeface="Arial" panose="020B0604020202020204" pitchFamily="34" charset="0"/>
              </a:defRPr>
            </a:lvl1pPr>
          </a:lstStyle>
          <a:p>
            <a:pPr lvl="0"/>
            <a:r>
              <a:rPr lang="en-US"/>
              <a:t>Click to 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p:nvPr>
        </p:nvSpPr>
        <p:spPr>
          <a:xfrm>
            <a:off x="7569843" y="1227698"/>
            <a:ext cx="4155432" cy="382749"/>
          </a:xfrm>
        </p:spPr>
        <p:txBody>
          <a:bodyPr anchor="b">
            <a:normAutofit/>
          </a:bodyPr>
          <a:lstStyle>
            <a:lvl1pPr marL="0" indent="0">
              <a:buNone/>
              <a:defRPr sz="1600" b="1">
                <a:latin typeface="+mn-lt"/>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984934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44948" y="1193765"/>
            <a:ext cx="4385841" cy="1325563"/>
          </a:xfrm>
        </p:spPr>
        <p:txBody>
          <a:bodyPr anchor="b">
            <a:normAutofit/>
          </a:bodyPr>
          <a:lstStyle>
            <a:lvl1pPr algn="r">
              <a:defRPr sz="4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44947" y="2632337"/>
            <a:ext cx="4385841" cy="3357563"/>
          </a:xfrm>
        </p:spPr>
        <p:txBody>
          <a:bodyPr/>
          <a:lstStyle>
            <a:lvl1pPr>
              <a:defRPr>
                <a:latin typeface="+mn-lt"/>
              </a:defRPr>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6" y="2540529"/>
            <a:ext cx="3046302" cy="382749"/>
          </a:xfrm>
        </p:spPr>
        <p:txBody>
          <a:bodyPr lIns="0" anchor="b">
            <a:norm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6" y="2540529"/>
            <a:ext cx="3023149" cy="382749"/>
          </a:xfrm>
        </p:spPr>
        <p:txBody>
          <a:bodyPr vert="horz" lIns="0" tIns="45720" rIns="91440" bIns="45720" rtlCol="0" anchor="b">
            <a:normAutofit/>
          </a:bodyPr>
          <a:lstStyle>
            <a:lvl1pPr>
              <a:defRPr lang="en-US" sz="16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5470525" y="2944813"/>
            <a:ext cx="3046413"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769606" y="2944813"/>
            <a:ext cx="3023149"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4414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5470525" y="1193765"/>
            <a:ext cx="6322230" cy="1325563"/>
          </a:xfrm>
        </p:spPr>
        <p:txBody>
          <a:bodyPr lIns="0" anchor="b">
            <a:normAutofit/>
          </a:bodyPr>
          <a:lstStyle>
            <a:lvl1pPr algn="l">
              <a:defRPr sz="4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1" y="1193765"/>
            <a:ext cx="5230788" cy="4796135"/>
          </a:xfrm>
        </p:spPr>
        <p:txBody>
          <a:bodyPr/>
          <a:lstStyle>
            <a:lvl1pPr>
              <a:defRPr>
                <a:latin typeface="+mn-lt"/>
              </a:defRPr>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6" y="2540529"/>
            <a:ext cx="3046302" cy="382749"/>
          </a:xfrm>
        </p:spPr>
        <p:txBody>
          <a:bodyPr lIns="0" anchor="b">
            <a:norm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6" y="2540529"/>
            <a:ext cx="3023149" cy="382749"/>
          </a:xfrm>
        </p:spPr>
        <p:txBody>
          <a:bodyPr vert="horz" lIns="0" tIns="45720" rIns="91440" bIns="45720" rtlCol="0" anchor="b">
            <a:normAutofit/>
          </a:bodyPr>
          <a:lstStyle>
            <a:lvl1pPr>
              <a:defRPr lang="en-US" sz="16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5470525" y="2944813"/>
            <a:ext cx="3046413"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769606" y="2944813"/>
            <a:ext cx="3023149"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6603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38200" y="1809009"/>
            <a:ext cx="3416928" cy="2884911"/>
          </a:xfrm>
        </p:spPr>
        <p:txBody>
          <a:bodyPr lIns="0" anchor="t">
            <a:normAutofit/>
          </a:bodyPr>
          <a:lstStyle>
            <a:lvl1pPr algn="r">
              <a:defRPr sz="4000">
                <a:solidFill>
                  <a:schemeClr val="accent1"/>
                </a:solidFill>
                <a:latin typeface="+mj-lt"/>
              </a:defRPr>
            </a:lvl1pPr>
          </a:lstStyle>
          <a:p>
            <a:r>
              <a:rPr lang="en-US"/>
              <a:t>Click to edit Master title style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10875" y="1809009"/>
            <a:ext cx="3686025" cy="382749"/>
          </a:xfrm>
        </p:spPr>
        <p:txBody>
          <a:bodyPr lIns="0" anchor="b">
            <a:norm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452175" y="1809009"/>
            <a:ext cx="3658010" cy="382749"/>
          </a:xfrm>
        </p:spPr>
        <p:txBody>
          <a:bodyPr vert="horz" lIns="0" tIns="45720" rIns="91440" bIns="45720" rtlCol="0" anchor="b">
            <a:normAutofit/>
          </a:bodyPr>
          <a:lstStyle>
            <a:lvl1pPr>
              <a:defRPr lang="en-US" sz="16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10572" y="2213293"/>
            <a:ext cx="3686159"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452175" y="2213293"/>
            <a:ext cx="3658010"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5064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0" y="1687089"/>
            <a:ext cx="4297212" cy="3449109"/>
          </a:xfrm>
          <a:solidFill>
            <a:schemeClr val="accent2"/>
          </a:solidFill>
        </p:spPr>
        <p:txBody>
          <a:bodyPr vert="horz" lIns="0" tIns="45720" rIns="324000" bIns="45720" rtlCol="0" anchor="ctr">
            <a:normAutofit/>
          </a:bodyPr>
          <a:lstStyle>
            <a:lvl1pPr>
              <a:defRPr lang="en-US" sz="4000" dirty="0">
                <a:latin typeface="+mj-lt"/>
              </a:defRPr>
            </a:lvl1pPr>
          </a:lstStyle>
          <a:p>
            <a:pPr marL="0" lvl="0" algn="r"/>
            <a:r>
              <a:rPr lang="en-US" dirty="0"/>
              <a:t>Click to edit Master title </a:t>
            </a:r>
            <a:br>
              <a:rPr lang="en-US" dirty="0"/>
            </a:br>
            <a:r>
              <a:rPr lang="en-US" dirty="0"/>
              <a:t>style</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68750" y="1687089"/>
            <a:ext cx="3686025" cy="382749"/>
          </a:xfrm>
        </p:spPr>
        <p:txBody>
          <a:bodyPr lIns="0" anchor="b">
            <a:norm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452175" y="1687089"/>
            <a:ext cx="3658010" cy="382749"/>
          </a:xfrm>
        </p:spPr>
        <p:txBody>
          <a:bodyPr vert="horz" lIns="0" tIns="45720" rIns="91440" bIns="45720" rtlCol="0" anchor="b">
            <a:normAutofit/>
          </a:bodyPr>
          <a:lstStyle>
            <a:lvl1pPr marL="0" indent="0">
              <a:buNone/>
              <a:defRPr lang="en-US" sz="1600" b="1" dirty="0">
                <a:latin typeface="+mn-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68447" y="2091373"/>
            <a:ext cx="3686159"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452175" y="2091373"/>
            <a:ext cx="3658010" cy="3044825"/>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hape 62">
            <a:extLst>
              <a:ext uri="{FF2B5EF4-FFF2-40B4-BE49-F238E27FC236}">
                <a16:creationId xmlns:a16="http://schemas.microsoft.com/office/drawing/2014/main" id="{22325F4A-8191-45D3-B031-5847B1E4B3AA}"/>
              </a:ext>
            </a:extLst>
          </p:cNvPr>
          <p:cNvSpPr/>
          <p:nvPr userDrawn="1"/>
        </p:nvSpPr>
        <p:spPr>
          <a:xfrm rot="16200000" flipV="1">
            <a:off x="3332057" y="1331831"/>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3" name="Rectangle 2">
            <a:extLst>
              <a:ext uri="{FF2B5EF4-FFF2-40B4-BE49-F238E27FC236}">
                <a16:creationId xmlns:a16="http://schemas.microsoft.com/office/drawing/2014/main" id="{60EEF041-4EFF-410A-AFB4-25A65B462B2D}"/>
              </a:ext>
            </a:extLst>
          </p:cNvPr>
          <p:cNvSpPr/>
          <p:nvPr userDrawn="1"/>
        </p:nvSpPr>
        <p:spPr>
          <a:xfrm>
            <a:off x="12087828" y="1675514"/>
            <a:ext cx="115747" cy="34491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Tree>
    <p:extLst>
      <p:ext uri="{BB962C8B-B14F-4D97-AF65-F5344CB8AC3E}">
        <p14:creationId xmlns:p14="http://schemas.microsoft.com/office/powerpoint/2010/main" val="3904490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1" y="1687090"/>
            <a:ext cx="4568750" cy="1721802"/>
          </a:xfrm>
          <a:noFill/>
        </p:spPr>
        <p:txBody>
          <a:bodyPr lIns="0" rIns="324000" anchor="ctr">
            <a:normAutofit/>
          </a:bodyPr>
          <a:lstStyle>
            <a:lvl1pPr algn="r">
              <a:defRPr sz="4000">
                <a:latin typeface="+mj-lt"/>
              </a:defRPr>
            </a:lvl1pPr>
          </a:lstStyle>
          <a:p>
            <a:r>
              <a:rPr lang="en-US" dirty="0"/>
              <a:t>Click to edit </a:t>
            </a:r>
            <a:br>
              <a:rPr lang="en-US" dirty="0"/>
            </a:br>
            <a:r>
              <a:rPr lang="en-US" dirty="0"/>
              <a:t>Master title style</a:t>
            </a:r>
          </a:p>
        </p:txBody>
      </p:sp>
      <p:sp>
        <p:nvSpPr>
          <p:cNvPr id="11" name="Title 1">
            <a:extLst>
              <a:ext uri="{FF2B5EF4-FFF2-40B4-BE49-F238E27FC236}">
                <a16:creationId xmlns:a16="http://schemas.microsoft.com/office/drawing/2014/main" id="{FC8F08DC-8736-4BFE-8B72-8DD4184DEBE1}"/>
              </a:ext>
            </a:extLst>
          </p:cNvPr>
          <p:cNvSpPr txBox="1">
            <a:spLocks/>
          </p:cNvSpPr>
          <p:nvPr userDrawn="1"/>
        </p:nvSpPr>
        <p:spPr>
          <a:xfrm>
            <a:off x="-1" y="3408891"/>
            <a:ext cx="12203575" cy="3449109"/>
          </a:xfrm>
          <a:prstGeom prst="rect">
            <a:avLst/>
          </a:prstGeom>
          <a:solidFill>
            <a:schemeClr val="accent2"/>
          </a:solidFill>
        </p:spPr>
        <p:txBody>
          <a:bodyPr vert="horz" lIns="0" tIns="45720" rIns="324000" bIns="4572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dirty="0">
              <a:latin typeface="+mn-lt"/>
            </a:endParaRP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68750" y="3666354"/>
            <a:ext cx="3448800" cy="382749"/>
          </a:xfrm>
        </p:spPr>
        <p:txBody>
          <a:bodyPr lIns="0" anchor="b">
            <a:norm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254055" y="3666354"/>
            <a:ext cx="3450265" cy="382749"/>
          </a:xfrm>
        </p:spPr>
        <p:txBody>
          <a:bodyPr vert="horz" lIns="0" tIns="45720" rIns="91440" bIns="45720" rtlCol="0" anchor="b">
            <a:normAutofit/>
          </a:bodyPr>
          <a:lstStyle>
            <a:lvl1pPr marL="0" indent="0">
              <a:buNone/>
              <a:defRPr lang="en-US" sz="1600" b="1" dirty="0">
                <a:latin typeface="+mn-lt"/>
              </a:defRPr>
            </a:lvl1pPr>
          </a:lstStyle>
          <a:p>
            <a:pPr marL="228600" lvl="0" indent="-22860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68447" y="4070639"/>
            <a:ext cx="3448800" cy="2253961"/>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254055" y="4070639"/>
            <a:ext cx="3450265" cy="2253961"/>
          </a:xfrm>
        </p:spPr>
        <p:txBody>
          <a:bodyPr lIns="0" tIns="72000">
            <a:normAutofit/>
          </a:bodyPr>
          <a:lstStyle>
            <a:lvl1pPr>
              <a:defRPr sz="1400">
                <a:latin typeface="+mn-lt"/>
              </a:defRPr>
            </a:lvl1pPr>
            <a:lvl2pPr>
              <a:defRPr sz="1200">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hape 62">
            <a:extLst>
              <a:ext uri="{FF2B5EF4-FFF2-40B4-BE49-F238E27FC236}">
                <a16:creationId xmlns:a16="http://schemas.microsoft.com/office/drawing/2014/main" id="{DADD8B14-6C18-4FC5-89FD-62D525A444DB}"/>
              </a:ext>
            </a:extLst>
          </p:cNvPr>
          <p:cNvSpPr/>
          <p:nvPr userDrawn="1"/>
        </p:nvSpPr>
        <p:spPr>
          <a:xfrm rot="16200000" flipV="1">
            <a:off x="3332057" y="729943"/>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6" name="Picture Placeholder 5">
            <a:extLst>
              <a:ext uri="{FF2B5EF4-FFF2-40B4-BE49-F238E27FC236}">
                <a16:creationId xmlns:a16="http://schemas.microsoft.com/office/drawing/2014/main" id="{09156155-C47D-47A0-A08D-DCAC4D742D3F}"/>
              </a:ext>
            </a:extLst>
          </p:cNvPr>
          <p:cNvSpPr>
            <a:spLocks noGrp="1"/>
          </p:cNvSpPr>
          <p:nvPr>
            <p:ph type="pic" sz="quarter" idx="17"/>
          </p:nvPr>
        </p:nvSpPr>
        <p:spPr>
          <a:xfrm>
            <a:off x="2214412" y="3805254"/>
            <a:ext cx="1935925" cy="1854770"/>
          </a:xfrm>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10072104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44948" y="1193765"/>
            <a:ext cx="4385841" cy="1325563"/>
          </a:xfrm>
        </p:spPr>
        <p:txBody>
          <a:bodyPr anchor="b">
            <a:normAutofit/>
          </a:bodyPr>
          <a:lstStyle>
            <a:lvl1pPr algn="r">
              <a:defRPr sz="4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44947" y="2632337"/>
            <a:ext cx="4385841" cy="3357563"/>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5470816" y="2944854"/>
            <a:ext cx="3046302" cy="3045045"/>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a:t>Click to 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6" y="2540529"/>
            <a:ext cx="3046302" cy="382749"/>
          </a:xfrm>
        </p:spPr>
        <p:txBody>
          <a:bodyPr lIns="0" anchor="b">
            <a:noAutofit/>
          </a:bodyPr>
          <a:lstStyle>
            <a:lvl1pPr marL="0" indent="0">
              <a:buNone/>
              <a:defRPr sz="1600" b="1">
                <a:latin typeface="+mn-lt"/>
                <a:cs typeface="Arial" panose="020B0604020202020204" pitchFamily="34" charset="0"/>
              </a:defRPr>
            </a:lvl1pPr>
          </a:lstStyle>
          <a:p>
            <a:pPr lvl="0"/>
            <a:r>
              <a:rPr lang="en-US" dirty="0"/>
              <a:t>Click to add title here</a:t>
            </a:r>
          </a:p>
        </p:txBody>
      </p:sp>
      <p:sp>
        <p:nvSpPr>
          <p:cNvPr id="6" name="Text Placeholder 6">
            <a:extLst>
              <a:ext uri="{FF2B5EF4-FFF2-40B4-BE49-F238E27FC236}">
                <a16:creationId xmlns:a16="http://schemas.microsoft.com/office/drawing/2014/main" id="{B2C5FA2F-DD81-4A72-AB26-A4C663724F42}"/>
              </a:ext>
            </a:extLst>
          </p:cNvPr>
          <p:cNvSpPr>
            <a:spLocks noGrp="1"/>
          </p:cNvSpPr>
          <p:nvPr>
            <p:ph type="body" sz="quarter" idx="13"/>
          </p:nvPr>
        </p:nvSpPr>
        <p:spPr>
          <a:xfrm>
            <a:off x="8769607" y="2944854"/>
            <a:ext cx="3046302" cy="3045045"/>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6" y="2540529"/>
            <a:ext cx="3023149" cy="382749"/>
          </a:xfrm>
        </p:spPr>
        <p:txBody>
          <a:bodyPr lIns="0" anchor="b">
            <a:noAutofit/>
          </a:bodyPr>
          <a:lstStyle>
            <a:lvl1pPr marL="0" indent="0">
              <a:buNone/>
              <a:defRPr sz="1600" b="1">
                <a:latin typeface="+mn-lt"/>
                <a:cs typeface="Arial" panose="020B0604020202020204" pitchFamily="34" charset="0"/>
              </a:defRPr>
            </a:lvl1pPr>
          </a:lstStyle>
          <a:p>
            <a:pPr lvl="0"/>
            <a:r>
              <a:rPr lang="en-US" dirty="0"/>
              <a:t>Click to add title here</a:t>
            </a:r>
          </a:p>
        </p:txBody>
      </p:sp>
    </p:spTree>
    <p:extLst>
      <p:ext uri="{BB962C8B-B14F-4D97-AF65-F5344CB8AC3E}">
        <p14:creationId xmlns:p14="http://schemas.microsoft.com/office/powerpoint/2010/main" val="39708105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7928658" y="836271"/>
            <a:ext cx="4263342" cy="5185458"/>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3657597" y="836271"/>
            <a:ext cx="4262400" cy="5185458"/>
          </a:xfrm>
          <a:solidFill>
            <a:schemeClr val="accent2"/>
          </a:solidFill>
        </p:spPr>
        <p:txBody>
          <a:bodyPr lIns="252000" tIns="144000" rIns="144000">
            <a:noAutofit/>
          </a:bodyPr>
          <a:lstStyle>
            <a:lvl1pPr marL="0" indent="0">
              <a:lnSpc>
                <a:spcPct val="100000"/>
              </a:lnSpc>
              <a:buNone/>
              <a:defRPr sz="1400">
                <a:solidFill>
                  <a:schemeClr val="tx2"/>
                </a:solidFill>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625033" y="1659770"/>
            <a:ext cx="2558005" cy="1325563"/>
          </a:xfrm>
        </p:spPr>
        <p:txBody>
          <a:bodyPr anchor="t"/>
          <a:lstStyle>
            <a:lvl1pPr algn="r">
              <a:defRPr>
                <a:latin typeface="+mj-lt"/>
              </a:defRPr>
            </a:lvl1pPr>
          </a:lstStyle>
          <a:p>
            <a:r>
              <a:rPr lang="en-US" dirty="0"/>
              <a:t>Click to </a:t>
            </a:r>
            <a:br>
              <a:rPr lang="en-US" dirty="0"/>
            </a:br>
            <a:r>
              <a:rPr lang="en-US" dirty="0"/>
              <a:t>Add Title</a:t>
            </a:r>
          </a:p>
        </p:txBody>
      </p:sp>
      <p:sp>
        <p:nvSpPr>
          <p:cNvPr id="6" name="Shape 62">
            <a:extLst>
              <a:ext uri="{FF2B5EF4-FFF2-40B4-BE49-F238E27FC236}">
                <a16:creationId xmlns:a16="http://schemas.microsoft.com/office/drawing/2014/main" id="{9EDA533D-03E6-4B64-A81C-A6F9E3301AB5}"/>
              </a:ext>
            </a:extLst>
          </p:cNvPr>
          <p:cNvSpPr/>
          <p:nvPr userDrawn="1"/>
        </p:nvSpPr>
        <p:spPr>
          <a:xfrm rot="16200000" flipV="1">
            <a:off x="965155" y="434980"/>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32174074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0" y="3206186"/>
            <a:ext cx="12192000" cy="3651813"/>
          </a:xfrm>
          <a:solidFill>
            <a:schemeClr val="accent2"/>
          </a:solidFill>
        </p:spPr>
        <p:txBody>
          <a:bodyPr lIns="5400000" tIns="216000" rIns="1800000">
            <a:noAutofit/>
          </a:bodyPr>
          <a:lstStyle>
            <a:lvl1pPr marL="0" indent="0">
              <a:lnSpc>
                <a:spcPct val="100000"/>
              </a:lnSpc>
              <a:buNone/>
              <a:defRPr sz="1400">
                <a:solidFill>
                  <a:schemeClr val="tx2"/>
                </a:solidFill>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5278053" y="1775520"/>
            <a:ext cx="6435524" cy="1325563"/>
          </a:xfrm>
        </p:spPr>
        <p:txBody>
          <a:bodyPr anchor="b"/>
          <a:lstStyle>
            <a:lvl1pPr algn="l">
              <a:defRPr>
                <a:latin typeface="+mj-lt"/>
              </a:defRPr>
            </a:lvl1pPr>
          </a:lstStyle>
          <a:p>
            <a:r>
              <a:rPr lang="en-US" dirty="0"/>
              <a:t>Click to Add Title</a:t>
            </a:r>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971836" y="836271"/>
            <a:ext cx="3523423" cy="5185458"/>
          </a:xfrm>
          <a:solidFill>
            <a:schemeClr val="bg1">
              <a:lumMod val="95000"/>
            </a:schemeClr>
          </a:solidFill>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9972271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5278052" y="3206186"/>
            <a:ext cx="6435525" cy="2815543"/>
          </a:xfrm>
          <a:noFill/>
          <a:ln>
            <a:noFill/>
          </a:ln>
        </p:spPr>
        <p:txBody>
          <a:bodyPr lIns="0" tIns="216000" rIns="1800000">
            <a:noAutofit/>
          </a:bodyPr>
          <a:lstStyle>
            <a:lvl1pPr marL="0" indent="0">
              <a:lnSpc>
                <a:spcPct val="100000"/>
              </a:lnSpc>
              <a:buNone/>
              <a:defRPr sz="1400">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5278053" y="1775520"/>
            <a:ext cx="6435524" cy="1325563"/>
          </a:xfrm>
        </p:spPr>
        <p:txBody>
          <a:bodyPr lIns="0" anchor="b"/>
          <a:lstStyle>
            <a:lvl1pPr algn="l">
              <a:defRPr>
                <a:latin typeface="+mj-lt"/>
              </a:defRPr>
            </a:lvl1pPr>
          </a:lstStyle>
          <a:p>
            <a:r>
              <a:rPr lang="en-US" dirty="0"/>
              <a:t>Click to Add Title</a:t>
            </a:r>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38200" y="836271"/>
            <a:ext cx="3657059" cy="5185458"/>
          </a:xfrm>
          <a:solidFill>
            <a:schemeClr val="bg1">
              <a:lumMod val="95000"/>
            </a:schemeClr>
          </a:solidFill>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583128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4745620" y="3428990"/>
            <a:ext cx="7446380" cy="3429009"/>
          </a:xfrm>
        </p:spPr>
        <p:txBody>
          <a:bodyPr/>
          <a:lstStyle>
            <a:lvl1pPr>
              <a:defRPr>
                <a:latin typeface="+mn-lt"/>
              </a:defRPr>
            </a:lvl1pPr>
          </a:lstStyle>
          <a:p>
            <a:r>
              <a:rPr lang="en-US"/>
              <a:t>Click icon to add picture</a:t>
            </a: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838200" y="1659770"/>
            <a:ext cx="3085618" cy="1325563"/>
          </a:xfrm>
        </p:spPr>
        <p:txBody>
          <a:bodyPr lIns="0" anchor="t"/>
          <a:lstStyle>
            <a:lvl1pPr algn="l">
              <a:defRPr>
                <a:latin typeface="+mj-lt"/>
              </a:defRPr>
            </a:lvl1pPr>
          </a:lstStyle>
          <a:p>
            <a:r>
              <a:rPr lang="en-US" dirty="0"/>
              <a:t>Click to </a:t>
            </a:r>
            <a:br>
              <a:rPr lang="en-US" dirty="0"/>
            </a:br>
            <a:r>
              <a:rPr lang="en-US" dirty="0"/>
              <a:t>Add Title</a:t>
            </a:r>
          </a:p>
        </p:txBody>
      </p:sp>
      <p:sp>
        <p:nvSpPr>
          <p:cNvPr id="6" name="Shape 62">
            <a:extLst>
              <a:ext uri="{FF2B5EF4-FFF2-40B4-BE49-F238E27FC236}">
                <a16:creationId xmlns:a16="http://schemas.microsoft.com/office/drawing/2014/main" id="{9EDA533D-03E6-4B64-A81C-A6F9E3301AB5}"/>
              </a:ext>
            </a:extLst>
          </p:cNvPr>
          <p:cNvSpPr/>
          <p:nvPr userDrawn="1"/>
        </p:nvSpPr>
        <p:spPr>
          <a:xfrm rot="16200000" flipV="1">
            <a:off x="965155" y="434980"/>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
        <p:nvSpPr>
          <p:cNvPr id="3" name="Rectangle 2">
            <a:extLst>
              <a:ext uri="{FF2B5EF4-FFF2-40B4-BE49-F238E27FC236}">
                <a16:creationId xmlns:a16="http://schemas.microsoft.com/office/drawing/2014/main" id="{9DF8596F-E730-47C4-86C3-F4A9B3F78268}"/>
              </a:ext>
            </a:extLst>
          </p:cNvPr>
          <p:cNvSpPr/>
          <p:nvPr userDrawn="1"/>
        </p:nvSpPr>
        <p:spPr>
          <a:xfrm>
            <a:off x="4745620" y="0"/>
            <a:ext cx="7446380" cy="3428990"/>
          </a:xfrm>
          <a:prstGeom prst="rect">
            <a:avLst/>
          </a:prstGeom>
          <a:solidFill>
            <a:schemeClr val="accent2"/>
          </a:solidFill>
        </p:spPr>
        <p:txBody>
          <a:bodyPr vert="horz" lIns="252000" tIns="144000" rIns="144000" bIns="45720" rtlCol="0">
            <a:noAutofit/>
          </a:bodyPr>
          <a:lstStyle/>
          <a:p>
            <a:pPr lvl="0" indent="0">
              <a:lnSpc>
                <a:spcPct val="100000"/>
              </a:lnSpc>
              <a:spcBef>
                <a:spcPts val="1000"/>
              </a:spcBef>
              <a:buFont typeface="Arial" panose="020B0604020202020204" pitchFamily="34" charset="0"/>
              <a:buNone/>
            </a:pPr>
            <a:endParaRPr lang="en-US" sz="1400" b="0" i="0" dirty="0">
              <a:solidFill>
                <a:schemeClr val="tx2"/>
              </a:solidFill>
              <a:latin typeface="+mn-lt"/>
              <a:cs typeface="Arial" panose="020B0604020202020204" pitchFamily="34" charset="0"/>
            </a:endParaRPr>
          </a:p>
        </p:txBody>
      </p:sp>
      <p:sp>
        <p:nvSpPr>
          <p:cNvPr id="8" name="Text Placeholder 6">
            <a:extLst>
              <a:ext uri="{FF2B5EF4-FFF2-40B4-BE49-F238E27FC236}">
                <a16:creationId xmlns:a16="http://schemas.microsoft.com/office/drawing/2014/main" id="{2E0AB4DF-4264-4631-9A72-72B25F9BEED8}"/>
              </a:ext>
            </a:extLst>
          </p:cNvPr>
          <p:cNvSpPr>
            <a:spLocks noGrp="1"/>
          </p:cNvSpPr>
          <p:nvPr>
            <p:ph type="body" sz="quarter" idx="12" hasCustomPrompt="1"/>
          </p:nvPr>
        </p:nvSpPr>
        <p:spPr>
          <a:xfrm>
            <a:off x="5359078" y="987207"/>
            <a:ext cx="2837822" cy="382749"/>
          </a:xfrm>
        </p:spPr>
        <p:txBody>
          <a:bodyPr lIns="0" tIns="0" anchor="t">
            <a:normAutofit/>
          </a:bodyPr>
          <a:lstStyle>
            <a:lvl1pPr marL="0" indent="0">
              <a:buNone/>
              <a:defRPr sz="1600" b="1">
                <a:solidFill>
                  <a:schemeClr val="tx2"/>
                </a:solidFill>
                <a:latin typeface="+mn-lt"/>
                <a:cs typeface="Arial" panose="020B0604020202020204" pitchFamily="34" charset="0"/>
              </a:defRPr>
            </a:lvl1pPr>
          </a:lstStyle>
          <a:p>
            <a:pPr lvl="0"/>
            <a:r>
              <a:rPr lang="en-US" dirty="0"/>
              <a:t>Click to add title here</a:t>
            </a:r>
          </a:p>
        </p:txBody>
      </p:sp>
      <p:sp>
        <p:nvSpPr>
          <p:cNvPr id="9" name="Text Placeholder 3">
            <a:extLst>
              <a:ext uri="{FF2B5EF4-FFF2-40B4-BE49-F238E27FC236}">
                <a16:creationId xmlns:a16="http://schemas.microsoft.com/office/drawing/2014/main" id="{0E3F0CD0-D764-45BB-9798-E9046593B3AC}"/>
              </a:ext>
            </a:extLst>
          </p:cNvPr>
          <p:cNvSpPr>
            <a:spLocks noGrp="1"/>
          </p:cNvSpPr>
          <p:nvPr>
            <p:ph type="body" sz="quarter" idx="15"/>
          </p:nvPr>
        </p:nvSpPr>
        <p:spPr>
          <a:xfrm>
            <a:off x="8351371" y="987208"/>
            <a:ext cx="3501106" cy="1397178"/>
          </a:xfrm>
        </p:spPr>
        <p:txBody>
          <a:bodyPr lIns="0" tIns="0">
            <a:normAutofit/>
          </a:bodyPr>
          <a:lstStyle>
            <a:lvl1pPr marL="0" indent="0">
              <a:lnSpc>
                <a:spcPct val="100000"/>
              </a:lnSpc>
              <a:buNone/>
              <a:defRPr sz="1400">
                <a:solidFill>
                  <a:schemeClr val="tx2"/>
                </a:solidFill>
                <a:latin typeface="+mn-lt"/>
              </a:defRPr>
            </a:lvl1pPr>
            <a:lvl2pPr marL="457200" indent="0">
              <a:buNone/>
              <a:defRPr sz="1200"/>
            </a:lvl2pPr>
            <a:lvl3pPr marL="914400" indent="0">
              <a:buNone/>
              <a:defRPr sz="110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3336362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B9B3BD2-24FF-4E30-B0DA-4DCD6E57D9FC}"/>
              </a:ext>
            </a:extLst>
          </p:cNvPr>
          <p:cNvSpPr>
            <a:spLocks noGrp="1"/>
          </p:cNvSpPr>
          <p:nvPr>
            <p:ph type="pic" sz="quarter" idx="10"/>
          </p:nvPr>
        </p:nvSpPr>
        <p:spPr>
          <a:xfrm>
            <a:off x="838200" y="0"/>
            <a:ext cx="11353800" cy="6858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C7F92C0C-7E68-45AE-8824-6858C6874760}"/>
              </a:ext>
            </a:extLst>
          </p:cNvPr>
          <p:cNvSpPr>
            <a:spLocks noGrp="1"/>
          </p:cNvSpPr>
          <p:nvPr>
            <p:ph type="title" hasCustomPrompt="1"/>
          </p:nvPr>
        </p:nvSpPr>
        <p:spPr>
          <a:xfrm>
            <a:off x="838200" y="4566452"/>
            <a:ext cx="5007015" cy="1440000"/>
          </a:xfrm>
          <a:solidFill>
            <a:schemeClr val="bg1"/>
          </a:solidFill>
        </p:spPr>
        <p:txBody>
          <a:bodyPr lIns="216000">
            <a:normAutofit/>
          </a:bodyPr>
          <a:lstStyle>
            <a:lvl1pPr>
              <a:defRPr sz="4000">
                <a:latin typeface="+mj-lt"/>
              </a:defRPr>
            </a:lvl1p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9536023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B9B3BD2-24FF-4E30-B0DA-4DCD6E57D9FC}"/>
              </a:ext>
            </a:extLst>
          </p:cNvPr>
          <p:cNvSpPr>
            <a:spLocks noGrp="1"/>
          </p:cNvSpPr>
          <p:nvPr>
            <p:ph type="pic" sz="quarter" idx="10"/>
          </p:nvPr>
        </p:nvSpPr>
        <p:spPr>
          <a:xfrm>
            <a:off x="838200" y="0"/>
            <a:ext cx="11353800" cy="6858000"/>
          </a:xfrm>
        </p:spPr>
        <p:txBody>
          <a:bodyPr/>
          <a:lstStyle/>
          <a:p>
            <a:r>
              <a:rPr lang="en-US"/>
              <a:t>Click icon to add picture</a:t>
            </a:r>
            <a:endParaRPr lang="en-US" dirty="0"/>
          </a:p>
        </p:txBody>
      </p:sp>
      <p:sp>
        <p:nvSpPr>
          <p:cNvPr id="4" name="Text Placeholder 3">
            <a:extLst>
              <a:ext uri="{FF2B5EF4-FFF2-40B4-BE49-F238E27FC236}">
                <a16:creationId xmlns:a16="http://schemas.microsoft.com/office/drawing/2014/main" id="{049A10FA-D831-43AB-9DF1-EDB14480E3E1}"/>
              </a:ext>
            </a:extLst>
          </p:cNvPr>
          <p:cNvSpPr>
            <a:spLocks noGrp="1"/>
          </p:cNvSpPr>
          <p:nvPr>
            <p:ph type="body" sz="quarter" idx="11" hasCustomPrompt="1"/>
          </p:nvPr>
        </p:nvSpPr>
        <p:spPr>
          <a:xfrm>
            <a:off x="0" y="-1478756"/>
            <a:ext cx="4572000" cy="1189037"/>
          </a:xfrm>
        </p:spPr>
        <p:txBody>
          <a:bodyPr anchor="b">
            <a:normAutofit/>
          </a:bodyPr>
          <a:lstStyle>
            <a:lvl1pPr marL="0" indent="0">
              <a:buNone/>
              <a:defRPr sz="2800">
                <a:solidFill>
                  <a:schemeClr val="bg1">
                    <a:lumMod val="85000"/>
                  </a:schemeClr>
                </a:solidFill>
              </a:defRPr>
            </a:lvl1pPr>
          </a:lstStyle>
          <a:p>
            <a:pPr lvl="0"/>
            <a:r>
              <a:rPr lang="en-US" dirty="0"/>
              <a:t>Slide Title</a:t>
            </a:r>
          </a:p>
        </p:txBody>
      </p:sp>
    </p:spTree>
    <p:extLst>
      <p:ext uri="{BB962C8B-B14F-4D97-AF65-F5344CB8AC3E}">
        <p14:creationId xmlns:p14="http://schemas.microsoft.com/office/powerpoint/2010/main" val="26320271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7FBD120B-8377-4641-9618-9DD682652CAA}"/>
              </a:ext>
            </a:extLst>
          </p:cNvPr>
          <p:cNvSpPr>
            <a:spLocks noGrp="1"/>
          </p:cNvSpPr>
          <p:nvPr>
            <p:ph type="title"/>
          </p:nvPr>
        </p:nvSpPr>
        <p:spPr>
          <a:xfrm>
            <a:off x="0" y="4705635"/>
            <a:ext cx="5845215" cy="1440000"/>
          </a:xfrm>
          <a:solidFill>
            <a:schemeClr val="bg1"/>
          </a:solidFill>
        </p:spPr>
        <p:txBody>
          <a:bodyPr lIns="792000">
            <a:normAutofit/>
          </a:bodyPr>
          <a:lstStyle>
            <a:lvl1pPr>
              <a:defRPr sz="4000">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42597402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Tree>
    <p:extLst>
      <p:ext uri="{BB962C8B-B14F-4D97-AF65-F5344CB8AC3E}">
        <p14:creationId xmlns:p14="http://schemas.microsoft.com/office/powerpoint/2010/main" val="29559417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5497975"/>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8DF09845-7890-4D10-A53B-2A4D05316878}"/>
              </a:ext>
            </a:extLst>
          </p:cNvPr>
          <p:cNvSpPr>
            <a:spLocks noGrp="1"/>
          </p:cNvSpPr>
          <p:nvPr>
            <p:ph type="title"/>
          </p:nvPr>
        </p:nvSpPr>
        <p:spPr>
          <a:xfrm>
            <a:off x="853440" y="5688402"/>
            <a:ext cx="8717280" cy="823070"/>
          </a:xfrm>
          <a:solidFill>
            <a:schemeClr val="bg1"/>
          </a:solidFill>
        </p:spPr>
        <p:txBody>
          <a:bodyPr lIns="0"/>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366147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5497975"/>
          </a:xfrm>
        </p:spPr>
        <p:txBody>
          <a:bodyPr/>
          <a:lstStyle/>
          <a:p>
            <a:r>
              <a:rPr lang="en-US"/>
              <a:t>Click icon to add picture</a:t>
            </a:r>
            <a:endParaRPr lang="en-US" dirty="0"/>
          </a:p>
        </p:txBody>
      </p:sp>
    </p:spTree>
    <p:extLst>
      <p:ext uri="{BB962C8B-B14F-4D97-AF65-F5344CB8AC3E}">
        <p14:creationId xmlns:p14="http://schemas.microsoft.com/office/powerpoint/2010/main" val="21259541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8200" y="1"/>
            <a:ext cx="11353800" cy="5547360"/>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7EBB9618-FC05-4C85-8241-A1EFCE8127AD}"/>
              </a:ext>
            </a:extLst>
          </p:cNvPr>
          <p:cNvSpPr>
            <a:spLocks noGrp="1"/>
          </p:cNvSpPr>
          <p:nvPr>
            <p:ph type="title"/>
          </p:nvPr>
        </p:nvSpPr>
        <p:spPr>
          <a:xfrm>
            <a:off x="853440" y="5688402"/>
            <a:ext cx="8717280" cy="823070"/>
          </a:xfrm>
          <a:solidFill>
            <a:schemeClr val="bg1"/>
          </a:solidFill>
        </p:spPr>
        <p:txBody>
          <a:bodyPr lIns="0"/>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27136611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8200" y="853441"/>
            <a:ext cx="11353800" cy="5151119"/>
          </a:xfrm>
        </p:spPr>
        <p:txBody>
          <a:bodyPr/>
          <a:lstStyle/>
          <a:p>
            <a:r>
              <a:rPr lang="en-US"/>
              <a:t>Click icon to add picture</a:t>
            </a:r>
            <a:endParaRPr lang="en-US" dirty="0"/>
          </a:p>
        </p:txBody>
      </p:sp>
    </p:spTree>
    <p:extLst>
      <p:ext uri="{BB962C8B-B14F-4D97-AF65-F5344CB8AC3E}">
        <p14:creationId xmlns:p14="http://schemas.microsoft.com/office/powerpoint/2010/main" val="39089884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1314209" y="1203769"/>
            <a:ext cx="9563582" cy="5060062"/>
          </a:xfrm>
          <a:solidFill>
            <a:schemeClr val="bg1"/>
          </a:solidFill>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F595BB60-922F-4254-AD20-DEA3FA4B75C4}"/>
              </a:ext>
            </a:extLst>
          </p:cNvPr>
          <p:cNvSpPr>
            <a:spLocks noGrp="1"/>
          </p:cNvSpPr>
          <p:nvPr>
            <p:ph type="title"/>
          </p:nvPr>
        </p:nvSpPr>
        <p:spPr>
          <a:xfrm>
            <a:off x="1314208" y="339162"/>
            <a:ext cx="9563581" cy="823070"/>
          </a:xfrm>
          <a:noFill/>
        </p:spPr>
        <p:txBody>
          <a:bodyPr lIns="0">
            <a:normAutofit/>
          </a:bodyPr>
          <a:lstStyle>
            <a:lvl1pPr>
              <a:defRPr sz="4000">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23234657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6030" y="747000"/>
            <a:ext cx="10519940" cy="5364000"/>
          </a:xfrm>
          <a:solidFill>
            <a:schemeClr val="bg1"/>
          </a:solidFill>
        </p:spPr>
        <p:txBody>
          <a:bodyPr/>
          <a:lstStyle/>
          <a:p>
            <a:r>
              <a:rPr lang="en-US"/>
              <a:t>Click icon to add picture</a:t>
            </a:r>
            <a:endParaRPr lang="en-US" dirty="0"/>
          </a:p>
        </p:txBody>
      </p:sp>
    </p:spTree>
    <p:extLst>
      <p:ext uri="{BB962C8B-B14F-4D97-AF65-F5344CB8AC3E}">
        <p14:creationId xmlns:p14="http://schemas.microsoft.com/office/powerpoint/2010/main" val="25622677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userDrawn="1"/>
        </p:nvSpPr>
        <p:spPr>
          <a:xfrm>
            <a:off x="-16640" y="0"/>
            <a:ext cx="1137043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365125"/>
            <a:ext cx="7634288" cy="1325563"/>
          </a:xfrm>
        </p:spPr>
        <p:txBody>
          <a:bodyPr>
            <a:normAutofit/>
          </a:bodyPr>
          <a:lstStyle>
            <a:lvl1pPr>
              <a:defRPr sz="6000" b="1">
                <a:solidFill>
                  <a:schemeClr val="bg1"/>
                </a:solidFill>
                <a:latin typeface="+mj-lt"/>
              </a:defRPr>
            </a:lvl1pPr>
          </a:lstStyle>
          <a:p>
            <a:r>
              <a:rPr lang="en-US" dirty="0"/>
              <a:t>Section Header</a:t>
            </a:r>
          </a:p>
        </p:txBody>
      </p:sp>
      <p:sp>
        <p:nvSpPr>
          <p:cNvPr id="4" name="Text Placeholder 3">
            <a:extLst>
              <a:ext uri="{FF2B5EF4-FFF2-40B4-BE49-F238E27FC236}">
                <a16:creationId xmlns:a16="http://schemas.microsoft.com/office/drawing/2014/main" id="{D3710961-EE19-42C5-8B1B-B6C986226248}"/>
              </a:ext>
            </a:extLst>
          </p:cNvPr>
          <p:cNvSpPr>
            <a:spLocks noGrp="1"/>
          </p:cNvSpPr>
          <p:nvPr>
            <p:ph type="body" sz="quarter" idx="10" hasCustomPrompt="1"/>
          </p:nvPr>
        </p:nvSpPr>
        <p:spPr>
          <a:xfrm>
            <a:off x="8530361" y="4719574"/>
            <a:ext cx="2489200" cy="3124200"/>
          </a:xfrm>
        </p:spPr>
        <p:txBody>
          <a:bodyPr tIns="0" bIns="0" anchor="b">
            <a:noAutofit/>
          </a:bodyPr>
          <a:lstStyle>
            <a:lvl1pPr marL="0" indent="0" algn="r">
              <a:buNone/>
              <a:defRPr sz="30000">
                <a:solidFill>
                  <a:schemeClr val="bg1">
                    <a:alpha val="20000"/>
                  </a:schemeClr>
                </a:solidFill>
                <a:latin typeface="+mj-lt"/>
                <a:cs typeface="Arial" panose="020B0604020202020204" pitchFamily="34" charset="0"/>
              </a:defRPr>
            </a:lvl1pPr>
          </a:lstStyle>
          <a:p>
            <a:pPr lvl="0"/>
            <a:r>
              <a:rPr lang="en-US" dirty="0"/>
              <a:t>1</a:t>
            </a:r>
          </a:p>
        </p:txBody>
      </p:sp>
    </p:spTree>
    <p:extLst>
      <p:ext uri="{BB962C8B-B14F-4D97-AF65-F5344CB8AC3E}">
        <p14:creationId xmlns:p14="http://schemas.microsoft.com/office/powerpoint/2010/main" val="2948043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userDrawn="1"/>
        </p:nvSpPr>
        <p:spPr>
          <a:xfrm>
            <a:off x="5831840" y="0"/>
            <a:ext cx="552195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771525"/>
            <a:ext cx="4699000" cy="1694180"/>
          </a:xfrm>
        </p:spPr>
        <p:txBody>
          <a:bodyPr lIns="0" anchor="t">
            <a:noAutofit/>
          </a:bodyPr>
          <a:lstStyle>
            <a:lvl1pPr>
              <a:defRPr sz="6600" b="1">
                <a:solidFill>
                  <a:schemeClr val="tx2"/>
                </a:solidFill>
                <a:latin typeface="+mj-lt"/>
              </a:defRPr>
            </a:lvl1pPr>
          </a:lstStyle>
          <a:p>
            <a:r>
              <a:rPr lang="en-US" dirty="0"/>
              <a:t>Section </a:t>
            </a:r>
            <a:br>
              <a:rPr lang="en-US" dirty="0"/>
            </a:br>
            <a:r>
              <a:rPr lang="en-US" dirty="0"/>
              <a:t>Header</a:t>
            </a:r>
          </a:p>
        </p:txBody>
      </p:sp>
      <p:sp>
        <p:nvSpPr>
          <p:cNvPr id="18" name="Text Placeholder 3">
            <a:extLst>
              <a:ext uri="{FF2B5EF4-FFF2-40B4-BE49-F238E27FC236}">
                <a16:creationId xmlns:a16="http://schemas.microsoft.com/office/drawing/2014/main" id="{6E820AC0-D6D8-48F9-9D9F-A17400A404BB}"/>
              </a:ext>
            </a:extLst>
          </p:cNvPr>
          <p:cNvSpPr>
            <a:spLocks noGrp="1"/>
          </p:cNvSpPr>
          <p:nvPr>
            <p:ph type="body" sz="quarter" idx="10" hasCustomPrompt="1"/>
          </p:nvPr>
        </p:nvSpPr>
        <p:spPr>
          <a:xfrm>
            <a:off x="8530361" y="4554447"/>
            <a:ext cx="2489200" cy="3124198"/>
          </a:xfrm>
        </p:spPr>
        <p:txBody>
          <a:bodyPr bIns="0" anchor="b">
            <a:noAutofit/>
          </a:bodyPr>
          <a:lstStyle>
            <a:lvl1pPr marL="0" indent="0" algn="r">
              <a:buNone/>
              <a:defRPr sz="25000">
                <a:solidFill>
                  <a:schemeClr val="bg1">
                    <a:alpha val="20000"/>
                  </a:schemeClr>
                </a:solidFill>
                <a:latin typeface="+mj-lt"/>
                <a:cs typeface="Arial" panose="020B0604020202020204" pitchFamily="34" charset="0"/>
              </a:defRPr>
            </a:lvl1pPr>
          </a:lstStyle>
          <a:p>
            <a:pPr lvl="0"/>
            <a:r>
              <a:rPr lang="en-US" dirty="0"/>
              <a:t>2</a:t>
            </a:r>
          </a:p>
        </p:txBody>
      </p:sp>
    </p:spTree>
    <p:extLst>
      <p:ext uri="{BB962C8B-B14F-4D97-AF65-F5344CB8AC3E}">
        <p14:creationId xmlns:p14="http://schemas.microsoft.com/office/powerpoint/2010/main" val="11717688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7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userDrawn="1"/>
        </p:nvSpPr>
        <p:spPr>
          <a:xfrm>
            <a:off x="1" y="0"/>
            <a:ext cx="705612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771525"/>
            <a:ext cx="5257800" cy="1694180"/>
          </a:xfrm>
        </p:spPr>
        <p:txBody>
          <a:bodyPr lIns="0" anchor="t">
            <a:normAutofit/>
          </a:bodyPr>
          <a:lstStyle>
            <a:lvl1pPr>
              <a:defRPr sz="6000" b="1">
                <a:solidFill>
                  <a:schemeClr val="bg1"/>
                </a:solidFill>
                <a:latin typeface="+mj-lt"/>
              </a:defRPr>
            </a:lvl1pPr>
          </a:lstStyle>
          <a:p>
            <a:r>
              <a:rPr lang="en-US" dirty="0"/>
              <a:t>Section Header</a:t>
            </a:r>
          </a:p>
        </p:txBody>
      </p:sp>
      <p:sp>
        <p:nvSpPr>
          <p:cNvPr id="18" name="Text Placeholder 3">
            <a:extLst>
              <a:ext uri="{FF2B5EF4-FFF2-40B4-BE49-F238E27FC236}">
                <a16:creationId xmlns:a16="http://schemas.microsoft.com/office/drawing/2014/main" id="{88BD7D8D-4534-4674-90CD-5444E7502E2A}"/>
              </a:ext>
            </a:extLst>
          </p:cNvPr>
          <p:cNvSpPr>
            <a:spLocks noGrp="1"/>
          </p:cNvSpPr>
          <p:nvPr>
            <p:ph type="body" sz="quarter" idx="10" hasCustomPrompt="1"/>
          </p:nvPr>
        </p:nvSpPr>
        <p:spPr>
          <a:xfrm>
            <a:off x="9502636" y="4463007"/>
            <a:ext cx="2489200" cy="3124198"/>
          </a:xfrm>
        </p:spPr>
        <p:txBody>
          <a:bodyPr bIns="0" anchor="b">
            <a:noAutofit/>
          </a:bodyPr>
          <a:lstStyle>
            <a:lvl1pPr marL="0" indent="0" algn="r">
              <a:buNone/>
              <a:defRPr sz="25000">
                <a:solidFill>
                  <a:schemeClr val="bg1">
                    <a:lumMod val="85000"/>
                    <a:alpha val="20000"/>
                  </a:schemeClr>
                </a:solidFill>
                <a:latin typeface="+mj-lt"/>
                <a:cs typeface="Arial" panose="020B0604020202020204" pitchFamily="34" charset="0"/>
              </a:defRPr>
            </a:lvl1pPr>
          </a:lstStyle>
          <a:p>
            <a:pPr lvl="0"/>
            <a:r>
              <a:rPr lang="en-US" dirty="0"/>
              <a:t>#</a:t>
            </a:r>
          </a:p>
        </p:txBody>
      </p:sp>
    </p:spTree>
    <p:extLst>
      <p:ext uri="{BB962C8B-B14F-4D97-AF65-F5344CB8AC3E}">
        <p14:creationId xmlns:p14="http://schemas.microsoft.com/office/powerpoint/2010/main" val="42496879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8_Custom Layout">
    <p:bg>
      <p:bgPr>
        <a:solidFill>
          <a:schemeClr val="bg1"/>
        </a:solidFill>
        <a:effectLst/>
      </p:bgPr>
    </p:bg>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FC75DEA4-0A76-480D-A95E-49B8E0DD9749}"/>
              </a:ext>
            </a:extLst>
          </p:cNvPr>
          <p:cNvSpPr>
            <a:spLocks noGrp="1"/>
          </p:cNvSpPr>
          <p:nvPr>
            <p:ph type="body" sz="quarter" idx="10" hasCustomPrompt="1"/>
          </p:nvPr>
        </p:nvSpPr>
        <p:spPr>
          <a:xfrm>
            <a:off x="7335647" y="3145492"/>
            <a:ext cx="2489200" cy="3124198"/>
          </a:xfrm>
        </p:spPr>
        <p:txBody>
          <a:bodyPr bIns="0" anchor="b">
            <a:noAutofit/>
          </a:bodyPr>
          <a:lstStyle>
            <a:lvl1pPr marL="0" indent="0" algn="l">
              <a:buNone/>
              <a:defRPr sz="25000">
                <a:solidFill>
                  <a:srgbClr val="5DAAB0">
                    <a:alpha val="20000"/>
                  </a:srgbClr>
                </a:solidFill>
                <a:latin typeface="+mj-lt"/>
                <a:cs typeface="Arial" panose="020B0604020202020204" pitchFamily="34" charset="0"/>
              </a:defRPr>
            </a:lvl1pPr>
          </a:lstStyle>
          <a:p>
            <a:pPr lvl="0"/>
            <a:r>
              <a:rPr lang="en-US" dirty="0"/>
              <a:t>#</a:t>
            </a:r>
          </a:p>
        </p:txBody>
      </p:sp>
      <p:sp>
        <p:nvSpPr>
          <p:cNvPr id="16" name="Rectangle 15">
            <a:extLst>
              <a:ext uri="{FF2B5EF4-FFF2-40B4-BE49-F238E27FC236}">
                <a16:creationId xmlns:a16="http://schemas.microsoft.com/office/drawing/2014/main" id="{E0729B41-53A1-4BDC-BF75-A9E553C70D89}"/>
              </a:ext>
            </a:extLst>
          </p:cNvPr>
          <p:cNvSpPr/>
          <p:nvPr userDrawn="1"/>
        </p:nvSpPr>
        <p:spPr>
          <a:xfrm>
            <a:off x="0" y="1394370"/>
            <a:ext cx="7056121" cy="406926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22960" y="1934210"/>
            <a:ext cx="5273040" cy="1694180"/>
          </a:xfrm>
        </p:spPr>
        <p:txBody>
          <a:bodyPr lIns="0" anchor="t">
            <a:normAutofit/>
          </a:bodyPr>
          <a:lstStyle>
            <a:lvl1pPr>
              <a:defRPr sz="6000" b="1">
                <a:solidFill>
                  <a:schemeClr val="bg1"/>
                </a:solidFill>
                <a:latin typeface="+mj-lt"/>
              </a:defRPr>
            </a:lvl1pPr>
          </a:lstStyle>
          <a:p>
            <a:r>
              <a:rPr lang="en-US" dirty="0"/>
              <a:t>Section Header</a:t>
            </a:r>
          </a:p>
        </p:txBody>
      </p:sp>
    </p:spTree>
    <p:extLst>
      <p:ext uri="{BB962C8B-B14F-4D97-AF65-F5344CB8AC3E}">
        <p14:creationId xmlns:p14="http://schemas.microsoft.com/office/powerpoint/2010/main" val="17935321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9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userDrawn="1"/>
        </p:nvSpPr>
        <p:spPr>
          <a:xfrm>
            <a:off x="-16640" y="1"/>
            <a:ext cx="12208639" cy="49072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22959" y="2691447"/>
            <a:ext cx="6272321" cy="1694180"/>
          </a:xfrm>
        </p:spPr>
        <p:txBody>
          <a:bodyPr lIns="0" anchor="b">
            <a:noAutofit/>
          </a:bodyPr>
          <a:lstStyle>
            <a:lvl1pPr algn="l">
              <a:defRPr sz="6600" b="1">
                <a:solidFill>
                  <a:schemeClr val="bg1"/>
                </a:solidFill>
                <a:latin typeface="+mj-lt"/>
              </a:defRPr>
            </a:lvl1pPr>
          </a:lstStyle>
          <a:p>
            <a:r>
              <a:rPr lang="en-US" dirty="0"/>
              <a:t>Section Header</a:t>
            </a:r>
          </a:p>
        </p:txBody>
      </p:sp>
      <p:sp>
        <p:nvSpPr>
          <p:cNvPr id="19" name="Text Placeholder 3">
            <a:extLst>
              <a:ext uri="{FF2B5EF4-FFF2-40B4-BE49-F238E27FC236}">
                <a16:creationId xmlns:a16="http://schemas.microsoft.com/office/drawing/2014/main" id="{7A110188-91CF-42CE-9B0F-643DB15F9D8E}"/>
              </a:ext>
            </a:extLst>
          </p:cNvPr>
          <p:cNvSpPr>
            <a:spLocks noGrp="1"/>
          </p:cNvSpPr>
          <p:nvPr>
            <p:ph type="body" sz="quarter" idx="10" hasCustomPrompt="1"/>
          </p:nvPr>
        </p:nvSpPr>
        <p:spPr>
          <a:xfrm>
            <a:off x="7591826" y="2613057"/>
            <a:ext cx="2489200" cy="3124198"/>
          </a:xfrm>
        </p:spPr>
        <p:txBody>
          <a:bodyPr bIns="0" anchor="b">
            <a:noAutofit/>
          </a:bodyPr>
          <a:lstStyle>
            <a:lvl1pPr marL="0" indent="0" algn="l">
              <a:buNone/>
              <a:defRPr sz="25000">
                <a:solidFill>
                  <a:srgbClr val="3B7579"/>
                </a:solidFill>
                <a:latin typeface="+mj-lt"/>
                <a:cs typeface="Arial" panose="020B0604020202020204" pitchFamily="34" charset="0"/>
              </a:defRPr>
            </a:lvl1pPr>
          </a:lstStyle>
          <a:p>
            <a:pPr lvl="0"/>
            <a:r>
              <a:rPr lang="en-US" dirty="0"/>
              <a:t>#</a:t>
            </a:r>
          </a:p>
        </p:txBody>
      </p:sp>
    </p:spTree>
    <p:extLst>
      <p:ext uri="{BB962C8B-B14F-4D97-AF65-F5344CB8AC3E}">
        <p14:creationId xmlns:p14="http://schemas.microsoft.com/office/powerpoint/2010/main" val="37630524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9791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userDrawn="1"/>
        </p:nvSpPr>
        <p:spPr>
          <a:xfrm>
            <a:off x="0" y="0"/>
            <a:ext cx="6057900" cy="6857995"/>
          </a:xfrm>
          <a:prstGeom prst="rect">
            <a:avLst/>
          </a:prstGeom>
          <a:solidFill>
            <a:schemeClr val="accent2"/>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1100290"/>
            <a:ext cx="4008437" cy="1395208"/>
          </a:xfrm>
        </p:spPr>
        <p:txBody>
          <a:bodyPr lIns="0" anchor="b"/>
          <a:lstStyle>
            <a:lvl1pPr>
              <a:defRPr b="1">
                <a:latin typeface="+mj-lt"/>
              </a:defRPr>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2561159"/>
            <a:ext cx="4008437" cy="602887"/>
          </a:xfrm>
        </p:spPr>
        <p:txBody>
          <a:bodyPr lIns="0" anchor="t">
            <a:normAutofit/>
          </a:bodyPr>
          <a:lstStyle>
            <a:lvl1pPr marL="0" indent="0">
              <a:buNone/>
              <a:defRPr sz="1400" spc="3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userDrawn="1"/>
        </p:nvSpPr>
        <p:spPr>
          <a:xfrm rot="16200000" flipV="1">
            <a:off x="965155" y="18291"/>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40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0" y="3278528"/>
            <a:ext cx="4008438" cy="2560899"/>
          </a:xfrm>
        </p:spPr>
        <p:txBody>
          <a:bodyPr lIns="0">
            <a:noAutofit/>
          </a:bodyPr>
          <a:lstStyle>
            <a:lvl1pPr marL="0" indent="0">
              <a:lnSpc>
                <a:spcPct val="100000"/>
              </a:lnSpc>
              <a:buNone/>
              <a:defRPr sz="1400">
                <a:latin typeface="+mn-lt"/>
                <a:cs typeface="Arial" panose="020B0604020202020204" pitchFamily="34" charset="0"/>
              </a:defRPr>
            </a:lvl1pPr>
          </a:lstStyle>
          <a:p>
            <a:pPr lvl="0"/>
            <a:r>
              <a:rPr lang="en-US" noProof="0"/>
              <a:t>Click to edit Master text styles</a:t>
            </a:r>
          </a:p>
        </p:txBody>
      </p:sp>
      <p:sp>
        <p:nvSpPr>
          <p:cNvPr id="15" name="Picture Placeholder 5">
            <a:extLst>
              <a:ext uri="{FF2B5EF4-FFF2-40B4-BE49-F238E27FC236}">
                <a16:creationId xmlns:a16="http://schemas.microsoft.com/office/drawing/2014/main" id="{EADDC907-00BA-437D-8631-DCDAA19616AC}"/>
              </a:ext>
            </a:extLst>
          </p:cNvPr>
          <p:cNvSpPr>
            <a:spLocks noGrp="1"/>
          </p:cNvSpPr>
          <p:nvPr>
            <p:ph type="pic" sz="quarter" idx="13"/>
          </p:nvPr>
        </p:nvSpPr>
        <p:spPr>
          <a:xfrm>
            <a:off x="6790155" y="1042384"/>
            <a:ext cx="804759" cy="804759"/>
          </a:xfrm>
          <a:prstGeom prst="ellipse">
            <a:avLst/>
          </a:prstGeom>
          <a:solidFill>
            <a:schemeClr val="bg1"/>
          </a:solidFill>
          <a:ln w="19050">
            <a:solidFill>
              <a:srgbClr val="1F1F26"/>
            </a:solidFill>
          </a:ln>
        </p:spPr>
        <p:txBody>
          <a:bodyPr>
            <a:normAutofit/>
          </a:bodyPr>
          <a:lstStyle>
            <a:lvl1pPr>
              <a:defRPr sz="800"/>
            </a:lvl1pPr>
          </a:lstStyle>
          <a:p>
            <a:r>
              <a:rPr lang="en-US" noProof="0"/>
              <a:t>Click icon to add picture</a:t>
            </a:r>
            <a:endParaRPr lang="en-US" noProof="0" dirty="0"/>
          </a:p>
        </p:txBody>
      </p:sp>
      <p:sp>
        <p:nvSpPr>
          <p:cNvPr id="21" name="Picture Placeholder 5">
            <a:extLst>
              <a:ext uri="{FF2B5EF4-FFF2-40B4-BE49-F238E27FC236}">
                <a16:creationId xmlns:a16="http://schemas.microsoft.com/office/drawing/2014/main" id="{44A0EDB5-B80A-4225-9741-99690ADBCE8D}"/>
              </a:ext>
            </a:extLst>
          </p:cNvPr>
          <p:cNvSpPr>
            <a:spLocks noGrp="1"/>
          </p:cNvSpPr>
          <p:nvPr>
            <p:ph type="pic" sz="quarter" idx="14"/>
          </p:nvPr>
        </p:nvSpPr>
        <p:spPr>
          <a:xfrm>
            <a:off x="6790155" y="2331743"/>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2" name="Picture Placeholder 5">
            <a:extLst>
              <a:ext uri="{FF2B5EF4-FFF2-40B4-BE49-F238E27FC236}">
                <a16:creationId xmlns:a16="http://schemas.microsoft.com/office/drawing/2014/main" id="{E5C18081-A6EE-421D-96AC-0A7FA46F744A}"/>
              </a:ext>
            </a:extLst>
          </p:cNvPr>
          <p:cNvSpPr>
            <a:spLocks noGrp="1"/>
          </p:cNvSpPr>
          <p:nvPr>
            <p:ph type="pic" sz="quarter" idx="15"/>
          </p:nvPr>
        </p:nvSpPr>
        <p:spPr>
          <a:xfrm>
            <a:off x="6790155" y="3621102"/>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3" name="Picture Placeholder 5">
            <a:extLst>
              <a:ext uri="{FF2B5EF4-FFF2-40B4-BE49-F238E27FC236}">
                <a16:creationId xmlns:a16="http://schemas.microsoft.com/office/drawing/2014/main" id="{1D21CB0A-3210-4B51-85A0-5111AEBA214F}"/>
              </a:ext>
            </a:extLst>
          </p:cNvPr>
          <p:cNvSpPr>
            <a:spLocks noGrp="1"/>
          </p:cNvSpPr>
          <p:nvPr>
            <p:ph type="pic" sz="quarter" idx="16"/>
          </p:nvPr>
        </p:nvSpPr>
        <p:spPr>
          <a:xfrm>
            <a:off x="6790155" y="4910461"/>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Tree>
    <p:extLst>
      <p:ext uri="{BB962C8B-B14F-4D97-AF65-F5344CB8AC3E}">
        <p14:creationId xmlns:p14="http://schemas.microsoft.com/office/powerpoint/2010/main" val="4144426491"/>
      </p:ext>
    </p:extLst>
  </p:cSld>
  <p:clrMapOvr>
    <a:masterClrMapping/>
  </p:clrMapOvr>
  <p:extLst>
    <p:ext uri="{DCECCB84-F9BA-43D5-87BE-67443E8EF086}">
      <p15:sldGuideLst xmlns:p15="http://schemas.microsoft.com/office/powerpoint/2012/main">
        <p15:guide id="1" orient="horz" pos="2160">
          <p15:clr>
            <a:srgbClr val="FBAE40"/>
          </p15:clr>
        </p15:guide>
        <p15:guide id="2" pos="538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Imag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34DECF-152F-4E39-AD49-1ADCE9F759DB}"/>
              </a:ext>
            </a:extLst>
          </p:cNvPr>
          <p:cNvSpPr>
            <a:spLocks noGrp="1"/>
          </p:cNvSpPr>
          <p:nvPr>
            <p:ph type="pic" sz="quarter" idx="21"/>
          </p:nvPr>
        </p:nvSpPr>
        <p:spPr>
          <a:xfrm>
            <a:off x="841375" y="3097232"/>
            <a:ext cx="4008120" cy="2742196"/>
          </a:xfrm>
        </p:spPr>
        <p:txBody>
          <a:bodyPr>
            <a:normAutofit/>
          </a:bodyPr>
          <a:lstStyle>
            <a:lvl1pPr>
              <a:defRPr sz="1200"/>
            </a:lvl1pPr>
          </a:lstStyle>
          <a:p>
            <a:r>
              <a:rPr lang="en-US" noProof="0"/>
              <a:t>Click icon to add picture</a:t>
            </a:r>
            <a:endParaRPr lang="en-US" noProof="0" dirty="0"/>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1100290"/>
            <a:ext cx="4008437" cy="1395208"/>
          </a:xfrm>
        </p:spPr>
        <p:txBody>
          <a:bodyPr lIns="0" anchor="b">
            <a:normAutofit/>
          </a:bodyPr>
          <a:lstStyle>
            <a:lvl1pPr>
              <a:defRPr sz="4000" b="1">
                <a:latin typeface="+mj-lt"/>
              </a:defRPr>
            </a:lvl1pPr>
          </a:lstStyle>
          <a:p>
            <a:r>
              <a:rPr lang="en-US" noProof="0"/>
              <a:t>Click to Add </a:t>
            </a:r>
            <a:br>
              <a:rPr lang="en-US" noProof="0"/>
            </a:br>
            <a:r>
              <a:rPr lang="en-US" noProof="0"/>
              <a:t>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2561159"/>
            <a:ext cx="4008437" cy="375081"/>
          </a:xfrm>
        </p:spPr>
        <p:txBody>
          <a:bodyPr lIns="0" anchor="t">
            <a:normAutofit/>
          </a:bodyPr>
          <a:lstStyle>
            <a:lvl1pPr marL="0" indent="0">
              <a:buNone/>
              <a:defRPr sz="1400" spc="3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userDrawn="1"/>
        </p:nvSpPr>
        <p:spPr>
          <a:xfrm rot="16200000" flipV="1">
            <a:off x="965155" y="18291"/>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40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vl1pPr>
          </a:lstStyle>
          <a:p>
            <a:pPr lvl="0"/>
            <a:r>
              <a:rPr lang="en-US" noProof="0"/>
              <a:t>Click to edit Master text styles</a:t>
            </a:r>
          </a:p>
        </p:txBody>
      </p:sp>
      <p:sp>
        <p:nvSpPr>
          <p:cNvPr id="15" name="Picture Placeholder 5">
            <a:extLst>
              <a:ext uri="{FF2B5EF4-FFF2-40B4-BE49-F238E27FC236}">
                <a16:creationId xmlns:a16="http://schemas.microsoft.com/office/drawing/2014/main" id="{EADDC907-00BA-437D-8631-DCDAA19616AC}"/>
              </a:ext>
            </a:extLst>
          </p:cNvPr>
          <p:cNvSpPr>
            <a:spLocks noGrp="1"/>
          </p:cNvSpPr>
          <p:nvPr>
            <p:ph type="pic" sz="quarter" idx="13"/>
          </p:nvPr>
        </p:nvSpPr>
        <p:spPr>
          <a:xfrm>
            <a:off x="6790155" y="1042384"/>
            <a:ext cx="804759" cy="804759"/>
          </a:xfrm>
          <a:prstGeom prst="ellipse">
            <a:avLst/>
          </a:prstGeom>
          <a:solidFill>
            <a:schemeClr val="accent1"/>
          </a:solidFill>
          <a:ln w="19050">
            <a:noFill/>
          </a:ln>
        </p:spPr>
        <p:txBody>
          <a:bodyPr>
            <a:normAutofit/>
          </a:bodyPr>
          <a:lstStyle>
            <a:lvl1pPr>
              <a:defRPr sz="800"/>
            </a:lvl1pPr>
          </a:lstStyle>
          <a:p>
            <a:r>
              <a:rPr lang="en-US" noProof="0"/>
              <a:t>Click icon to add picture</a:t>
            </a:r>
            <a:endParaRPr lang="en-US" noProof="0" dirty="0"/>
          </a:p>
        </p:txBody>
      </p:sp>
      <p:sp>
        <p:nvSpPr>
          <p:cNvPr id="21" name="Picture Placeholder 5">
            <a:extLst>
              <a:ext uri="{FF2B5EF4-FFF2-40B4-BE49-F238E27FC236}">
                <a16:creationId xmlns:a16="http://schemas.microsoft.com/office/drawing/2014/main" id="{44A0EDB5-B80A-4225-9741-99690ADBCE8D}"/>
              </a:ext>
            </a:extLst>
          </p:cNvPr>
          <p:cNvSpPr>
            <a:spLocks noGrp="1"/>
          </p:cNvSpPr>
          <p:nvPr>
            <p:ph type="pic" sz="quarter" idx="14"/>
          </p:nvPr>
        </p:nvSpPr>
        <p:spPr>
          <a:xfrm>
            <a:off x="6790155" y="2331743"/>
            <a:ext cx="804759" cy="804759"/>
          </a:xfrm>
          <a:prstGeom prst="ellipse">
            <a:avLst/>
          </a:prstGeom>
          <a:solidFill>
            <a:schemeClr val="accent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2" name="Picture Placeholder 5">
            <a:extLst>
              <a:ext uri="{FF2B5EF4-FFF2-40B4-BE49-F238E27FC236}">
                <a16:creationId xmlns:a16="http://schemas.microsoft.com/office/drawing/2014/main" id="{E5C18081-A6EE-421D-96AC-0A7FA46F744A}"/>
              </a:ext>
            </a:extLst>
          </p:cNvPr>
          <p:cNvSpPr>
            <a:spLocks noGrp="1"/>
          </p:cNvSpPr>
          <p:nvPr>
            <p:ph type="pic" sz="quarter" idx="15"/>
          </p:nvPr>
        </p:nvSpPr>
        <p:spPr>
          <a:xfrm>
            <a:off x="6790155" y="3621102"/>
            <a:ext cx="804759" cy="804759"/>
          </a:xfrm>
          <a:prstGeom prst="ellipse">
            <a:avLst/>
          </a:prstGeom>
          <a:solidFill>
            <a:schemeClr val="accent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23" name="Picture Placeholder 5">
            <a:extLst>
              <a:ext uri="{FF2B5EF4-FFF2-40B4-BE49-F238E27FC236}">
                <a16:creationId xmlns:a16="http://schemas.microsoft.com/office/drawing/2014/main" id="{1D21CB0A-3210-4B51-85A0-5111AEBA214F}"/>
              </a:ext>
            </a:extLst>
          </p:cNvPr>
          <p:cNvSpPr>
            <a:spLocks noGrp="1"/>
          </p:cNvSpPr>
          <p:nvPr>
            <p:ph type="pic" sz="quarter" idx="16"/>
          </p:nvPr>
        </p:nvSpPr>
        <p:spPr>
          <a:xfrm>
            <a:off x="6790155" y="4910461"/>
            <a:ext cx="804759" cy="804759"/>
          </a:xfrm>
          <a:prstGeom prst="ellipse">
            <a:avLst/>
          </a:prstGeom>
          <a:solidFill>
            <a:schemeClr val="accent1"/>
          </a:solidFill>
          <a:ln w="19050">
            <a:no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Tree>
    <p:extLst>
      <p:ext uri="{BB962C8B-B14F-4D97-AF65-F5344CB8AC3E}">
        <p14:creationId xmlns:p14="http://schemas.microsoft.com/office/powerpoint/2010/main" val="2219225103"/>
      </p:ext>
    </p:extLst>
  </p:cSld>
  <p:clrMapOvr>
    <a:masterClrMapping/>
  </p:clrMapOvr>
  <p:extLst>
    <p:ext uri="{DCECCB84-F9BA-43D5-87BE-67443E8EF086}">
      <p15:sldGuideLst xmlns:p15="http://schemas.microsoft.com/office/powerpoint/2012/main">
        <p15:guide id="1" orient="horz" pos="2160">
          <p15:clr>
            <a:srgbClr val="FBAE40"/>
          </p15:clr>
        </p15:guide>
        <p15:guide id="2" pos="3863">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userDrawn="1"/>
        </p:nvSpPr>
        <p:spPr>
          <a:xfrm>
            <a:off x="0" y="3721472"/>
            <a:ext cx="12192000" cy="3136523"/>
          </a:xfrm>
          <a:prstGeom prst="rect">
            <a:avLst/>
          </a:prstGeom>
          <a:solidFill>
            <a:schemeClr val="accent2"/>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358610"/>
            <a:ext cx="10854914" cy="804759"/>
          </a:xfrm>
        </p:spPr>
        <p:txBody>
          <a:bodyPr lIns="0" anchor="b">
            <a:normAutofit/>
          </a:bodyPr>
          <a:lstStyle>
            <a:lvl1pPr algn="ctr">
              <a:defRPr sz="4000" b="1">
                <a:latin typeface="+mj-lt"/>
              </a:defRPr>
            </a:lvl1pPr>
          </a:lstStyle>
          <a:p>
            <a:r>
              <a:rPr lang="en-US" noProof="0"/>
              <a:t>Click to Add Slide Title Here</a:t>
            </a:r>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1463303" y="2677210"/>
            <a:ext cx="804759" cy="804759"/>
          </a:xfrm>
          <a:prstGeom prst="ellipse">
            <a:avLst/>
          </a:prstGeom>
          <a:solidFill>
            <a:schemeClr val="bg1"/>
          </a:solidFill>
          <a:ln w="19050">
            <a:solidFill>
              <a:srgbClr val="1F1F26"/>
            </a:solidFill>
          </a:ln>
        </p:spPr>
        <p:txBody>
          <a:bodyPr>
            <a:normAutofit/>
          </a:bodyPr>
          <a:lstStyle>
            <a:lvl1pPr>
              <a:defRPr sz="800"/>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4310608" y="2677210"/>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7157913" y="2677210"/>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10005218" y="2677210"/>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800" dirty="0"/>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0" y="3920809"/>
            <a:ext cx="2469806" cy="731694"/>
          </a:xfrm>
        </p:spPr>
        <p:txBody>
          <a:bodyPr anchor="t">
            <a:normAutofit/>
          </a:bodyPr>
          <a:lstStyle>
            <a:lvl1pPr marL="0" indent="0" algn="ctr">
              <a:buNone/>
              <a:defRPr sz="140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5" y="3923752"/>
            <a:ext cx="2469806" cy="731694"/>
          </a:xfrm>
        </p:spPr>
        <p:txBody>
          <a:bodyPr anchor="t">
            <a:normAutofit/>
          </a:bodyPr>
          <a:lstStyle>
            <a:lvl1pPr marL="0" indent="0" algn="ctr">
              <a:buNone/>
              <a:defRPr sz="140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3920809"/>
            <a:ext cx="2469806" cy="731694"/>
          </a:xfrm>
        </p:spPr>
        <p:txBody>
          <a:bodyPr anchor="t">
            <a:normAutofit/>
          </a:bodyPr>
          <a:lstStyle>
            <a:lvl1pPr marL="0" indent="0" algn="ctr">
              <a:buNone/>
              <a:defRPr sz="140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6" y="3916626"/>
            <a:ext cx="2469806" cy="731694"/>
          </a:xfrm>
        </p:spPr>
        <p:txBody>
          <a:bodyPr anchor="t">
            <a:normAutofit/>
          </a:bodyPr>
          <a:lstStyle>
            <a:lvl1pPr marL="0" indent="0" algn="ctr">
              <a:buNone/>
              <a:defRPr sz="1400"/>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0" y="1337302"/>
            <a:ext cx="10685257" cy="541483"/>
          </a:xfrm>
        </p:spPr>
        <p:txBody>
          <a:bodyPr lIns="0">
            <a:noAutofit/>
          </a:bodyPr>
          <a:lstStyle>
            <a:lvl1pPr marL="0" indent="0" algn="ctr">
              <a:lnSpc>
                <a:spcPct val="100000"/>
              </a:lnSpc>
              <a:buNone/>
              <a:defRPr sz="1400">
                <a:latin typeface="+mn-lt"/>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638410284"/>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Image and Conten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1039330"/>
            <a:ext cx="10854914" cy="804759"/>
          </a:xfrm>
        </p:spPr>
        <p:txBody>
          <a:bodyPr lIns="0" anchor="b">
            <a:normAutofit/>
          </a:bodyPr>
          <a:lstStyle>
            <a:lvl1pPr algn="ctr">
              <a:defRPr sz="4000" b="1">
                <a:latin typeface="+mj-lt"/>
              </a:defRPr>
            </a:lvl1pPr>
          </a:lstStyle>
          <a:p>
            <a:r>
              <a:rPr lang="en-US" noProof="0"/>
              <a:t>Click to Add Slide Title Here</a:t>
            </a:r>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1341120" y="3235748"/>
            <a:ext cx="1049126" cy="1049124"/>
          </a:xfrm>
          <a:prstGeom prst="ellipse">
            <a:avLst/>
          </a:prstGeom>
          <a:solidFill>
            <a:schemeClr val="accent1"/>
          </a:solidFill>
          <a:ln w="19050">
            <a:noFill/>
          </a:ln>
        </p:spPr>
        <p:txBody>
          <a:bodyPr>
            <a:normAutofit/>
          </a:bodyPr>
          <a:lstStyle>
            <a:lvl1pPr>
              <a:defRPr sz="800">
                <a:latin typeface="+mn-lt"/>
              </a:defRPr>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4188425" y="3235748"/>
            <a:ext cx="1049126" cy="1049124"/>
          </a:xfrm>
          <a:prstGeom prst="ellipse">
            <a:avLst/>
          </a:prstGeom>
          <a:solidFill>
            <a:schemeClr val="accent1"/>
          </a:solidFill>
          <a:ln w="19050">
            <a:no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7035730" y="3235748"/>
            <a:ext cx="1049126" cy="1049124"/>
          </a:xfrm>
          <a:prstGeom prst="ellipse">
            <a:avLst/>
          </a:prstGeom>
          <a:solidFill>
            <a:schemeClr val="accent1"/>
          </a:solidFill>
          <a:ln w="19050">
            <a:no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9883035" y="3235748"/>
            <a:ext cx="1049126" cy="1049124"/>
          </a:xfrm>
          <a:prstGeom prst="ellipse">
            <a:avLst/>
          </a:prstGeom>
          <a:solidFill>
            <a:schemeClr val="accent1"/>
          </a:solidFill>
          <a:ln w="19050">
            <a:no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0" y="4601529"/>
            <a:ext cx="2469806" cy="731694"/>
          </a:xfrm>
        </p:spPr>
        <p:txBody>
          <a:bodyPr anchor="t">
            <a:normAutofit/>
          </a:bodyPr>
          <a:lstStyle>
            <a:lvl1pPr marL="0" indent="0" algn="ctr">
              <a:buNone/>
              <a:defRPr sz="1400">
                <a:latin typeface="+mn-lt"/>
              </a:defRPr>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5" y="4604472"/>
            <a:ext cx="2469806" cy="731694"/>
          </a:xfrm>
        </p:spPr>
        <p:txBody>
          <a:bodyPr anchor="t">
            <a:normAutofit/>
          </a:bodyPr>
          <a:lstStyle>
            <a:lvl1pPr marL="0" indent="0" algn="ctr">
              <a:buNone/>
              <a:defRPr sz="1400">
                <a:latin typeface="+mn-lt"/>
              </a:defRPr>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4601529"/>
            <a:ext cx="2469806" cy="731694"/>
          </a:xfrm>
        </p:spPr>
        <p:txBody>
          <a:bodyPr anchor="t">
            <a:normAutofit/>
          </a:bodyPr>
          <a:lstStyle>
            <a:lvl1pPr marL="0" indent="0" algn="ctr">
              <a:buNone/>
              <a:defRPr sz="1400">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6" y="4597346"/>
            <a:ext cx="2469806" cy="731694"/>
          </a:xfrm>
        </p:spPr>
        <p:txBody>
          <a:bodyPr anchor="t">
            <a:normAutofit/>
          </a:bodyPr>
          <a:lstStyle>
            <a:lvl1pPr marL="0" indent="0" algn="ctr">
              <a:buNone/>
              <a:defRPr sz="1400">
                <a:latin typeface="+mn-lt"/>
              </a:defRPr>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0" y="2018022"/>
            <a:ext cx="10685257" cy="541483"/>
          </a:xfrm>
        </p:spPr>
        <p:txBody>
          <a:bodyPr lIns="0">
            <a:noAutofit/>
          </a:bodyPr>
          <a:lstStyle>
            <a:lvl1pPr marL="0" indent="0" algn="ctr">
              <a:lnSpc>
                <a:spcPct val="100000"/>
              </a:lnSpc>
              <a:buNone/>
              <a:defRPr sz="1400">
                <a:latin typeface="+mn-lt"/>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2620055036"/>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userDrawn="1"/>
        </p:nvSpPr>
        <p:spPr>
          <a:xfrm>
            <a:off x="6134100" y="0"/>
            <a:ext cx="6057900" cy="6857995"/>
          </a:xfrm>
          <a:prstGeom prst="rect">
            <a:avLst/>
          </a:prstGeom>
          <a:solidFill>
            <a:srgbClr val="DFE3E9"/>
          </a:solidFill>
        </p:spPr>
        <p:txBody>
          <a:bodyPr vert="horz" lIns="1296000" tIns="45720" rIns="432000" bIns="45720" rtlCol="0" anchor="ctr">
            <a:normAutofit/>
          </a:bodyPr>
          <a:lstStyle/>
          <a:p>
            <a:pPr lvl="0" indent="0">
              <a:lnSpc>
                <a:spcPct val="100000"/>
              </a:lnSpc>
              <a:spcBef>
                <a:spcPts val="1000"/>
              </a:spcBef>
              <a:buFontTx/>
              <a:buNone/>
            </a:pPr>
            <a:endParaRPr lang="en-US" sz="1400" b="0" i="0" spc="0" noProof="0" dirty="0">
              <a:solidFill>
                <a:schemeClr val="tx2"/>
              </a:solidFill>
              <a:latin typeface="+mn-lt"/>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7" y="2234610"/>
            <a:ext cx="4008437" cy="1395208"/>
          </a:xfrm>
        </p:spPr>
        <p:txBody>
          <a:bodyPr lIns="0" anchor="b"/>
          <a:lstStyle>
            <a:lvl1pPr>
              <a:defRPr b="1">
                <a:latin typeface="+mj-lt"/>
              </a:defRPr>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8" y="3695479"/>
            <a:ext cx="4008437" cy="602887"/>
          </a:xfrm>
        </p:spPr>
        <p:txBody>
          <a:bodyPr lIns="0" anchor="t">
            <a:normAutofit/>
          </a:bodyPr>
          <a:lstStyle>
            <a:lvl1pPr marL="0" indent="0">
              <a:buNone/>
              <a:defRPr sz="1400" spc="300">
                <a:solidFill>
                  <a:schemeClr val="tx2"/>
                </a:solidFill>
                <a:latin typeface="+mn-lt"/>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userDrawn="1"/>
        </p:nvSpPr>
        <p:spPr>
          <a:xfrm rot="16200000" flipV="1">
            <a:off x="965155" y="1152611"/>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6687422" y="1038724"/>
            <a:ext cx="804759" cy="804759"/>
          </a:xfrm>
          <a:prstGeom prst="ellipse">
            <a:avLst/>
          </a:prstGeom>
          <a:solidFill>
            <a:schemeClr val="bg1"/>
          </a:solidFill>
          <a:ln w="38100">
            <a:solidFill>
              <a:schemeClr val="bg1"/>
            </a:solidFill>
          </a:ln>
        </p:spPr>
        <p:txBody>
          <a:bodyPr>
            <a:normAutofit/>
          </a:bodyPr>
          <a:lstStyle>
            <a:lvl1pPr>
              <a:defRPr sz="800">
                <a:latin typeface="+mn-lt"/>
              </a:defRPr>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6687422" y="2330235"/>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6687422" y="3621746"/>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6687422" y="4913257"/>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800" dirty="0">
                <a:latin typeface="+mn-lt"/>
              </a:defRPr>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400">
                <a:latin typeface="+mn-lt"/>
              </a:defRPr>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400">
                <a:latin typeface="+mn-lt"/>
              </a:defRPr>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400">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400">
                <a:latin typeface="+mn-lt"/>
              </a:defRPr>
            </a:lvl1pPr>
          </a:lstStyle>
          <a:p>
            <a:pPr lvl="0"/>
            <a:r>
              <a:rPr lang="en-US" noProof="0"/>
              <a:t>Click to edit Master text styles</a:t>
            </a:r>
          </a:p>
        </p:txBody>
      </p:sp>
    </p:spTree>
    <p:extLst>
      <p:ext uri="{BB962C8B-B14F-4D97-AF65-F5344CB8AC3E}">
        <p14:creationId xmlns:p14="http://schemas.microsoft.com/office/powerpoint/2010/main" val="4194667956"/>
      </p:ext>
    </p:extLst>
  </p:cSld>
  <p:clrMapOvr>
    <a:masterClrMapping/>
  </p:clrMapOvr>
  <p:extLst>
    <p:ext uri="{DCECCB84-F9BA-43D5-87BE-67443E8EF086}">
      <p15:sldGuideLst xmlns:p15="http://schemas.microsoft.com/office/powerpoint/2012/main">
        <p15:guide id="1" orient="horz" pos="2160">
          <p15:clr>
            <a:srgbClr val="FBAE40"/>
          </p15:clr>
        </p15:guide>
        <p15:guide id="2" pos="38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BE79-9A2D-485C-A5FF-D6F6AFD2AFC3}"/>
              </a:ext>
            </a:extLst>
          </p:cNvPr>
          <p:cNvSpPr>
            <a:spLocks noGrp="1"/>
          </p:cNvSpPr>
          <p:nvPr>
            <p:ph type="title"/>
          </p:nvPr>
        </p:nvSpPr>
        <p:spPr>
          <a:xfrm>
            <a:off x="841682" y="971950"/>
            <a:ext cx="3537030" cy="2036100"/>
          </a:xfrm>
        </p:spPr>
        <p:txBody>
          <a:bodyPr lIns="0"/>
          <a:lstStyle>
            <a:lvl1pPr>
              <a:defRPr>
                <a:solidFill>
                  <a:srgbClr val="5DAAB0"/>
                </a:solidFill>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0D8C8A61-C19F-4EF6-A991-5B6EFC5F7AFB}"/>
              </a:ext>
            </a:extLst>
          </p:cNvPr>
          <p:cNvSpPr>
            <a:spLocks noGrp="1"/>
          </p:cNvSpPr>
          <p:nvPr>
            <p:ph type="pic" sz="quarter" idx="11"/>
          </p:nvPr>
        </p:nvSpPr>
        <p:spPr>
          <a:xfrm>
            <a:off x="6076930" y="729827"/>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FB28CC40-CBF3-4E1C-841D-45C7739F95EE}"/>
              </a:ext>
            </a:extLst>
          </p:cNvPr>
          <p:cNvSpPr>
            <a:spLocks noGrp="1"/>
          </p:cNvSpPr>
          <p:nvPr>
            <p:ph type="pic" sz="quarter" idx="12"/>
          </p:nvPr>
        </p:nvSpPr>
        <p:spPr>
          <a:xfrm>
            <a:off x="8970602" y="729827"/>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12606688-9042-46BE-82EA-2A9034C21250}"/>
              </a:ext>
            </a:extLst>
          </p:cNvPr>
          <p:cNvSpPr>
            <a:spLocks noGrp="1"/>
          </p:cNvSpPr>
          <p:nvPr>
            <p:ph type="pic" sz="quarter" idx="13"/>
          </p:nvPr>
        </p:nvSpPr>
        <p:spPr>
          <a:xfrm>
            <a:off x="6076930" y="3646649"/>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94A72397-DF36-48ED-9888-0827D143B9BE}"/>
              </a:ext>
            </a:extLst>
          </p:cNvPr>
          <p:cNvSpPr>
            <a:spLocks noGrp="1"/>
          </p:cNvSpPr>
          <p:nvPr>
            <p:ph type="pic" sz="quarter" idx="14"/>
          </p:nvPr>
        </p:nvSpPr>
        <p:spPr>
          <a:xfrm>
            <a:off x="8970602" y="3646649"/>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p:ph type="body" sz="quarter" idx="15"/>
          </p:nvPr>
        </p:nvSpPr>
        <p:spPr>
          <a:xfrm>
            <a:off x="5642770" y="2823837"/>
            <a:ext cx="2517605" cy="484146"/>
          </a:xfrm>
        </p:spPr>
        <p:txBody>
          <a:bodyPr lIns="0">
            <a:noAutofit/>
          </a:bodyPr>
          <a:lstStyle>
            <a:lvl1pPr marL="0" indent="0" algn="ctr">
              <a:buNone/>
              <a:defRPr sz="1400">
                <a:latin typeface="+mn-lt"/>
                <a:cs typeface="Arial" panose="020B060402020202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p:ph type="body" sz="quarter" idx="16" hasCustomPrompt="1"/>
          </p:nvPr>
        </p:nvSpPr>
        <p:spPr>
          <a:xfrm>
            <a:off x="5642770" y="2419511"/>
            <a:ext cx="2517605" cy="382749"/>
          </a:xfrm>
        </p:spPr>
        <p:txBody>
          <a:bodyPr lIns="0" anchor="b">
            <a:noAutofit/>
          </a:bodyPr>
          <a:lstStyle>
            <a:lvl1pPr marL="0" indent="0" algn="ctr">
              <a:buNone/>
              <a:defRPr sz="1600" b="1">
                <a:latin typeface="+mn-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p:ph type="body" sz="quarter" idx="17"/>
          </p:nvPr>
        </p:nvSpPr>
        <p:spPr>
          <a:xfrm>
            <a:off x="8544956" y="2823837"/>
            <a:ext cx="2517605" cy="484146"/>
          </a:xfrm>
        </p:spPr>
        <p:txBody>
          <a:bodyPr lIns="0">
            <a:noAutofit/>
          </a:bodyPr>
          <a:lstStyle>
            <a:lvl1pPr marL="0" indent="0" algn="ctr">
              <a:buNone/>
              <a:defRPr sz="1400">
                <a:latin typeface="+mn-lt"/>
                <a:cs typeface="Arial" panose="020B060402020202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p:ph type="body" sz="quarter" idx="18" hasCustomPrompt="1"/>
          </p:nvPr>
        </p:nvSpPr>
        <p:spPr>
          <a:xfrm>
            <a:off x="8544956" y="2419511"/>
            <a:ext cx="2517605" cy="382749"/>
          </a:xfrm>
        </p:spPr>
        <p:txBody>
          <a:bodyPr lIns="0" anchor="b">
            <a:noAutofit/>
          </a:bodyPr>
          <a:lstStyle>
            <a:lvl1pPr marL="0" indent="0" algn="ctr">
              <a:buNone/>
              <a:defRPr sz="1600" b="1">
                <a:latin typeface="+mn-lt"/>
                <a:cs typeface="Arial" panose="020B0604020202020204" pitchFamily="34" charset="0"/>
              </a:defRPr>
            </a:lvl1pPr>
          </a:lstStyle>
          <a:p>
            <a:pPr lvl="0"/>
            <a:r>
              <a:rPr lang="en-US" dirty="0"/>
              <a:t>ADD NAME HERE</a:t>
            </a:r>
          </a:p>
        </p:txBody>
      </p:sp>
      <p:sp>
        <p:nvSpPr>
          <p:cNvPr id="17" name="Text Placeholder 6">
            <a:extLst>
              <a:ext uri="{FF2B5EF4-FFF2-40B4-BE49-F238E27FC236}">
                <a16:creationId xmlns:a16="http://schemas.microsoft.com/office/drawing/2014/main" id="{5A499762-AEDB-43BC-89CC-CC0602BEAF73}"/>
              </a:ext>
            </a:extLst>
          </p:cNvPr>
          <p:cNvSpPr>
            <a:spLocks noGrp="1"/>
          </p:cNvSpPr>
          <p:nvPr>
            <p:ph type="body" sz="quarter" idx="23"/>
          </p:nvPr>
        </p:nvSpPr>
        <p:spPr>
          <a:xfrm>
            <a:off x="5642770" y="5740657"/>
            <a:ext cx="2517605" cy="484146"/>
          </a:xfrm>
        </p:spPr>
        <p:txBody>
          <a:bodyPr lIns="0">
            <a:noAutofit/>
          </a:bodyPr>
          <a:lstStyle>
            <a:lvl1pPr marL="0" indent="0" algn="ctr">
              <a:buNone/>
              <a:defRPr sz="1400">
                <a:latin typeface="+mn-lt"/>
                <a:cs typeface="Arial" panose="020B0604020202020204" pitchFamily="34" charset="0"/>
              </a:defRPr>
            </a:lvl1pPr>
          </a:lstStyle>
          <a:p>
            <a:pPr lvl="0"/>
            <a:r>
              <a:rPr lang="en-US"/>
              <a:t>Click to edit Master text styles</a:t>
            </a:r>
          </a:p>
        </p:txBody>
      </p:sp>
      <p:sp>
        <p:nvSpPr>
          <p:cNvPr id="18" name="Text Placeholder 6">
            <a:extLst>
              <a:ext uri="{FF2B5EF4-FFF2-40B4-BE49-F238E27FC236}">
                <a16:creationId xmlns:a16="http://schemas.microsoft.com/office/drawing/2014/main" id="{880EDD7E-326D-47DC-B58D-88ECE1D00F94}"/>
              </a:ext>
            </a:extLst>
          </p:cNvPr>
          <p:cNvSpPr>
            <a:spLocks noGrp="1"/>
          </p:cNvSpPr>
          <p:nvPr>
            <p:ph type="body" sz="quarter" idx="24" hasCustomPrompt="1"/>
          </p:nvPr>
        </p:nvSpPr>
        <p:spPr>
          <a:xfrm>
            <a:off x="5642770" y="5336331"/>
            <a:ext cx="2517605" cy="382749"/>
          </a:xfrm>
        </p:spPr>
        <p:txBody>
          <a:bodyPr lIns="0" anchor="b">
            <a:noAutofit/>
          </a:bodyPr>
          <a:lstStyle>
            <a:lvl1pPr marL="0" indent="0" algn="ctr">
              <a:buNone/>
              <a:defRPr sz="1600" b="1">
                <a:latin typeface="+mn-lt"/>
                <a:cs typeface="Arial" panose="020B0604020202020204" pitchFamily="34" charset="0"/>
              </a:defRPr>
            </a:lvl1pPr>
          </a:lstStyle>
          <a:p>
            <a:pPr lvl="0"/>
            <a:r>
              <a:rPr lang="en-US" dirty="0"/>
              <a:t>ADD NAME HERE</a:t>
            </a:r>
          </a:p>
        </p:txBody>
      </p:sp>
      <p:sp>
        <p:nvSpPr>
          <p:cNvPr id="19" name="Text Placeholder 6">
            <a:extLst>
              <a:ext uri="{FF2B5EF4-FFF2-40B4-BE49-F238E27FC236}">
                <a16:creationId xmlns:a16="http://schemas.microsoft.com/office/drawing/2014/main" id="{DB92C933-F978-486C-A305-0BAC73E0F152}"/>
              </a:ext>
            </a:extLst>
          </p:cNvPr>
          <p:cNvSpPr>
            <a:spLocks noGrp="1"/>
          </p:cNvSpPr>
          <p:nvPr>
            <p:ph type="body" sz="quarter" idx="25"/>
          </p:nvPr>
        </p:nvSpPr>
        <p:spPr>
          <a:xfrm>
            <a:off x="8544956" y="5740657"/>
            <a:ext cx="2517605" cy="484146"/>
          </a:xfrm>
        </p:spPr>
        <p:txBody>
          <a:bodyPr lIns="0">
            <a:noAutofit/>
          </a:bodyPr>
          <a:lstStyle>
            <a:lvl1pPr marL="0" indent="0" algn="ctr">
              <a:buNone/>
              <a:defRPr sz="1400">
                <a:latin typeface="+mn-lt"/>
                <a:cs typeface="Arial" panose="020B0604020202020204" pitchFamily="34" charset="0"/>
              </a:defRPr>
            </a:lvl1pPr>
          </a:lstStyle>
          <a:p>
            <a:pPr lvl="0"/>
            <a:r>
              <a:rPr lang="en-US"/>
              <a:t>Click to edit Master text styles</a:t>
            </a:r>
          </a:p>
        </p:txBody>
      </p:sp>
      <p:sp>
        <p:nvSpPr>
          <p:cNvPr id="20" name="Text Placeholder 6">
            <a:extLst>
              <a:ext uri="{FF2B5EF4-FFF2-40B4-BE49-F238E27FC236}">
                <a16:creationId xmlns:a16="http://schemas.microsoft.com/office/drawing/2014/main" id="{B18BFAE0-942E-42DB-BD07-596D50E07E37}"/>
              </a:ext>
            </a:extLst>
          </p:cNvPr>
          <p:cNvSpPr>
            <a:spLocks noGrp="1"/>
          </p:cNvSpPr>
          <p:nvPr>
            <p:ph type="body" sz="quarter" idx="26" hasCustomPrompt="1"/>
          </p:nvPr>
        </p:nvSpPr>
        <p:spPr>
          <a:xfrm>
            <a:off x="8544956" y="5336331"/>
            <a:ext cx="2517605" cy="382749"/>
          </a:xfrm>
        </p:spPr>
        <p:txBody>
          <a:bodyPr lIns="0" anchor="b">
            <a:noAutofit/>
          </a:bodyPr>
          <a:lstStyle>
            <a:lvl1pPr marL="0" indent="0" algn="ctr">
              <a:buNone/>
              <a:defRPr sz="1600" b="1">
                <a:latin typeface="+mn-lt"/>
                <a:cs typeface="Arial" panose="020B0604020202020204" pitchFamily="34" charset="0"/>
              </a:defRPr>
            </a:lvl1pPr>
          </a:lstStyle>
          <a:p>
            <a:pPr lvl="0"/>
            <a:r>
              <a:rPr lang="en-US" dirty="0"/>
              <a:t>ADD NAME HERE</a:t>
            </a:r>
          </a:p>
        </p:txBody>
      </p:sp>
      <p:sp>
        <p:nvSpPr>
          <p:cNvPr id="16" name="Shape 62">
            <a:extLst>
              <a:ext uri="{FF2B5EF4-FFF2-40B4-BE49-F238E27FC236}">
                <a16:creationId xmlns:a16="http://schemas.microsoft.com/office/drawing/2014/main" id="{E2A7A773-8673-42D6-B565-4013CBE76BBD}"/>
              </a:ext>
            </a:extLst>
          </p:cNvPr>
          <p:cNvSpPr/>
          <p:nvPr userDrawn="1"/>
        </p:nvSpPr>
        <p:spPr>
          <a:xfrm rot="16200000" flipV="1">
            <a:off x="965155" y="-184909"/>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sz="1500" dirty="0"/>
          </a:p>
        </p:txBody>
      </p:sp>
    </p:spTree>
    <p:extLst>
      <p:ext uri="{BB962C8B-B14F-4D97-AF65-F5344CB8AC3E}">
        <p14:creationId xmlns:p14="http://schemas.microsoft.com/office/powerpoint/2010/main" val="687764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EE8D18BE-27C3-4048-91A7-DD0F0F8D0861}"/>
              </a:ext>
            </a:extLst>
          </p:cNvPr>
          <p:cNvSpPr/>
          <p:nvPr userDrawn="1"/>
        </p:nvSpPr>
        <p:spPr>
          <a:xfrm>
            <a:off x="4190264" y="2280735"/>
            <a:ext cx="1874870"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2" name="Title 1">
            <a:extLst>
              <a:ext uri="{FF2B5EF4-FFF2-40B4-BE49-F238E27FC236}">
                <a16:creationId xmlns:a16="http://schemas.microsoft.com/office/drawing/2014/main" id="{A8FBBE79-9A2D-485C-A5FF-D6F6AFD2AFC3}"/>
              </a:ext>
            </a:extLst>
          </p:cNvPr>
          <p:cNvSpPr>
            <a:spLocks noGrp="1"/>
          </p:cNvSpPr>
          <p:nvPr>
            <p:ph type="title"/>
          </p:nvPr>
        </p:nvSpPr>
        <p:spPr>
          <a:xfrm>
            <a:off x="2106887" y="616350"/>
            <a:ext cx="7978227" cy="1062602"/>
          </a:xfrm>
        </p:spPr>
        <p:txBody>
          <a:bodyPr lIns="0"/>
          <a:lstStyle>
            <a:lvl1pPr algn="ctr">
              <a:defRPr>
                <a:solidFill>
                  <a:schemeClr val="tx2"/>
                </a:solidFill>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0D8C8A61-C19F-4EF6-A991-5B6EFC5F7AFB}"/>
              </a:ext>
            </a:extLst>
          </p:cNvPr>
          <p:cNvSpPr>
            <a:spLocks noGrp="1"/>
          </p:cNvSpPr>
          <p:nvPr>
            <p:ph type="pic" sz="quarter" idx="11"/>
          </p:nvPr>
        </p:nvSpPr>
        <p:spPr>
          <a:xfrm>
            <a:off x="4306007" y="2385012"/>
            <a:ext cx="1643384" cy="1643384"/>
          </a:xfrm>
          <a:prstGeom prst="ellipse">
            <a:avLst/>
          </a:prstGeom>
        </p:spPr>
        <p:txBody>
          <a:bodyPr>
            <a:normAutofit/>
          </a:bodyPr>
          <a:lstStyle>
            <a:lvl1pPr algn="ctr">
              <a:defRPr sz="1600">
                <a:latin typeface="+mn-lt"/>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FB28CC40-CBF3-4E1C-841D-45C7739F95EE}"/>
              </a:ext>
            </a:extLst>
          </p:cNvPr>
          <p:cNvSpPr>
            <a:spLocks noGrp="1"/>
          </p:cNvSpPr>
          <p:nvPr>
            <p:ph type="pic" sz="quarter" idx="12"/>
          </p:nvPr>
        </p:nvSpPr>
        <p:spPr>
          <a:xfrm>
            <a:off x="6273705" y="2385012"/>
            <a:ext cx="1643384" cy="1643384"/>
          </a:xfrm>
          <a:prstGeom prst="ellipse">
            <a:avLst/>
          </a:prstGeom>
        </p:spPr>
        <p:txBody>
          <a:bodyPr>
            <a:normAutofit/>
          </a:bodyPr>
          <a:lstStyle>
            <a:lvl1pPr algn="ctr">
              <a:defRPr sz="1600">
                <a:latin typeface="+mn-lt"/>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12606688-9042-46BE-82EA-2A9034C21250}"/>
              </a:ext>
            </a:extLst>
          </p:cNvPr>
          <p:cNvSpPr>
            <a:spLocks noGrp="1"/>
          </p:cNvSpPr>
          <p:nvPr>
            <p:ph type="pic" sz="quarter" idx="13"/>
          </p:nvPr>
        </p:nvSpPr>
        <p:spPr>
          <a:xfrm>
            <a:off x="4306007" y="4352707"/>
            <a:ext cx="1643384" cy="1643384"/>
          </a:xfrm>
          <a:prstGeom prst="ellipse">
            <a:avLst/>
          </a:prstGeom>
        </p:spPr>
        <p:txBody>
          <a:bodyPr>
            <a:normAutofit/>
          </a:bodyPr>
          <a:lstStyle>
            <a:lvl1pPr algn="ctr">
              <a:defRPr sz="1600">
                <a:latin typeface="+mn-lt"/>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94A72397-DF36-48ED-9888-0827D143B9BE}"/>
              </a:ext>
            </a:extLst>
          </p:cNvPr>
          <p:cNvSpPr>
            <a:spLocks noGrp="1"/>
          </p:cNvSpPr>
          <p:nvPr>
            <p:ph type="pic" sz="quarter" idx="14"/>
          </p:nvPr>
        </p:nvSpPr>
        <p:spPr>
          <a:xfrm>
            <a:off x="6273705" y="4352707"/>
            <a:ext cx="1643384" cy="1643384"/>
          </a:xfrm>
          <a:prstGeom prst="ellipse">
            <a:avLst/>
          </a:prstGeom>
        </p:spPr>
        <p:txBody>
          <a:bodyPr>
            <a:normAutofit/>
          </a:bodyPr>
          <a:lstStyle>
            <a:lvl1pPr algn="ctr">
              <a:defRPr sz="1600">
                <a:latin typeface="+mn-lt"/>
              </a:defRPr>
            </a:lvl1pPr>
          </a:lstStyle>
          <a:p>
            <a:r>
              <a:rPr lang="en-US"/>
              <a:t>Click icon to add picture</a:t>
            </a: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p:ph type="body" sz="quarter" idx="15"/>
          </p:nvPr>
        </p:nvSpPr>
        <p:spPr>
          <a:xfrm>
            <a:off x="1504731" y="3168715"/>
            <a:ext cx="2517605" cy="484146"/>
          </a:xfrm>
        </p:spPr>
        <p:txBody>
          <a:bodyPr lIns="0">
            <a:noAutofit/>
          </a:bodyPr>
          <a:lstStyle>
            <a:lvl1pPr marL="0" indent="0" algn="r">
              <a:buNone/>
              <a:defRPr sz="1400">
                <a:latin typeface="+mn-lt"/>
                <a:cs typeface="Arial" panose="020B060402020202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p:ph type="body" sz="quarter" idx="16" hasCustomPrompt="1"/>
          </p:nvPr>
        </p:nvSpPr>
        <p:spPr>
          <a:xfrm>
            <a:off x="1504731" y="2764389"/>
            <a:ext cx="2517605" cy="382749"/>
          </a:xfrm>
        </p:spPr>
        <p:txBody>
          <a:bodyPr lIns="0" anchor="b">
            <a:noAutofit/>
          </a:bodyPr>
          <a:lstStyle>
            <a:lvl1pPr marL="0" indent="0" algn="r">
              <a:buNone/>
              <a:defRPr sz="1600" b="1">
                <a:latin typeface="+mn-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p:ph type="body" sz="quarter" idx="17"/>
          </p:nvPr>
        </p:nvSpPr>
        <p:spPr>
          <a:xfrm>
            <a:off x="8241403" y="3168715"/>
            <a:ext cx="2517605" cy="484146"/>
          </a:xfrm>
        </p:spPr>
        <p:txBody>
          <a:bodyPr lIns="0">
            <a:noAutofit/>
          </a:bodyPr>
          <a:lstStyle>
            <a:lvl1pPr marL="0" indent="0" algn="l">
              <a:buNone/>
              <a:defRPr sz="1400">
                <a:latin typeface="+mn-lt"/>
                <a:cs typeface="Arial" panose="020B060402020202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p:ph type="body" sz="quarter" idx="18" hasCustomPrompt="1"/>
          </p:nvPr>
        </p:nvSpPr>
        <p:spPr>
          <a:xfrm>
            <a:off x="8241403" y="2764389"/>
            <a:ext cx="2517605" cy="382749"/>
          </a:xfrm>
        </p:spPr>
        <p:txBody>
          <a:bodyPr lIns="0" anchor="b">
            <a:noAutofit/>
          </a:bodyPr>
          <a:lstStyle>
            <a:lvl1pPr marL="0" indent="0" algn="l">
              <a:buNone/>
              <a:defRPr sz="1600" b="1">
                <a:latin typeface="+mn-lt"/>
                <a:cs typeface="Arial" panose="020B0604020202020204" pitchFamily="34" charset="0"/>
              </a:defRPr>
            </a:lvl1pPr>
          </a:lstStyle>
          <a:p>
            <a:pPr lvl="0"/>
            <a:r>
              <a:rPr lang="en-US" dirty="0"/>
              <a:t>ADD NAME HERE</a:t>
            </a:r>
          </a:p>
        </p:txBody>
      </p:sp>
      <p:sp>
        <p:nvSpPr>
          <p:cNvPr id="13" name="Text Placeholder 6">
            <a:extLst>
              <a:ext uri="{FF2B5EF4-FFF2-40B4-BE49-F238E27FC236}">
                <a16:creationId xmlns:a16="http://schemas.microsoft.com/office/drawing/2014/main" id="{3B9FAC90-EA8D-4C0E-A0D1-0D252B50A12F}"/>
              </a:ext>
            </a:extLst>
          </p:cNvPr>
          <p:cNvSpPr>
            <a:spLocks noGrp="1"/>
          </p:cNvSpPr>
          <p:nvPr>
            <p:ph type="body" sz="quarter" idx="19"/>
          </p:nvPr>
        </p:nvSpPr>
        <p:spPr>
          <a:xfrm>
            <a:off x="1504731" y="5167572"/>
            <a:ext cx="2517605" cy="484146"/>
          </a:xfrm>
        </p:spPr>
        <p:txBody>
          <a:bodyPr lIns="0">
            <a:noAutofit/>
          </a:bodyPr>
          <a:lstStyle>
            <a:lvl1pPr marL="0" indent="0" algn="r">
              <a:buNone/>
              <a:defRPr sz="1400">
                <a:latin typeface="+mn-lt"/>
                <a:cs typeface="Arial" panose="020B0604020202020204" pitchFamily="34" charset="0"/>
              </a:defRPr>
            </a:lvl1pPr>
          </a:lstStyle>
          <a:p>
            <a:pPr lvl="0"/>
            <a:r>
              <a:rPr lang="en-US"/>
              <a:t>Click to edit Master text styles</a:t>
            </a:r>
          </a:p>
        </p:txBody>
      </p:sp>
      <p:sp>
        <p:nvSpPr>
          <p:cNvPr id="14" name="Text Placeholder 6">
            <a:extLst>
              <a:ext uri="{FF2B5EF4-FFF2-40B4-BE49-F238E27FC236}">
                <a16:creationId xmlns:a16="http://schemas.microsoft.com/office/drawing/2014/main" id="{5556F808-0B84-4923-9C86-83F13CFABBB6}"/>
              </a:ext>
            </a:extLst>
          </p:cNvPr>
          <p:cNvSpPr>
            <a:spLocks noGrp="1"/>
          </p:cNvSpPr>
          <p:nvPr>
            <p:ph type="body" sz="quarter" idx="20" hasCustomPrompt="1"/>
          </p:nvPr>
        </p:nvSpPr>
        <p:spPr>
          <a:xfrm>
            <a:off x="1504731" y="4763246"/>
            <a:ext cx="2517605" cy="382749"/>
          </a:xfrm>
        </p:spPr>
        <p:txBody>
          <a:bodyPr lIns="0" anchor="b">
            <a:noAutofit/>
          </a:bodyPr>
          <a:lstStyle>
            <a:lvl1pPr marL="0" indent="0" algn="r">
              <a:buNone/>
              <a:defRPr sz="1600" b="1">
                <a:latin typeface="+mn-lt"/>
                <a:cs typeface="Arial" panose="020B0604020202020204" pitchFamily="34" charset="0"/>
              </a:defRPr>
            </a:lvl1pPr>
          </a:lstStyle>
          <a:p>
            <a:pPr lvl="0"/>
            <a:r>
              <a:rPr lang="en-US" dirty="0"/>
              <a:t>ADD NAME HERE</a:t>
            </a:r>
          </a:p>
        </p:txBody>
      </p:sp>
      <p:sp>
        <p:nvSpPr>
          <p:cNvPr id="15" name="Text Placeholder 6">
            <a:extLst>
              <a:ext uri="{FF2B5EF4-FFF2-40B4-BE49-F238E27FC236}">
                <a16:creationId xmlns:a16="http://schemas.microsoft.com/office/drawing/2014/main" id="{6D49870F-68D7-4CDC-8F2A-696151FA2B90}"/>
              </a:ext>
            </a:extLst>
          </p:cNvPr>
          <p:cNvSpPr>
            <a:spLocks noGrp="1"/>
          </p:cNvSpPr>
          <p:nvPr>
            <p:ph type="body" sz="quarter" idx="21"/>
          </p:nvPr>
        </p:nvSpPr>
        <p:spPr>
          <a:xfrm>
            <a:off x="8241403" y="5167572"/>
            <a:ext cx="2517605" cy="484146"/>
          </a:xfrm>
        </p:spPr>
        <p:txBody>
          <a:bodyPr lIns="0">
            <a:noAutofit/>
          </a:bodyPr>
          <a:lstStyle>
            <a:lvl1pPr marL="0" indent="0" algn="l">
              <a:buNone/>
              <a:defRPr sz="1400">
                <a:latin typeface="+mn-lt"/>
                <a:cs typeface="Arial" panose="020B0604020202020204" pitchFamily="34" charset="0"/>
              </a:defRPr>
            </a:lvl1pPr>
          </a:lstStyle>
          <a:p>
            <a:pPr lvl="0"/>
            <a:r>
              <a:rPr lang="en-US"/>
              <a:t>Click to edit Master text styles</a:t>
            </a:r>
          </a:p>
        </p:txBody>
      </p:sp>
      <p:sp>
        <p:nvSpPr>
          <p:cNvPr id="16" name="Text Placeholder 6">
            <a:extLst>
              <a:ext uri="{FF2B5EF4-FFF2-40B4-BE49-F238E27FC236}">
                <a16:creationId xmlns:a16="http://schemas.microsoft.com/office/drawing/2014/main" id="{530C251D-6B9A-485B-A02D-AAF34ECA7B5D}"/>
              </a:ext>
            </a:extLst>
          </p:cNvPr>
          <p:cNvSpPr>
            <a:spLocks noGrp="1"/>
          </p:cNvSpPr>
          <p:nvPr>
            <p:ph type="body" sz="quarter" idx="22" hasCustomPrompt="1"/>
          </p:nvPr>
        </p:nvSpPr>
        <p:spPr>
          <a:xfrm>
            <a:off x="8241403" y="4763246"/>
            <a:ext cx="2517605" cy="382749"/>
          </a:xfrm>
        </p:spPr>
        <p:txBody>
          <a:bodyPr lIns="0" anchor="b">
            <a:noAutofit/>
          </a:bodyPr>
          <a:lstStyle>
            <a:lvl1pPr marL="0" indent="0" algn="l">
              <a:buNone/>
              <a:defRPr sz="1600" b="1">
                <a:latin typeface="+mn-lt"/>
                <a:cs typeface="Arial" panose="020B0604020202020204" pitchFamily="34" charset="0"/>
              </a:defRPr>
            </a:lvl1pPr>
          </a:lstStyle>
          <a:p>
            <a:pPr lvl="0"/>
            <a:r>
              <a:rPr lang="en-US" dirty="0"/>
              <a:t>ADD NAME HERE</a:t>
            </a:r>
          </a:p>
        </p:txBody>
      </p:sp>
      <p:sp>
        <p:nvSpPr>
          <p:cNvPr id="17" name="Oval 16">
            <a:extLst>
              <a:ext uri="{FF2B5EF4-FFF2-40B4-BE49-F238E27FC236}">
                <a16:creationId xmlns:a16="http://schemas.microsoft.com/office/drawing/2014/main" id="{EC623159-5A5F-49ED-8FE8-D17FB82C8BB9}"/>
              </a:ext>
            </a:extLst>
          </p:cNvPr>
          <p:cNvSpPr/>
          <p:nvPr userDrawn="1"/>
        </p:nvSpPr>
        <p:spPr>
          <a:xfrm>
            <a:off x="6157960" y="2280735"/>
            <a:ext cx="1874870"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18" name="Oval 17">
            <a:extLst>
              <a:ext uri="{FF2B5EF4-FFF2-40B4-BE49-F238E27FC236}">
                <a16:creationId xmlns:a16="http://schemas.microsoft.com/office/drawing/2014/main" id="{83F630FE-FEDE-4DCF-98BE-57FA329D971D}"/>
              </a:ext>
            </a:extLst>
          </p:cNvPr>
          <p:cNvSpPr/>
          <p:nvPr userDrawn="1"/>
        </p:nvSpPr>
        <p:spPr>
          <a:xfrm>
            <a:off x="4190264" y="4236857"/>
            <a:ext cx="1874870"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19" name="Oval 18">
            <a:extLst>
              <a:ext uri="{FF2B5EF4-FFF2-40B4-BE49-F238E27FC236}">
                <a16:creationId xmlns:a16="http://schemas.microsoft.com/office/drawing/2014/main" id="{5CEE0F46-6DA2-40B8-B7F9-015FA8D24163}"/>
              </a:ext>
            </a:extLst>
          </p:cNvPr>
          <p:cNvSpPr/>
          <p:nvPr userDrawn="1"/>
        </p:nvSpPr>
        <p:spPr>
          <a:xfrm>
            <a:off x="6157960" y="4236857"/>
            <a:ext cx="1874870"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Tree>
    <p:extLst>
      <p:ext uri="{BB962C8B-B14F-4D97-AF65-F5344CB8AC3E}">
        <p14:creationId xmlns:p14="http://schemas.microsoft.com/office/powerpoint/2010/main" val="33311750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0" y="687572"/>
            <a:ext cx="4767262" cy="1342045"/>
          </a:xfrm>
        </p:spPr>
        <p:txBody>
          <a:bodyPr lIns="0" anchor="b">
            <a:normAutofit/>
          </a:bodyPr>
          <a:lstStyle>
            <a:lvl1pPr algn="r">
              <a:defRPr sz="4000">
                <a:latin typeface="+mj-lt"/>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0" y="687573"/>
            <a:ext cx="5370740" cy="1342044"/>
          </a:xfrm>
        </p:spPr>
        <p:txBody>
          <a:bodyPr lIns="0">
            <a:normAutofit/>
          </a:bodyPr>
          <a:lstStyle>
            <a:lvl1pPr marL="0" indent="0">
              <a:lnSpc>
                <a:spcPct val="100000"/>
              </a:lnSpc>
              <a:buNone/>
              <a:defRPr sz="1400" spc="0">
                <a:solidFill>
                  <a:schemeClr val="tx2"/>
                </a:solidFill>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Click to edit Master text styles</a:t>
            </a:r>
          </a:p>
        </p:txBody>
      </p:sp>
      <p:sp>
        <p:nvSpPr>
          <p:cNvPr id="3" name="Chart Placeholder 2">
            <a:extLst>
              <a:ext uri="{FF2B5EF4-FFF2-40B4-BE49-F238E27FC236}">
                <a16:creationId xmlns:a16="http://schemas.microsoft.com/office/drawing/2014/main" id="{D352E4A8-F531-4E6C-BD45-CE540EDB1D48}"/>
              </a:ext>
            </a:extLst>
          </p:cNvPr>
          <p:cNvSpPr>
            <a:spLocks noGrp="1"/>
          </p:cNvSpPr>
          <p:nvPr>
            <p:ph type="chart" sz="quarter" idx="13"/>
          </p:nvPr>
        </p:nvSpPr>
        <p:spPr>
          <a:xfrm>
            <a:off x="838200" y="2392680"/>
            <a:ext cx="10719842" cy="4167505"/>
          </a:xfrm>
        </p:spPr>
        <p:txBody>
          <a:bodyPr/>
          <a:lstStyle/>
          <a:p>
            <a:r>
              <a:rPr lang="en-US" noProof="0"/>
              <a:t>Click icon to add chart</a:t>
            </a:r>
            <a:endParaRPr lang="en-US" noProof="0" dirty="0"/>
          </a:p>
        </p:txBody>
      </p:sp>
    </p:spTree>
    <p:extLst>
      <p:ext uri="{BB962C8B-B14F-4D97-AF65-F5344CB8AC3E}">
        <p14:creationId xmlns:p14="http://schemas.microsoft.com/office/powerpoint/2010/main" val="7445607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0" y="687572"/>
            <a:ext cx="4767262" cy="1342045"/>
          </a:xfrm>
        </p:spPr>
        <p:txBody>
          <a:bodyPr lIns="0" anchor="b">
            <a:normAutofit/>
          </a:bodyPr>
          <a:lstStyle>
            <a:lvl1pPr algn="r">
              <a:defRPr sz="4000">
                <a:latin typeface="+mj-lt"/>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0" y="687573"/>
            <a:ext cx="5370740" cy="1342044"/>
          </a:xfrm>
        </p:spPr>
        <p:txBody>
          <a:bodyPr lIns="0">
            <a:normAutofit/>
          </a:bodyPr>
          <a:lstStyle>
            <a:lvl1pPr marL="0" indent="0">
              <a:lnSpc>
                <a:spcPct val="100000"/>
              </a:lnSpc>
              <a:buNone/>
              <a:defRPr sz="1400" spc="0">
                <a:solidFill>
                  <a:schemeClr val="tx2"/>
                </a:solidFill>
              </a:defRPr>
            </a:lvl1pPr>
            <a:lvl2pPr marL="457200" indent="0">
              <a:lnSpc>
                <a:spcPct val="100000"/>
              </a:lnSpc>
              <a:buNone/>
              <a:defRPr sz="1100" spc="0">
                <a:solidFill>
                  <a:schemeClr val="tx2"/>
                </a:solidFill>
              </a:defRPr>
            </a:lvl2pPr>
            <a:lvl3pPr marL="914400" indent="0">
              <a:lnSpc>
                <a:spcPct val="100000"/>
              </a:lnSpc>
              <a:buNone/>
              <a:defRPr sz="1050" spc="0">
                <a:solidFill>
                  <a:schemeClr val="tx2"/>
                </a:solidFill>
              </a:defRPr>
            </a:lvl3pPr>
            <a:lvl4pPr marL="1371600" indent="0">
              <a:lnSpc>
                <a:spcPct val="100000"/>
              </a:lnSpc>
              <a:buNone/>
              <a:defRPr sz="1000" spc="0">
                <a:solidFill>
                  <a:schemeClr val="tx2"/>
                </a:solidFill>
              </a:defRPr>
            </a:lvl4pPr>
            <a:lvl5pPr marL="1828800" indent="0">
              <a:lnSpc>
                <a:spcPct val="100000"/>
              </a:lnSpc>
              <a:buNone/>
              <a:defRPr sz="1000" spc="0">
                <a:solidFill>
                  <a:schemeClr val="tx2"/>
                </a:solidFill>
              </a:defRPr>
            </a:lvl5pPr>
          </a:lstStyle>
          <a:p>
            <a:pPr lvl="0"/>
            <a:r>
              <a:rPr lang="en-US" noProof="0"/>
              <a:t>Click to edit Master text styles</a:t>
            </a:r>
          </a:p>
        </p:txBody>
      </p:sp>
      <p:sp>
        <p:nvSpPr>
          <p:cNvPr id="3" name="Chart Placeholder 2">
            <a:extLst>
              <a:ext uri="{FF2B5EF4-FFF2-40B4-BE49-F238E27FC236}">
                <a16:creationId xmlns:a16="http://schemas.microsoft.com/office/drawing/2014/main" id="{D352E4A8-F531-4E6C-BD45-CE540EDB1D48}"/>
              </a:ext>
            </a:extLst>
          </p:cNvPr>
          <p:cNvSpPr>
            <a:spLocks noGrp="1"/>
          </p:cNvSpPr>
          <p:nvPr>
            <p:ph type="chart" sz="quarter" idx="13"/>
          </p:nvPr>
        </p:nvSpPr>
        <p:spPr>
          <a:xfrm>
            <a:off x="5815420" y="2392680"/>
            <a:ext cx="5742622" cy="4023995"/>
          </a:xfrm>
        </p:spPr>
        <p:txBody>
          <a:bodyPr/>
          <a:lstStyle/>
          <a:p>
            <a:r>
              <a:rPr lang="en-US" noProof="0"/>
              <a:t>Click icon to add chart</a:t>
            </a:r>
            <a:endParaRPr lang="en-US" noProof="0" dirty="0"/>
          </a:p>
        </p:txBody>
      </p:sp>
      <p:sp>
        <p:nvSpPr>
          <p:cNvPr id="4" name="Picture Placeholder 3">
            <a:extLst>
              <a:ext uri="{FF2B5EF4-FFF2-40B4-BE49-F238E27FC236}">
                <a16:creationId xmlns:a16="http://schemas.microsoft.com/office/drawing/2014/main" id="{C9E9201F-1E54-4CE0-974D-2A45F04F48B9}"/>
              </a:ext>
            </a:extLst>
          </p:cNvPr>
          <p:cNvSpPr>
            <a:spLocks noGrp="1"/>
          </p:cNvSpPr>
          <p:nvPr>
            <p:ph type="pic" sz="quarter" idx="14"/>
          </p:nvPr>
        </p:nvSpPr>
        <p:spPr>
          <a:xfrm>
            <a:off x="838200" y="2392045"/>
            <a:ext cx="4776788" cy="4023995"/>
          </a:xfrm>
        </p:spPr>
        <p:txBody>
          <a:bodyPr/>
          <a:lstStyle/>
          <a:p>
            <a:r>
              <a:rPr lang="en-US" noProof="0"/>
              <a:t>Click icon to add picture</a:t>
            </a:r>
            <a:endParaRPr lang="en-US" noProof="0" dirty="0"/>
          </a:p>
        </p:txBody>
      </p:sp>
    </p:spTree>
    <p:extLst>
      <p:ext uri="{BB962C8B-B14F-4D97-AF65-F5344CB8AC3E}">
        <p14:creationId xmlns:p14="http://schemas.microsoft.com/office/powerpoint/2010/main" val="6985145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4535-13A9-914D-A6BC-97AFF288301C}"/>
              </a:ext>
            </a:extLst>
          </p:cNvPr>
          <p:cNvSpPr>
            <a:spLocks noGrp="1"/>
          </p:cNvSpPr>
          <p:nvPr>
            <p:ph type="title" hasCustomPrompt="1"/>
          </p:nvPr>
        </p:nvSpPr>
        <p:spPr>
          <a:xfrm>
            <a:off x="647700" y="289560"/>
            <a:ext cx="10896600" cy="893218"/>
          </a:xfrm>
        </p:spPr>
        <p:txBody>
          <a:bodyPr anchor="b"/>
          <a:lstStyle>
            <a:lvl1pPr algn="ctr">
              <a:defRPr>
                <a:latin typeface="+mj-lt"/>
              </a:defRPr>
            </a:lvl1pPr>
          </a:lstStyle>
          <a:p>
            <a:r>
              <a:rPr lang="en-US" dirty="0"/>
              <a:t>CLICK TO EDIT MASTER TITLE STYLE</a:t>
            </a:r>
          </a:p>
        </p:txBody>
      </p:sp>
      <p:sp>
        <p:nvSpPr>
          <p:cNvPr id="11" name="Text Placeholder 11">
            <a:extLst>
              <a:ext uri="{FF2B5EF4-FFF2-40B4-BE49-F238E27FC236}">
                <a16:creationId xmlns:a16="http://schemas.microsoft.com/office/drawing/2014/main" id="{43A40995-514F-A74C-B120-F2ADB492062F}"/>
              </a:ext>
            </a:extLst>
          </p:cNvPr>
          <p:cNvSpPr>
            <a:spLocks noGrp="1"/>
          </p:cNvSpPr>
          <p:nvPr>
            <p:ph type="body" sz="quarter" idx="12" hasCustomPrompt="1"/>
          </p:nvPr>
        </p:nvSpPr>
        <p:spPr>
          <a:xfrm>
            <a:off x="647700" y="1097363"/>
            <a:ext cx="10896600" cy="602887"/>
          </a:xfrm>
        </p:spPr>
        <p:txBody>
          <a:bodyPr anchor="ctr">
            <a:normAutofit/>
          </a:bodyPr>
          <a:lstStyle>
            <a:lvl1pPr marL="0" indent="0" algn="ctr">
              <a:buNone/>
              <a:defRPr sz="1400" spc="3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SUBTITLE HERE</a:t>
            </a:r>
          </a:p>
        </p:txBody>
      </p:sp>
      <p:sp>
        <p:nvSpPr>
          <p:cNvPr id="4" name="Table Placeholder 3">
            <a:extLst>
              <a:ext uri="{FF2B5EF4-FFF2-40B4-BE49-F238E27FC236}">
                <a16:creationId xmlns:a16="http://schemas.microsoft.com/office/drawing/2014/main" id="{EC1740A4-BBA1-4296-9738-ADD3B80B2439}"/>
              </a:ext>
            </a:extLst>
          </p:cNvPr>
          <p:cNvSpPr>
            <a:spLocks noGrp="1"/>
          </p:cNvSpPr>
          <p:nvPr>
            <p:ph type="tbl" sz="quarter" idx="13"/>
          </p:nvPr>
        </p:nvSpPr>
        <p:spPr>
          <a:xfrm>
            <a:off x="647700" y="1806575"/>
            <a:ext cx="10896600" cy="4578350"/>
          </a:xfrm>
        </p:spPr>
        <p:txBody>
          <a:bodyPr/>
          <a:lstStyle/>
          <a:p>
            <a:r>
              <a:rPr lang="en-US"/>
              <a:t>Click icon to add table</a:t>
            </a:r>
            <a:endParaRPr lang="en-US" dirty="0"/>
          </a:p>
        </p:txBody>
      </p:sp>
    </p:spTree>
    <p:extLst>
      <p:ext uri="{BB962C8B-B14F-4D97-AF65-F5344CB8AC3E}">
        <p14:creationId xmlns:p14="http://schemas.microsoft.com/office/powerpoint/2010/main" val="8508298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69723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23659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8" name="Title 1">
            <a:extLst>
              <a:ext uri="{FF2B5EF4-FFF2-40B4-BE49-F238E27FC236}">
                <a16:creationId xmlns:a16="http://schemas.microsoft.com/office/drawing/2014/main" id="{531D0563-B39F-46E6-AC0D-1CDBD9E8989A}"/>
              </a:ext>
            </a:extLst>
          </p:cNvPr>
          <p:cNvSpPr>
            <a:spLocks noGrp="1"/>
          </p:cNvSpPr>
          <p:nvPr>
            <p:ph type="title" hasCustomPrompt="1"/>
          </p:nvPr>
        </p:nvSpPr>
        <p:spPr>
          <a:xfrm>
            <a:off x="518160" y="524172"/>
            <a:ext cx="2578099" cy="2508588"/>
          </a:xfrm>
        </p:spPr>
        <p:txBody>
          <a:bodyPr lIns="0" anchor="t">
            <a:normAutofit/>
          </a:bodyPr>
          <a:lstStyle>
            <a:lvl1pPr algn="l">
              <a:defRPr sz="4000">
                <a:latin typeface="+mj-lt"/>
              </a:defRPr>
            </a:lvl1pPr>
          </a:lstStyle>
          <a:p>
            <a:r>
              <a:rPr lang="en-US" noProof="0"/>
              <a:t>Click to Add </a:t>
            </a:r>
            <a:br>
              <a:rPr lang="en-US" noProof="0"/>
            </a:br>
            <a:r>
              <a:rPr lang="en-US" noProof="0"/>
              <a:t>Slide Title Here</a:t>
            </a:r>
          </a:p>
        </p:txBody>
      </p:sp>
      <p:sp>
        <p:nvSpPr>
          <p:cNvPr id="9" name="Shape 62">
            <a:extLst>
              <a:ext uri="{FF2B5EF4-FFF2-40B4-BE49-F238E27FC236}">
                <a16:creationId xmlns:a16="http://schemas.microsoft.com/office/drawing/2014/main" id="{77A2F74A-3B1A-417B-8998-62F0E7EF0E74}"/>
              </a:ext>
            </a:extLst>
          </p:cNvPr>
          <p:cNvSpPr/>
          <p:nvPr userDrawn="1"/>
        </p:nvSpPr>
        <p:spPr>
          <a:xfrm rot="16200000" flipV="1">
            <a:off x="965155" y="-703069"/>
            <a:ext cx="0" cy="1930310"/>
          </a:xfrm>
          <a:prstGeom prst="line">
            <a:avLst/>
          </a:prstGeom>
          <a:ln w="19050">
            <a:solidFill>
              <a:schemeClr val="tx2"/>
            </a:solidFill>
            <a:miter lim="400000"/>
          </a:ln>
        </p:spPr>
        <p:txBody>
          <a:bodyPr lIns="19050" tIns="19050" rIns="19050" bIns="19050" anchor="ctr"/>
          <a:lstStyle/>
          <a:p>
            <a:pPr algn="ctr">
              <a:defRPr sz="3000">
                <a:solidFill>
                  <a:srgbClr val="000000"/>
                </a:solidFill>
                <a:latin typeface="Helvetica Light"/>
                <a:ea typeface="Helvetica Light"/>
                <a:cs typeface="Helvetica Light"/>
                <a:sym typeface="Helvetica Light"/>
              </a:defRPr>
            </a:pPr>
            <a:endParaRPr lang="en-US" sz="1500" noProof="0" dirty="0"/>
          </a:p>
        </p:txBody>
      </p:sp>
    </p:spTree>
    <p:extLst>
      <p:ext uri="{BB962C8B-B14F-4D97-AF65-F5344CB8AC3E}">
        <p14:creationId xmlns:p14="http://schemas.microsoft.com/office/powerpoint/2010/main" val="12529377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AC817481-FC70-46B9-B779-4E5C04778C8E}"/>
              </a:ext>
            </a:extLst>
          </p:cNvPr>
          <p:cNvSpPr>
            <a:spLocks noGrp="1"/>
          </p:cNvSpPr>
          <p:nvPr>
            <p:ph type="pic" sz="quarter" idx="10"/>
          </p:nvPr>
        </p:nvSpPr>
        <p:spPr>
          <a:xfrm>
            <a:off x="212725" y="198755"/>
            <a:ext cx="3856038" cy="4235450"/>
          </a:xfrm>
          <a:solidFill>
            <a:schemeClr val="bg1">
              <a:lumMod val="95000"/>
            </a:schemeClr>
          </a:solidFill>
        </p:spPr>
        <p:txBody>
          <a:bodyPr/>
          <a:lstStyle/>
          <a:p>
            <a:r>
              <a:rPr lang="en-US"/>
              <a:t>Click icon to add picture</a:t>
            </a:r>
            <a:endParaRPr lang="en-US" dirty="0"/>
          </a:p>
        </p:txBody>
      </p:sp>
      <p:sp>
        <p:nvSpPr>
          <p:cNvPr id="4" name="Picture Placeholder 4">
            <a:extLst>
              <a:ext uri="{FF2B5EF4-FFF2-40B4-BE49-F238E27FC236}">
                <a16:creationId xmlns:a16="http://schemas.microsoft.com/office/drawing/2014/main" id="{D653D0B5-B695-4544-91E9-B8223EA713FF}"/>
              </a:ext>
            </a:extLst>
          </p:cNvPr>
          <p:cNvSpPr>
            <a:spLocks noGrp="1"/>
          </p:cNvSpPr>
          <p:nvPr>
            <p:ph type="pic" sz="quarter" idx="11"/>
          </p:nvPr>
        </p:nvSpPr>
        <p:spPr>
          <a:xfrm>
            <a:off x="4312285" y="198755"/>
            <a:ext cx="7651115" cy="4235450"/>
          </a:xfrm>
          <a:solidFill>
            <a:schemeClr val="bg1">
              <a:lumMod val="95000"/>
            </a:schemeClr>
          </a:solidFill>
        </p:spPr>
        <p:txBody>
          <a:bodyPr/>
          <a:lstStyle/>
          <a:p>
            <a:r>
              <a:rPr lang="en-US"/>
              <a:t>Click icon to add picture</a:t>
            </a:r>
            <a:endParaRPr lang="en-US" dirty="0"/>
          </a:p>
        </p:txBody>
      </p:sp>
      <p:sp>
        <p:nvSpPr>
          <p:cNvPr id="5" name="Picture Placeholder 4">
            <a:extLst>
              <a:ext uri="{FF2B5EF4-FFF2-40B4-BE49-F238E27FC236}">
                <a16:creationId xmlns:a16="http://schemas.microsoft.com/office/drawing/2014/main" id="{00DB6AEA-811C-4554-97AF-7D4F2639BDC7}"/>
              </a:ext>
            </a:extLst>
          </p:cNvPr>
          <p:cNvSpPr>
            <a:spLocks noGrp="1"/>
          </p:cNvSpPr>
          <p:nvPr>
            <p:ph type="pic" sz="quarter" idx="12"/>
          </p:nvPr>
        </p:nvSpPr>
        <p:spPr>
          <a:xfrm>
            <a:off x="213361" y="4648200"/>
            <a:ext cx="7651116" cy="2011679"/>
          </a:xfrm>
          <a:solidFill>
            <a:schemeClr val="bg1">
              <a:lumMod val="95000"/>
            </a:schemeClr>
          </a:solidFill>
        </p:spPr>
        <p:txBody>
          <a:bodyPr/>
          <a:lstStyle/>
          <a:p>
            <a:r>
              <a:rPr lang="en-US"/>
              <a:t>Click icon to add picture</a:t>
            </a:r>
            <a:endParaRPr lang="en-US" dirty="0"/>
          </a:p>
        </p:txBody>
      </p:sp>
      <p:sp>
        <p:nvSpPr>
          <p:cNvPr id="6" name="Picture Placeholder 4">
            <a:extLst>
              <a:ext uri="{FF2B5EF4-FFF2-40B4-BE49-F238E27FC236}">
                <a16:creationId xmlns:a16="http://schemas.microsoft.com/office/drawing/2014/main" id="{75694821-2A94-40B8-8AAD-3E3762AFD388}"/>
              </a:ext>
            </a:extLst>
          </p:cNvPr>
          <p:cNvSpPr>
            <a:spLocks noGrp="1"/>
          </p:cNvSpPr>
          <p:nvPr>
            <p:ph type="pic" sz="quarter" idx="13"/>
          </p:nvPr>
        </p:nvSpPr>
        <p:spPr>
          <a:xfrm>
            <a:off x="8122919" y="4648200"/>
            <a:ext cx="3855721" cy="2011679"/>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35322771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09022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0FA98-2EE8-734A-95BB-A4637DCAD5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55A45B-F495-F641-AA7A-36292C3CC9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89227B26-65C5-5A4B-AAEC-70B3B5201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4050737061"/>
      </p:ext>
    </p:extLst>
  </p:cSld>
  <p:clrMap bg1="lt1" tx1="dk1" bg2="lt2" tx2="dk2" accent1="accent1" accent2="accent2" accent3="accent3" accent4="accent4" accent5="accent5" accent6="accent6" hlink="hlink" folHlink="folHlink"/>
  <p:sldLayoutIdLst>
    <p:sldLayoutId id="2147483673" r:id="rId1"/>
    <p:sldLayoutId id="2147483735" r:id="rId2"/>
    <p:sldLayoutId id="2147483689" r:id="rId3"/>
    <p:sldLayoutId id="2147483684" r:id="rId4"/>
    <p:sldLayoutId id="2147483651" r:id="rId5"/>
    <p:sldLayoutId id="2147483685" r:id="rId6"/>
    <p:sldLayoutId id="2147483674" r:id="rId7"/>
    <p:sldLayoutId id="2147483690" r:id="rId8"/>
    <p:sldLayoutId id="2147483694" r:id="rId9"/>
    <p:sldLayoutId id="2147483693" r:id="rId10"/>
    <p:sldLayoutId id="2147483686" r:id="rId11"/>
    <p:sldLayoutId id="2147483703" r:id="rId12"/>
    <p:sldLayoutId id="2147483709" r:id="rId13"/>
    <p:sldLayoutId id="2147483710" r:id="rId14"/>
    <p:sldLayoutId id="2147483711" r:id="rId15"/>
    <p:sldLayoutId id="2147483712" r:id="rId16"/>
    <p:sldLayoutId id="2147483704" r:id="rId17"/>
    <p:sldLayoutId id="2147483702" r:id="rId18"/>
    <p:sldLayoutId id="2147483713" r:id="rId19"/>
    <p:sldLayoutId id="2147483714" r:id="rId20"/>
    <p:sldLayoutId id="2147483715" r:id="rId21"/>
    <p:sldLayoutId id="2147483695" r:id="rId22"/>
    <p:sldLayoutId id="2147483730" r:id="rId23"/>
    <p:sldLayoutId id="2147483698" r:id="rId24"/>
    <p:sldLayoutId id="2147483731" r:id="rId25"/>
    <p:sldLayoutId id="2147483699" r:id="rId26"/>
    <p:sldLayoutId id="2147483732" r:id="rId27"/>
    <p:sldLayoutId id="2147483700" r:id="rId28"/>
    <p:sldLayoutId id="2147483733" r:id="rId29"/>
    <p:sldLayoutId id="2147483701" r:id="rId30"/>
    <p:sldLayoutId id="2147483734" r:id="rId31"/>
    <p:sldLayoutId id="2147483696" r:id="rId32"/>
    <p:sldLayoutId id="2147483705" r:id="rId33"/>
    <p:sldLayoutId id="2147483706" r:id="rId34"/>
    <p:sldLayoutId id="2147483707" r:id="rId35"/>
    <p:sldLayoutId id="2147483708" r:id="rId36"/>
    <p:sldLayoutId id="2147483687" r:id="rId37"/>
    <p:sldLayoutId id="2147483719" r:id="rId38"/>
    <p:sldLayoutId id="2147483720" r:id="rId39"/>
    <p:sldLayoutId id="2147483718" r:id="rId40"/>
    <p:sldLayoutId id="2147483721" r:id="rId41"/>
    <p:sldLayoutId id="2147483716" r:id="rId42"/>
    <p:sldLayoutId id="2147483722" r:id="rId43"/>
    <p:sldLayoutId id="2147483723" r:id="rId44"/>
    <p:sldLayoutId id="2147483725" r:id="rId45"/>
    <p:sldLayoutId id="2147483726" r:id="rId46"/>
    <p:sldLayoutId id="2147483675" r:id="rId47"/>
    <p:sldLayoutId id="2147483677" r:id="rId48"/>
    <p:sldLayoutId id="2147483729" r:id="rId49"/>
    <p:sldLayoutId id="2147483728" r:id="rId50"/>
    <p:sldLayoutId id="2147483736" r:id="rId51"/>
  </p:sldLayoutIdLst>
  <p:txStyles>
    <p:titleStyle>
      <a:lvl1pPr algn="l" defTabSz="914400" rtl="0" eaLnBrk="1" latinLnBrk="0" hangingPunct="1">
        <a:lnSpc>
          <a:spcPct val="90000"/>
        </a:lnSpc>
        <a:spcBef>
          <a:spcPct val="0"/>
        </a:spcBef>
        <a:buNone/>
        <a:defRPr sz="4400" b="1" i="0" kern="1200" spc="-150">
          <a:solidFill>
            <a:schemeClr val="tx2"/>
          </a:solidFill>
          <a:latin typeface="+mj-lt"/>
          <a:ea typeface="+mj-ea"/>
          <a:cs typeface="Gill Sans" panose="020B0502020104020203" pitchFamily="34"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5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1ABD-7339-4C70-82A3-696BE8EF14DF}"/>
              </a:ext>
            </a:extLst>
          </p:cNvPr>
          <p:cNvSpPr>
            <a:spLocks noGrp="1"/>
          </p:cNvSpPr>
          <p:nvPr>
            <p:ph type="title"/>
          </p:nvPr>
        </p:nvSpPr>
        <p:spPr>
          <a:xfrm>
            <a:off x="1166724" y="906905"/>
            <a:ext cx="6131852" cy="1634505"/>
          </a:xfrm>
        </p:spPr>
        <p:txBody>
          <a:bodyPr vert="horz" lIns="91440" tIns="45720" rIns="91440" bIns="45720" rtlCol="0" anchor="b">
            <a:normAutofit/>
          </a:bodyPr>
          <a:lstStyle/>
          <a:p>
            <a:r>
              <a:rPr lang="en-US" sz="4800" b="1" i="0" kern="1200" spc="-150" dirty="0" err="1">
                <a:latin typeface="+mj-lt"/>
                <a:ea typeface="+mj-ea"/>
                <a:cs typeface="Gill Sans" panose="020B0502020104020203" pitchFamily="34" charset="-79"/>
              </a:rPr>
              <a:t>SumThing</a:t>
            </a:r>
            <a:r>
              <a:rPr lang="en-US" sz="4800" b="1" i="0" kern="1200" spc="-150" dirty="0">
                <a:latin typeface="+mj-lt"/>
                <a:ea typeface="+mj-ea"/>
                <a:cs typeface="Gill Sans" panose="020B0502020104020203" pitchFamily="34" charset="-79"/>
              </a:rPr>
              <a:t> Market Opportunity</a:t>
            </a:r>
          </a:p>
        </p:txBody>
      </p:sp>
      <p:pic>
        <p:nvPicPr>
          <p:cNvPr id="13" name="Picture Placeholder 5" descr="Buildings">
            <a:extLst>
              <a:ext uri="{FF2B5EF4-FFF2-40B4-BE49-F238E27FC236}">
                <a16:creationId xmlns:a16="http://schemas.microsoft.com/office/drawing/2014/main" id="{002497D9-8F14-40C3-90A2-8264564E1F97}"/>
              </a:ext>
              <a:ext uri="{C183D7F6-B498-43B3-948B-1728B52AA6E4}">
                <adec:decorative xmlns:adec="http://schemas.microsoft.com/office/drawing/2017/decorative" val="0"/>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t="29371" b="29371"/>
          <a:stretch/>
        </p:blipFill>
        <p:spPr>
          <a:xfrm>
            <a:off x="149" y="3500437"/>
            <a:ext cx="12191702" cy="3357563"/>
          </a:xfrm>
          <a:noFill/>
        </p:spPr>
      </p:pic>
      <p:sp>
        <p:nvSpPr>
          <p:cNvPr id="5" name="Text Placeholder 5">
            <a:extLst>
              <a:ext uri="{FF2B5EF4-FFF2-40B4-BE49-F238E27FC236}">
                <a16:creationId xmlns:a16="http://schemas.microsoft.com/office/drawing/2014/main" id="{3D79BC6D-C8FE-82C9-D177-D04453A2ACF4}"/>
              </a:ext>
            </a:extLst>
          </p:cNvPr>
          <p:cNvSpPr txBox="1">
            <a:spLocks/>
          </p:cNvSpPr>
          <p:nvPr/>
        </p:nvSpPr>
        <p:spPr>
          <a:xfrm>
            <a:off x="7569843" y="1324228"/>
            <a:ext cx="4155432" cy="132556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spc="3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0" i="0" kern="1200" dirty="0" err="1">
                <a:solidFill>
                  <a:schemeClr val="tx2"/>
                </a:solidFill>
                <a:latin typeface="+mn-lt"/>
                <a:ea typeface="+mn-ea"/>
                <a:cs typeface="Arial" panose="020B0604020202020204" pitchFamily="34" charset="0"/>
              </a:rPr>
              <a:t>Disusun</a:t>
            </a:r>
            <a:r>
              <a:rPr lang="en-US" sz="1800" b="0" i="0" kern="1200" dirty="0">
                <a:solidFill>
                  <a:schemeClr val="tx2"/>
                </a:solidFill>
                <a:latin typeface="+mn-lt"/>
                <a:ea typeface="+mn-ea"/>
                <a:cs typeface="Arial" panose="020B0604020202020204" pitchFamily="34" charset="0"/>
              </a:rPr>
              <a:t> oleh: </a:t>
            </a:r>
            <a:r>
              <a:rPr lang="en-US" sz="1800" b="0" i="0" kern="1200" dirty="0" err="1">
                <a:solidFill>
                  <a:schemeClr val="tx2"/>
                </a:solidFill>
                <a:latin typeface="+mn-lt"/>
                <a:ea typeface="+mn-ea"/>
                <a:cs typeface="Arial" panose="020B0604020202020204" pitchFamily="34" charset="0"/>
              </a:rPr>
              <a:t>Kelompok</a:t>
            </a:r>
            <a:r>
              <a:rPr lang="en-US" sz="1800" b="0" i="0" kern="1200" dirty="0">
                <a:solidFill>
                  <a:schemeClr val="tx2"/>
                </a:solidFill>
                <a:latin typeface="+mn-lt"/>
                <a:ea typeface="+mn-ea"/>
                <a:cs typeface="Arial" panose="020B0604020202020204" pitchFamily="34" charset="0"/>
              </a:rPr>
              <a:t> 1</a:t>
            </a:r>
          </a:p>
          <a:p>
            <a:endParaRPr lang="en-US" sz="1400" b="0" i="0" kern="1200" dirty="0">
              <a:solidFill>
                <a:schemeClr val="tx2"/>
              </a:solidFill>
              <a:latin typeface="+mn-lt"/>
              <a:ea typeface="+mn-ea"/>
              <a:cs typeface="Arial" panose="020B0604020202020204" pitchFamily="34" charset="0"/>
            </a:endParaRPr>
          </a:p>
          <a:p>
            <a:r>
              <a:rPr lang="en-US" sz="1200" b="0" i="0" kern="1200" dirty="0" err="1">
                <a:solidFill>
                  <a:schemeClr val="tx2"/>
                </a:solidFill>
                <a:latin typeface="+mn-lt"/>
                <a:ea typeface="+mn-ea"/>
                <a:cs typeface="Arial" panose="020B0604020202020204" pitchFamily="34" charset="0"/>
              </a:rPr>
              <a:t>Sumber</a:t>
            </a:r>
            <a:r>
              <a:rPr lang="en-US" sz="1200" b="0" i="0" kern="1200" dirty="0">
                <a:solidFill>
                  <a:schemeClr val="tx2"/>
                </a:solidFill>
                <a:latin typeface="+mn-lt"/>
                <a:ea typeface="+mn-ea"/>
                <a:cs typeface="Arial" panose="020B0604020202020204" pitchFamily="34" charset="0"/>
              </a:rPr>
              <a:t> Data: BPJS </a:t>
            </a:r>
            <a:r>
              <a:rPr lang="en-US" sz="1200" b="0" i="0" kern="1200" dirty="0" err="1">
                <a:solidFill>
                  <a:schemeClr val="tx2"/>
                </a:solidFill>
                <a:latin typeface="+mn-lt"/>
                <a:ea typeface="+mn-ea"/>
                <a:cs typeface="Arial" panose="020B0604020202020204" pitchFamily="34" charset="0"/>
              </a:rPr>
              <a:t>Ketenagakerjaan</a:t>
            </a:r>
            <a:r>
              <a:rPr lang="en-US" sz="1200" b="0" i="0" kern="1200" dirty="0">
                <a:solidFill>
                  <a:schemeClr val="tx2"/>
                </a:solidFill>
                <a:latin typeface="+mn-lt"/>
                <a:ea typeface="+mn-ea"/>
                <a:cs typeface="Arial" panose="020B0604020202020204" pitchFamily="34" charset="0"/>
              </a:rPr>
              <a:t> (2023-2025) &amp; BPS per </a:t>
            </a:r>
            <a:r>
              <a:rPr lang="en-US" sz="1200" b="0" i="0" kern="1200" dirty="0" err="1">
                <a:solidFill>
                  <a:schemeClr val="tx2"/>
                </a:solidFill>
                <a:latin typeface="+mn-lt"/>
                <a:ea typeface="+mn-ea"/>
                <a:cs typeface="Arial" panose="020B0604020202020204" pitchFamily="34" charset="0"/>
              </a:rPr>
              <a:t>Provinsi</a:t>
            </a:r>
            <a:r>
              <a:rPr lang="en-US" sz="1200" b="0" i="0" kern="1200" dirty="0">
                <a:solidFill>
                  <a:schemeClr val="tx2"/>
                </a:solidFill>
                <a:latin typeface="+mn-lt"/>
                <a:ea typeface="+mn-ea"/>
                <a:cs typeface="Arial" panose="020B0604020202020204" pitchFamily="34" charset="0"/>
              </a:rPr>
              <a:t> (2025)</a:t>
            </a:r>
          </a:p>
          <a:p>
            <a:endParaRPr lang="en-US" sz="1400" b="0" i="0" kern="1200" dirty="0">
              <a:solidFill>
                <a:schemeClr val="tx2"/>
              </a:solidFill>
              <a:latin typeface="+mn-lt"/>
              <a:ea typeface="+mn-ea"/>
              <a:cs typeface="Arial" panose="020B0604020202020204" pitchFamily="34" charset="0"/>
            </a:endParaRPr>
          </a:p>
          <a:p>
            <a:endParaRPr lang="en-US" sz="1400" b="0" i="0" kern="1200" dirty="0">
              <a:solidFill>
                <a:schemeClr val="tx2"/>
              </a:solidFill>
              <a:latin typeface="+mn-lt"/>
              <a:ea typeface="+mn-ea"/>
              <a:cs typeface="Arial" panose="020B0604020202020204" pitchFamily="34" charset="0"/>
            </a:endParaRPr>
          </a:p>
        </p:txBody>
      </p:sp>
      <p:sp>
        <p:nvSpPr>
          <p:cNvPr id="6" name="Text Placeholder 5">
            <a:extLst>
              <a:ext uri="{FF2B5EF4-FFF2-40B4-BE49-F238E27FC236}">
                <a16:creationId xmlns:a16="http://schemas.microsoft.com/office/drawing/2014/main" id="{849EBC96-F2B6-43D3-A761-898E1D269BC3}"/>
              </a:ext>
            </a:extLst>
          </p:cNvPr>
          <p:cNvSpPr>
            <a:spLocks noGrp="1"/>
          </p:cNvSpPr>
          <p:nvPr>
            <p:ph type="body" sz="quarter" idx="12"/>
          </p:nvPr>
        </p:nvSpPr>
        <p:spPr>
          <a:xfrm>
            <a:off x="299258" y="2649790"/>
            <a:ext cx="7270585" cy="567098"/>
          </a:xfrm>
        </p:spPr>
        <p:txBody>
          <a:bodyPr vert="horz" lIns="91440" tIns="45720" rIns="91440" bIns="45720" rtlCol="0" anchor="b">
            <a:normAutofit fontScale="85000" lnSpcReduction="10000"/>
          </a:bodyPr>
          <a:lstStyle/>
          <a:p>
            <a:r>
              <a:rPr lang="en-US" sz="2600" b="1" i="0" kern="1200" dirty="0" err="1">
                <a:latin typeface="+mn-lt"/>
                <a:ea typeface="+mn-ea"/>
                <a:cs typeface="Arial" panose="020B0604020202020204" pitchFamily="34" charset="0"/>
              </a:rPr>
              <a:t>Prioritas</a:t>
            </a:r>
            <a:r>
              <a:rPr lang="en-US" sz="2600" b="1" i="0" kern="1200" dirty="0">
                <a:latin typeface="+mn-lt"/>
                <a:ea typeface="+mn-ea"/>
                <a:cs typeface="Arial" panose="020B0604020202020204" pitchFamily="34" charset="0"/>
              </a:rPr>
              <a:t> Market </a:t>
            </a:r>
            <a:r>
              <a:rPr lang="en-US" sz="2600" b="1" i="0" kern="1200" dirty="0" err="1">
                <a:latin typeface="+mn-lt"/>
                <a:ea typeface="+mn-ea"/>
                <a:cs typeface="Arial" panose="020B0604020202020204" pitchFamily="34" charset="0"/>
              </a:rPr>
              <a:t>Konstruksi</a:t>
            </a:r>
            <a:r>
              <a:rPr lang="en-US" sz="2600" b="1" i="0" kern="1200" dirty="0">
                <a:latin typeface="+mn-lt"/>
                <a:ea typeface="+mn-ea"/>
                <a:cs typeface="Arial" panose="020B0604020202020204" pitchFamily="34" charset="0"/>
              </a:rPr>
              <a:t> 4 </a:t>
            </a:r>
            <a:r>
              <a:rPr lang="en-US" sz="2600" b="1" i="0" kern="1200" dirty="0" err="1">
                <a:latin typeface="+mn-lt"/>
                <a:ea typeface="+mn-ea"/>
                <a:cs typeface="Arial" panose="020B0604020202020204" pitchFamily="34" charset="0"/>
              </a:rPr>
              <a:t>Provinsi</a:t>
            </a:r>
            <a:r>
              <a:rPr lang="en-US" sz="2600" b="1" i="0" kern="1200" dirty="0">
                <a:latin typeface="+mn-lt"/>
                <a:ea typeface="+mn-ea"/>
                <a:cs typeface="Arial" panose="020B0604020202020204" pitchFamily="34" charset="0"/>
              </a:rPr>
              <a:t> di Pulau Jawa</a:t>
            </a:r>
          </a:p>
          <a:p>
            <a:endParaRPr lang="en-US" sz="1200" b="1" i="0" kern="1200" dirty="0">
              <a:latin typeface="+mn-lt"/>
              <a:ea typeface="+mn-ea"/>
              <a:cs typeface="Arial" panose="020B0604020202020204" pitchFamily="34" charset="0"/>
            </a:endParaRPr>
          </a:p>
        </p:txBody>
      </p:sp>
      <p:cxnSp>
        <p:nvCxnSpPr>
          <p:cNvPr id="4" name="Straight Connector 3">
            <a:extLst>
              <a:ext uri="{FF2B5EF4-FFF2-40B4-BE49-F238E27FC236}">
                <a16:creationId xmlns:a16="http://schemas.microsoft.com/office/drawing/2014/main" id="{8FE502B0-21DD-2752-D435-17B8D5BCDEE1}"/>
              </a:ext>
            </a:extLst>
          </p:cNvPr>
          <p:cNvCxnSpPr/>
          <p:nvPr/>
        </p:nvCxnSpPr>
        <p:spPr>
          <a:xfrm>
            <a:off x="7663448" y="1852270"/>
            <a:ext cx="3968222"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9656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249062A-D4B8-4980-B15D-2F0CF58BB5B7}"/>
              </a:ext>
            </a:extLst>
          </p:cNvPr>
          <p:cNvSpPr>
            <a:spLocks noGrp="1"/>
          </p:cNvSpPr>
          <p:nvPr>
            <p:ph type="title"/>
          </p:nvPr>
        </p:nvSpPr>
        <p:spPr>
          <a:xfrm>
            <a:off x="19050" y="-45721"/>
            <a:ext cx="12192000" cy="777241"/>
          </a:xfrm>
          <a:solidFill>
            <a:schemeClr val="accent1"/>
          </a:solidFill>
          <a:ln>
            <a:solidFill>
              <a:schemeClr val="accent1"/>
            </a:solidFill>
          </a:ln>
        </p:spPr>
        <p:style>
          <a:lnRef idx="2">
            <a:schemeClr val="accent1"/>
          </a:lnRef>
          <a:fillRef idx="1">
            <a:schemeClr val="lt1"/>
          </a:fillRef>
          <a:effectRef idx="0">
            <a:schemeClr val="accent1"/>
          </a:effectRef>
          <a:fontRef idx="minor">
            <a:schemeClr val="dk1"/>
          </a:fontRef>
        </p:style>
        <p:txBody>
          <a:bodyPr/>
          <a:lstStyle/>
          <a:p>
            <a:pPr algn="l"/>
            <a:r>
              <a:rPr lang="en-US" dirty="0">
                <a:solidFill>
                  <a:schemeClr val="bg1"/>
                </a:solidFill>
              </a:rPr>
              <a:t>Latar </a:t>
            </a:r>
            <a:r>
              <a:rPr lang="en-US" dirty="0" err="1">
                <a:solidFill>
                  <a:schemeClr val="bg1"/>
                </a:solidFill>
              </a:rPr>
              <a:t>Belakang</a:t>
            </a:r>
            <a:r>
              <a:rPr lang="en-US" dirty="0">
                <a:solidFill>
                  <a:schemeClr val="bg1"/>
                </a:solidFill>
              </a:rPr>
              <a:t> </a:t>
            </a:r>
            <a:r>
              <a:rPr lang="en-US" dirty="0" err="1">
                <a:solidFill>
                  <a:schemeClr val="bg1"/>
                </a:solidFill>
              </a:rPr>
              <a:t>Bisnis</a:t>
            </a:r>
            <a:endParaRPr lang="en-US" dirty="0">
              <a:solidFill>
                <a:schemeClr val="bg1"/>
              </a:solidFill>
            </a:endParaRPr>
          </a:p>
        </p:txBody>
      </p:sp>
      <p:sp>
        <p:nvSpPr>
          <p:cNvPr id="11" name="Text Placeholder 10">
            <a:extLst>
              <a:ext uri="{FF2B5EF4-FFF2-40B4-BE49-F238E27FC236}">
                <a16:creationId xmlns:a16="http://schemas.microsoft.com/office/drawing/2014/main" id="{B59FCEF3-B015-47B8-8D8F-7C0C90D275EB}"/>
              </a:ext>
            </a:extLst>
          </p:cNvPr>
          <p:cNvSpPr>
            <a:spLocks noGrp="1"/>
          </p:cNvSpPr>
          <p:nvPr>
            <p:ph type="body" sz="quarter" idx="11"/>
          </p:nvPr>
        </p:nvSpPr>
        <p:spPr>
          <a:xfrm>
            <a:off x="6019799" y="885352"/>
            <a:ext cx="5781675" cy="5472112"/>
          </a:xfrm>
          <a:solidFill>
            <a:schemeClr val="accent1">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p>
            <a:pPr>
              <a:lnSpc>
                <a:spcPct val="100000"/>
              </a:lnSpc>
            </a:pPr>
            <a:r>
              <a:rPr lang="en-US" sz="2400" b="1" dirty="0">
                <a:solidFill>
                  <a:schemeClr val="accent1"/>
                </a:solidFill>
              </a:rPr>
              <a:t>Solusi </a:t>
            </a:r>
            <a:r>
              <a:rPr lang="en-US" sz="2400" b="1" dirty="0" err="1">
                <a:solidFill>
                  <a:schemeClr val="accent1"/>
                </a:solidFill>
              </a:rPr>
              <a:t>dari</a:t>
            </a:r>
            <a:r>
              <a:rPr lang="en-US" sz="2400" b="1" dirty="0">
                <a:solidFill>
                  <a:schemeClr val="accent1"/>
                </a:solidFill>
              </a:rPr>
              <a:t> </a:t>
            </a:r>
            <a:r>
              <a:rPr lang="en-US" sz="2400" b="1" dirty="0" err="1">
                <a:solidFill>
                  <a:schemeClr val="accent1"/>
                </a:solidFill>
              </a:rPr>
              <a:t>SumThing</a:t>
            </a:r>
            <a:endParaRPr lang="en-US" sz="2400" b="1" dirty="0">
              <a:solidFill>
                <a:schemeClr val="accent1"/>
              </a:solidFill>
            </a:endParaRPr>
          </a:p>
          <a:p>
            <a:pPr>
              <a:lnSpc>
                <a:spcPct val="100000"/>
              </a:lnSpc>
            </a:pPr>
            <a:r>
              <a:rPr lang="en-US" dirty="0"/>
              <a:t>. </a:t>
            </a:r>
          </a:p>
        </p:txBody>
      </p:sp>
      <p:sp>
        <p:nvSpPr>
          <p:cNvPr id="6" name="Text Placeholder 10">
            <a:extLst>
              <a:ext uri="{FF2B5EF4-FFF2-40B4-BE49-F238E27FC236}">
                <a16:creationId xmlns:a16="http://schemas.microsoft.com/office/drawing/2014/main" id="{11BB96D6-4627-3E2C-8795-E77D562F1EDD}"/>
              </a:ext>
            </a:extLst>
          </p:cNvPr>
          <p:cNvSpPr txBox="1">
            <a:spLocks/>
          </p:cNvSpPr>
          <p:nvPr/>
        </p:nvSpPr>
        <p:spPr>
          <a:xfrm>
            <a:off x="257174" y="880590"/>
            <a:ext cx="5476875" cy="5472112"/>
          </a:xfrm>
          <a:prstGeom prst="rect">
            <a:avLst/>
          </a:prstGeom>
          <a:solidFill>
            <a:schemeClr val="accent6">
              <a:lumMod val="40000"/>
              <a:lumOff val="60000"/>
            </a:schemeClr>
          </a:solid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err="1">
                <a:solidFill>
                  <a:schemeClr val="tx1"/>
                </a:solidFill>
              </a:rPr>
              <a:t>Tantangan</a:t>
            </a:r>
            <a:r>
              <a:rPr lang="en-US" sz="2200" b="1" dirty="0">
                <a:solidFill>
                  <a:schemeClr val="tx1"/>
                </a:solidFill>
              </a:rPr>
              <a:t> Industri</a:t>
            </a:r>
          </a:p>
          <a:p>
            <a:endParaRPr lang="en-US" sz="2000" dirty="0"/>
          </a:p>
          <a:p>
            <a:r>
              <a:rPr lang="en-US" sz="3200" b="1" dirty="0">
                <a:solidFill>
                  <a:srgbClr val="FF0000"/>
                </a:solidFill>
              </a:rPr>
              <a:t>1.840</a:t>
            </a:r>
            <a:r>
              <a:rPr lang="en-US" sz="2800" dirty="0">
                <a:solidFill>
                  <a:srgbClr val="FF0000"/>
                </a:solidFill>
              </a:rPr>
              <a:t> Kasus </a:t>
            </a:r>
          </a:p>
          <a:p>
            <a:r>
              <a:rPr lang="en-US" sz="1800" dirty="0" err="1"/>
              <a:t>Kecelakaan</a:t>
            </a:r>
            <a:r>
              <a:rPr lang="en-US" sz="1800" dirty="0"/>
              <a:t> </a:t>
            </a:r>
            <a:r>
              <a:rPr lang="en-US" sz="1800" dirty="0" err="1"/>
              <a:t>konstruksi</a:t>
            </a:r>
            <a:r>
              <a:rPr lang="en-US" sz="1800" dirty="0"/>
              <a:t> </a:t>
            </a:r>
            <a:r>
              <a:rPr lang="en-US" sz="1800" dirty="0" err="1"/>
              <a:t>tercatat</a:t>
            </a:r>
            <a:r>
              <a:rPr lang="en-US" sz="1800" dirty="0"/>
              <a:t> di 4 </a:t>
            </a:r>
            <a:r>
              <a:rPr lang="en-US" sz="1800" dirty="0" err="1"/>
              <a:t>Provinsi</a:t>
            </a:r>
            <a:r>
              <a:rPr lang="en-US" sz="1800" dirty="0"/>
              <a:t> Jawa.</a:t>
            </a:r>
          </a:p>
          <a:p>
            <a:r>
              <a:rPr lang="en-US" dirty="0"/>
              <a:t>(Rata-rata 3 </a:t>
            </a:r>
            <a:r>
              <a:rPr lang="en-US" dirty="0" err="1"/>
              <a:t>tahun</a:t>
            </a:r>
            <a:r>
              <a:rPr lang="en-US" dirty="0"/>
              <a:t> </a:t>
            </a:r>
            <a:r>
              <a:rPr lang="en-US" dirty="0" err="1"/>
              <a:t>terakhir</a:t>
            </a:r>
            <a:r>
              <a:rPr lang="en-US" dirty="0"/>
              <a:t>, </a:t>
            </a:r>
            <a:r>
              <a:rPr lang="en-US" dirty="0" err="1"/>
              <a:t>Sumber</a:t>
            </a:r>
            <a:r>
              <a:rPr lang="en-US" dirty="0"/>
              <a:t>: BPJS </a:t>
            </a:r>
            <a:r>
              <a:rPr lang="en-US" dirty="0" err="1"/>
              <a:t>Ketenagakerjaan</a:t>
            </a:r>
            <a:r>
              <a:rPr lang="en-US" dirty="0"/>
              <a:t>)</a:t>
            </a:r>
          </a:p>
          <a:p>
            <a:endParaRPr lang="en-US" sz="1800" dirty="0"/>
          </a:p>
          <a:p>
            <a:r>
              <a:rPr lang="en-US" sz="1800" dirty="0" err="1"/>
              <a:t>Penyebab</a:t>
            </a:r>
            <a:r>
              <a:rPr lang="en-US" sz="1800" dirty="0"/>
              <a:t>:</a:t>
            </a:r>
          </a:p>
          <a:p>
            <a:pPr marL="342900" indent="-342900">
              <a:buAutoNum type="arabicPeriod"/>
            </a:pPr>
            <a:r>
              <a:rPr lang="en-US" sz="1800" dirty="0" err="1"/>
              <a:t>Pengawasan</a:t>
            </a:r>
            <a:r>
              <a:rPr lang="en-US" sz="1800" dirty="0"/>
              <a:t> </a:t>
            </a:r>
            <a:r>
              <a:rPr lang="en-US" sz="1800" dirty="0" err="1"/>
              <a:t>keselamatan</a:t>
            </a:r>
            <a:r>
              <a:rPr lang="en-US" sz="1800" dirty="0"/>
              <a:t> </a:t>
            </a:r>
            <a:r>
              <a:rPr lang="en-US" sz="1800" dirty="0" err="1"/>
              <a:t>masih</a:t>
            </a:r>
            <a:r>
              <a:rPr lang="en-US" sz="1800" dirty="0"/>
              <a:t> manual</a:t>
            </a:r>
          </a:p>
          <a:p>
            <a:pPr marL="342900" indent="-342900">
              <a:buAutoNum type="arabicPeriod"/>
            </a:pPr>
            <a:r>
              <a:rPr lang="en-US" sz="1800" dirty="0" err="1"/>
              <a:t>Aktivitas</a:t>
            </a:r>
            <a:r>
              <a:rPr lang="en-US" sz="1800" dirty="0"/>
              <a:t> </a:t>
            </a:r>
            <a:r>
              <a:rPr lang="en-US" sz="1800" dirty="0" err="1"/>
              <a:t>lapangan</a:t>
            </a:r>
            <a:r>
              <a:rPr lang="en-US" sz="1800" dirty="0"/>
              <a:t> </a:t>
            </a:r>
            <a:r>
              <a:rPr lang="en-US" sz="1800" dirty="0" err="1"/>
              <a:t>beresiko</a:t>
            </a:r>
            <a:r>
              <a:rPr lang="en-US" sz="1800" dirty="0"/>
              <a:t> </a:t>
            </a:r>
            <a:r>
              <a:rPr lang="en-US" sz="1800" dirty="0" err="1"/>
              <a:t>tinggi</a:t>
            </a:r>
            <a:r>
              <a:rPr lang="en-US" sz="1800" dirty="0"/>
              <a:t> </a:t>
            </a:r>
            <a:r>
              <a:rPr lang="en-US" sz="1800" dirty="0" err="1"/>
              <a:t>tanpa</a:t>
            </a:r>
            <a:r>
              <a:rPr lang="en-US" sz="1800" dirty="0"/>
              <a:t> monitoring real-time</a:t>
            </a:r>
          </a:p>
          <a:p>
            <a:pPr marL="342900" indent="-342900">
              <a:buAutoNum type="arabicPeriod"/>
            </a:pPr>
            <a:r>
              <a:rPr lang="en-US" sz="1800" dirty="0" err="1"/>
              <a:t>Kurangnya</a:t>
            </a:r>
            <a:r>
              <a:rPr lang="en-US" sz="1800" dirty="0"/>
              <a:t> </a:t>
            </a:r>
            <a:r>
              <a:rPr lang="en-US" sz="1800" dirty="0" err="1"/>
              <a:t>sistem</a:t>
            </a:r>
            <a:r>
              <a:rPr lang="en-US" sz="1800" dirty="0"/>
              <a:t> </a:t>
            </a:r>
            <a:r>
              <a:rPr lang="en-US" sz="1800" dirty="0" err="1"/>
              <a:t>deteksi</a:t>
            </a:r>
            <a:r>
              <a:rPr lang="en-US" sz="1800" dirty="0"/>
              <a:t> APD (helm &amp; </a:t>
            </a:r>
            <a:r>
              <a:rPr lang="en-US" sz="1800" dirty="0" err="1"/>
              <a:t>rompi</a:t>
            </a:r>
            <a:r>
              <a:rPr lang="en-US" sz="1800" dirty="0"/>
              <a:t>)</a:t>
            </a:r>
          </a:p>
          <a:p>
            <a:pPr marL="342900" indent="-342900">
              <a:buAutoNum type="arabicPeriod"/>
            </a:pPr>
            <a:r>
              <a:rPr lang="en-US" sz="1800" dirty="0"/>
              <a:t>Data </a:t>
            </a:r>
            <a:r>
              <a:rPr lang="en-US" sz="1800" dirty="0" err="1"/>
              <a:t>insiden</a:t>
            </a:r>
            <a:r>
              <a:rPr lang="en-US" sz="1800" dirty="0"/>
              <a:t> </a:t>
            </a:r>
            <a:r>
              <a:rPr lang="en-US" sz="1800" dirty="0" err="1"/>
              <a:t>tidak</a:t>
            </a:r>
            <a:r>
              <a:rPr lang="en-US" sz="1800" dirty="0"/>
              <a:t> </a:t>
            </a:r>
            <a:r>
              <a:rPr lang="en-US" sz="1800" dirty="0" err="1"/>
              <a:t>terekam</a:t>
            </a:r>
            <a:r>
              <a:rPr lang="en-US" sz="1800" dirty="0"/>
              <a:t> </a:t>
            </a:r>
            <a:r>
              <a:rPr lang="en-US" sz="1800" dirty="0" err="1"/>
              <a:t>secara</a:t>
            </a:r>
            <a:r>
              <a:rPr lang="en-US" sz="1800" dirty="0"/>
              <a:t> </a:t>
            </a:r>
            <a:r>
              <a:rPr lang="en-US" sz="1800" dirty="0" err="1"/>
              <a:t>sistematis</a:t>
            </a:r>
            <a:endParaRPr lang="en-US" dirty="0"/>
          </a:p>
        </p:txBody>
      </p:sp>
      <p:sp>
        <p:nvSpPr>
          <p:cNvPr id="8" name="Rectangle: Rounded Corners 7">
            <a:extLst>
              <a:ext uri="{FF2B5EF4-FFF2-40B4-BE49-F238E27FC236}">
                <a16:creationId xmlns:a16="http://schemas.microsoft.com/office/drawing/2014/main" id="{E8C24433-9657-0194-2821-88E120EB0A47}"/>
              </a:ext>
            </a:extLst>
          </p:cNvPr>
          <p:cNvSpPr/>
          <p:nvPr/>
        </p:nvSpPr>
        <p:spPr>
          <a:xfrm>
            <a:off x="6303644" y="1752600"/>
            <a:ext cx="5278756" cy="777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rPr>
              <a:t>AI Safety Monitoring</a:t>
            </a:r>
          </a:p>
          <a:p>
            <a:r>
              <a:rPr lang="en-US" sz="1600" dirty="0" err="1">
                <a:solidFill>
                  <a:schemeClr val="bg1">
                    <a:lumMod val="95000"/>
                  </a:schemeClr>
                </a:solidFill>
              </a:rPr>
              <a:t>Deteksi</a:t>
            </a:r>
            <a:r>
              <a:rPr lang="en-US" sz="1600" dirty="0">
                <a:solidFill>
                  <a:schemeClr val="bg1">
                    <a:lumMod val="95000"/>
                  </a:schemeClr>
                </a:solidFill>
              </a:rPr>
              <a:t> </a:t>
            </a:r>
            <a:r>
              <a:rPr lang="en-US" sz="1600" dirty="0" err="1">
                <a:solidFill>
                  <a:schemeClr val="bg1">
                    <a:lumMod val="95000"/>
                  </a:schemeClr>
                </a:solidFill>
              </a:rPr>
              <a:t>insiden</a:t>
            </a:r>
            <a:r>
              <a:rPr lang="en-US" sz="1600" dirty="0">
                <a:solidFill>
                  <a:schemeClr val="bg1">
                    <a:lumMod val="95000"/>
                  </a:schemeClr>
                </a:solidFill>
              </a:rPr>
              <a:t> </a:t>
            </a:r>
            <a:r>
              <a:rPr lang="en-US" sz="1600" dirty="0" err="1">
                <a:solidFill>
                  <a:schemeClr val="bg1">
                    <a:lumMod val="95000"/>
                  </a:schemeClr>
                </a:solidFill>
              </a:rPr>
              <a:t>otomatis</a:t>
            </a:r>
            <a:r>
              <a:rPr lang="en-US" sz="1600" dirty="0">
                <a:solidFill>
                  <a:schemeClr val="bg1">
                    <a:lumMod val="95000"/>
                  </a:schemeClr>
                </a:solidFill>
              </a:rPr>
              <a:t> </a:t>
            </a:r>
            <a:r>
              <a:rPr lang="en-US" sz="1600" dirty="0" err="1">
                <a:solidFill>
                  <a:schemeClr val="bg1">
                    <a:lumMod val="95000"/>
                  </a:schemeClr>
                </a:solidFill>
              </a:rPr>
              <a:t>berbasis</a:t>
            </a:r>
            <a:r>
              <a:rPr lang="en-US" sz="1600" dirty="0">
                <a:solidFill>
                  <a:schemeClr val="bg1">
                    <a:lumMod val="95000"/>
                  </a:schemeClr>
                </a:solidFill>
              </a:rPr>
              <a:t> computer vision</a:t>
            </a:r>
          </a:p>
        </p:txBody>
      </p:sp>
      <p:sp>
        <p:nvSpPr>
          <p:cNvPr id="14" name="Rectangle: Rounded Corners 13">
            <a:extLst>
              <a:ext uri="{FF2B5EF4-FFF2-40B4-BE49-F238E27FC236}">
                <a16:creationId xmlns:a16="http://schemas.microsoft.com/office/drawing/2014/main" id="{737E305B-1709-DFE8-D031-43FDE5A673BB}"/>
              </a:ext>
            </a:extLst>
          </p:cNvPr>
          <p:cNvSpPr/>
          <p:nvPr/>
        </p:nvSpPr>
        <p:spPr>
          <a:xfrm>
            <a:off x="6271259" y="2844167"/>
            <a:ext cx="5278756" cy="777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rPr>
              <a:t>PPE Detection</a:t>
            </a:r>
          </a:p>
          <a:p>
            <a:r>
              <a:rPr lang="en-US" sz="1600" dirty="0" err="1">
                <a:solidFill>
                  <a:schemeClr val="bg1">
                    <a:lumMod val="95000"/>
                  </a:schemeClr>
                </a:solidFill>
              </a:rPr>
              <a:t>Identifikasi</a:t>
            </a:r>
            <a:r>
              <a:rPr lang="en-US" sz="1600" dirty="0">
                <a:solidFill>
                  <a:schemeClr val="bg1">
                    <a:lumMod val="95000"/>
                  </a:schemeClr>
                </a:solidFill>
              </a:rPr>
              <a:t> helm, dan </a:t>
            </a:r>
            <a:r>
              <a:rPr lang="en-US" sz="1600" dirty="0" err="1">
                <a:solidFill>
                  <a:schemeClr val="bg1">
                    <a:lumMod val="95000"/>
                  </a:schemeClr>
                </a:solidFill>
              </a:rPr>
              <a:t>rompi</a:t>
            </a:r>
            <a:r>
              <a:rPr lang="en-US" sz="1600" dirty="0">
                <a:solidFill>
                  <a:schemeClr val="bg1">
                    <a:lumMod val="95000"/>
                  </a:schemeClr>
                </a:solidFill>
              </a:rPr>
              <a:t> </a:t>
            </a:r>
            <a:r>
              <a:rPr lang="en-US" sz="1600" dirty="0" err="1">
                <a:solidFill>
                  <a:schemeClr val="bg1">
                    <a:lumMod val="95000"/>
                  </a:schemeClr>
                </a:solidFill>
              </a:rPr>
              <a:t>secara</a:t>
            </a:r>
            <a:r>
              <a:rPr lang="en-US" sz="1600" dirty="0">
                <a:solidFill>
                  <a:schemeClr val="bg1">
                    <a:lumMod val="95000"/>
                  </a:schemeClr>
                </a:solidFill>
              </a:rPr>
              <a:t> real time</a:t>
            </a:r>
          </a:p>
        </p:txBody>
      </p:sp>
      <p:sp>
        <p:nvSpPr>
          <p:cNvPr id="16" name="Rectangle: Rounded Corners 15">
            <a:extLst>
              <a:ext uri="{FF2B5EF4-FFF2-40B4-BE49-F238E27FC236}">
                <a16:creationId xmlns:a16="http://schemas.microsoft.com/office/drawing/2014/main" id="{5D901951-748B-70D4-1EEF-D5DDA276E85E}"/>
              </a:ext>
            </a:extLst>
          </p:cNvPr>
          <p:cNvSpPr/>
          <p:nvPr/>
        </p:nvSpPr>
        <p:spPr>
          <a:xfrm>
            <a:off x="6303644" y="3901440"/>
            <a:ext cx="5278756" cy="777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rPr>
              <a:t>Real-time Monitoring</a:t>
            </a:r>
          </a:p>
          <a:p>
            <a:r>
              <a:rPr lang="en-US" sz="1600" dirty="0">
                <a:solidFill>
                  <a:schemeClr val="bg1">
                    <a:lumMod val="95000"/>
                  </a:schemeClr>
                </a:solidFill>
              </a:rPr>
              <a:t>Dashboard live untuk supervisor &amp; </a:t>
            </a:r>
            <a:r>
              <a:rPr lang="en-US" sz="1600" dirty="0" err="1">
                <a:solidFill>
                  <a:schemeClr val="bg1">
                    <a:lumMod val="95000"/>
                  </a:schemeClr>
                </a:solidFill>
              </a:rPr>
              <a:t>manajer</a:t>
            </a:r>
            <a:r>
              <a:rPr lang="en-US" sz="1600" dirty="0">
                <a:solidFill>
                  <a:schemeClr val="bg1">
                    <a:lumMod val="95000"/>
                  </a:schemeClr>
                </a:solidFill>
              </a:rPr>
              <a:t> K3</a:t>
            </a:r>
          </a:p>
        </p:txBody>
      </p:sp>
      <p:sp>
        <p:nvSpPr>
          <p:cNvPr id="18" name="Rectangle: Rounded Corners 17">
            <a:extLst>
              <a:ext uri="{FF2B5EF4-FFF2-40B4-BE49-F238E27FC236}">
                <a16:creationId xmlns:a16="http://schemas.microsoft.com/office/drawing/2014/main" id="{D0F71C90-55F4-2E63-A3CB-B50F80391D7D}"/>
              </a:ext>
            </a:extLst>
          </p:cNvPr>
          <p:cNvSpPr/>
          <p:nvPr/>
        </p:nvSpPr>
        <p:spPr>
          <a:xfrm>
            <a:off x="6271259" y="5042533"/>
            <a:ext cx="5278756" cy="777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rPr>
              <a:t>Worker </a:t>
            </a:r>
            <a:r>
              <a:rPr lang="en-US" sz="2000" dirty="0" err="1">
                <a:solidFill>
                  <a:schemeClr val="bg1"/>
                </a:solidFill>
              </a:rPr>
              <a:t>Survelliance</a:t>
            </a:r>
            <a:endParaRPr lang="en-US" sz="2000" dirty="0">
              <a:solidFill>
                <a:schemeClr val="bg1"/>
              </a:solidFill>
            </a:endParaRPr>
          </a:p>
          <a:p>
            <a:r>
              <a:rPr lang="en-US" sz="1600" dirty="0" err="1">
                <a:solidFill>
                  <a:schemeClr val="bg1">
                    <a:lumMod val="95000"/>
                  </a:schemeClr>
                </a:solidFill>
              </a:rPr>
              <a:t>Pantau</a:t>
            </a:r>
            <a:r>
              <a:rPr lang="en-US" sz="1600" dirty="0">
                <a:solidFill>
                  <a:schemeClr val="bg1">
                    <a:lumMod val="95000"/>
                  </a:schemeClr>
                </a:solidFill>
              </a:rPr>
              <a:t> </a:t>
            </a:r>
            <a:r>
              <a:rPr lang="en-US" sz="1600" dirty="0" err="1">
                <a:solidFill>
                  <a:schemeClr val="bg1">
                    <a:lumMod val="95000"/>
                  </a:schemeClr>
                </a:solidFill>
              </a:rPr>
              <a:t>aktifitas</a:t>
            </a:r>
            <a:r>
              <a:rPr lang="en-US" sz="1600" dirty="0">
                <a:solidFill>
                  <a:schemeClr val="bg1">
                    <a:lumMod val="95000"/>
                  </a:schemeClr>
                </a:solidFill>
              </a:rPr>
              <a:t> </a:t>
            </a:r>
            <a:r>
              <a:rPr lang="en-US" sz="1600" dirty="0" err="1">
                <a:solidFill>
                  <a:schemeClr val="bg1">
                    <a:lumMod val="95000"/>
                  </a:schemeClr>
                </a:solidFill>
              </a:rPr>
              <a:t>pekerja</a:t>
            </a:r>
            <a:r>
              <a:rPr lang="en-US" sz="1600" dirty="0">
                <a:solidFill>
                  <a:schemeClr val="bg1">
                    <a:lumMod val="95000"/>
                  </a:schemeClr>
                </a:solidFill>
              </a:rPr>
              <a:t> </a:t>
            </a:r>
            <a:r>
              <a:rPr lang="en-US" sz="1600" dirty="0" err="1">
                <a:solidFill>
                  <a:schemeClr val="bg1">
                    <a:lumMod val="95000"/>
                  </a:schemeClr>
                </a:solidFill>
              </a:rPr>
              <a:t>dengan</a:t>
            </a:r>
            <a:r>
              <a:rPr lang="en-US" sz="1600" dirty="0">
                <a:solidFill>
                  <a:schemeClr val="bg1">
                    <a:lumMod val="95000"/>
                  </a:schemeClr>
                </a:solidFill>
              </a:rPr>
              <a:t> AI 24/7</a:t>
            </a:r>
          </a:p>
        </p:txBody>
      </p:sp>
    </p:spTree>
    <p:extLst>
      <p:ext uri="{BB962C8B-B14F-4D97-AF65-F5344CB8AC3E}">
        <p14:creationId xmlns:p14="http://schemas.microsoft.com/office/powerpoint/2010/main" val="605044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3200" b="1" dirty="0">
                <a:solidFill>
                  <a:srgbClr val="FFFFFF"/>
                </a:solidFill>
                <a:latin typeface="+mj-lt"/>
                <a:ea typeface="Calibri" pitchFamily="34" charset="-122"/>
                <a:cs typeface="Calibri" pitchFamily="34" charset="-120"/>
              </a:rPr>
              <a:t>SumThing's Business Problem</a:t>
            </a:r>
            <a:endParaRPr lang="en-US" sz="3200" dirty="0">
              <a:latin typeface="+mj-lt"/>
            </a:endParaRPr>
          </a:p>
        </p:txBody>
      </p:sp>
      <p:sp>
        <p:nvSpPr>
          <p:cNvPr id="4" name="Shape 2"/>
          <p:cNvSpPr/>
          <p:nvPr/>
        </p:nvSpPr>
        <p:spPr>
          <a:xfrm>
            <a:off x="426720" y="853440"/>
            <a:ext cx="11338560" cy="1341120"/>
          </a:xfrm>
          <a:prstGeom prst="roundRect">
            <a:avLst>
              <a:gd name="adj" fmla="val 13636"/>
            </a:avLst>
          </a:prstGeom>
          <a:solidFill>
            <a:schemeClr val="accent1">
              <a:lumMod val="40000"/>
              <a:lumOff val="60000"/>
            </a:schemeClr>
          </a:solidFill>
          <a:ln/>
          <a:effectLst>
            <a:outerShdw blurRad="101600" dist="38100" dir="2700000" algn="bl" rotWithShape="0">
              <a:srgbClr val="000000">
                <a:alpha val="10000"/>
              </a:srgbClr>
            </a:outerShdw>
          </a:effectLst>
        </p:spPr>
        <p:txBody>
          <a:bodyPr/>
          <a:lstStyle/>
          <a:p>
            <a:endParaRPr lang="en-US" sz="2400" dirty="0"/>
          </a:p>
          <a:p>
            <a:pPr marL="565150" indent="-565150"/>
            <a:r>
              <a:rPr lang="en-US" sz="2000" dirty="0"/>
              <a:t>	</a:t>
            </a:r>
            <a:r>
              <a:rPr lang="en-US" sz="2000" dirty="0" err="1"/>
              <a:t>Bagaimana</a:t>
            </a:r>
            <a:r>
              <a:rPr lang="en-US" sz="2000" dirty="0"/>
              <a:t> </a:t>
            </a:r>
            <a:r>
              <a:rPr lang="en-US" sz="2000" dirty="0" err="1"/>
              <a:t>SumThing</a:t>
            </a:r>
            <a:r>
              <a:rPr lang="en-US" sz="2000" dirty="0"/>
              <a:t> </a:t>
            </a:r>
            <a:r>
              <a:rPr lang="en-US" sz="2000" dirty="0" err="1"/>
              <a:t>Menentukan</a:t>
            </a:r>
            <a:r>
              <a:rPr lang="en-US" sz="2000" dirty="0"/>
              <a:t> wilayah </a:t>
            </a:r>
            <a:r>
              <a:rPr lang="en-US" sz="2000" dirty="0" err="1"/>
              <a:t>pemasaran</a:t>
            </a:r>
            <a:r>
              <a:rPr lang="en-US" sz="2000" dirty="0"/>
              <a:t> </a:t>
            </a:r>
            <a:r>
              <a:rPr lang="en-US" sz="2000" dirty="0" err="1"/>
              <a:t>berdasarkan</a:t>
            </a:r>
            <a:r>
              <a:rPr lang="en-US" sz="2000" dirty="0"/>
              <a:t> Tingkat </a:t>
            </a:r>
            <a:r>
              <a:rPr lang="en-US" sz="2000" dirty="0" err="1"/>
              <a:t>kecelakaan</a:t>
            </a:r>
            <a:r>
              <a:rPr lang="en-US" sz="2000" dirty="0"/>
              <a:t> dan </a:t>
            </a:r>
            <a:r>
              <a:rPr lang="en-US" sz="2000" dirty="0" err="1"/>
              <a:t>Kepadatan</a:t>
            </a:r>
            <a:r>
              <a:rPr lang="en-US" sz="2000" dirty="0"/>
              <a:t> Perusahaan </a:t>
            </a:r>
            <a:r>
              <a:rPr lang="en-US" sz="2000" dirty="0" err="1"/>
              <a:t>konstruksi</a:t>
            </a:r>
            <a:r>
              <a:rPr lang="en-US" sz="2000" dirty="0"/>
              <a:t> di 4 </a:t>
            </a:r>
            <a:r>
              <a:rPr lang="en-US" sz="2000" dirty="0" err="1"/>
              <a:t>Provinsi</a:t>
            </a:r>
            <a:r>
              <a:rPr lang="en-US" sz="2000" dirty="0"/>
              <a:t> Jawa?</a:t>
            </a:r>
          </a:p>
        </p:txBody>
      </p:sp>
      <p:sp>
        <p:nvSpPr>
          <p:cNvPr id="5" name="Text 3"/>
          <p:cNvSpPr/>
          <p:nvPr/>
        </p:nvSpPr>
        <p:spPr>
          <a:xfrm>
            <a:off x="670559" y="914400"/>
            <a:ext cx="2837411" cy="451104"/>
          </a:xfrm>
          <a:prstGeom prst="rect">
            <a:avLst/>
          </a:prstGeom>
          <a:noFill/>
          <a:ln/>
        </p:spPr>
        <p:txBody>
          <a:bodyPr wrap="square" lIns="0" tIns="0" rIns="0" bIns="0" rtlCol="0" anchor="ctr"/>
          <a:lstStyle/>
          <a:p>
            <a:r>
              <a:rPr lang="en-US" sz="2000" b="1" dirty="0">
                <a:latin typeface="Calibri" pitchFamily="34" charset="0"/>
                <a:ea typeface="Calibri" pitchFamily="34" charset="-122"/>
                <a:cs typeface="Calibri" pitchFamily="34" charset="-120"/>
              </a:rPr>
              <a:t>❓  </a:t>
            </a:r>
            <a:r>
              <a:rPr lang="en-US" sz="2000" b="1" dirty="0">
                <a:ea typeface="Calibri" pitchFamily="34" charset="-122"/>
                <a:cs typeface="Calibri" pitchFamily="34" charset="-120"/>
              </a:rPr>
              <a:t>Main Problem</a:t>
            </a:r>
            <a:endParaRPr lang="en-US" sz="2000" dirty="0"/>
          </a:p>
        </p:txBody>
      </p:sp>
      <p:sp>
        <p:nvSpPr>
          <p:cNvPr id="6" name="Text 4"/>
          <p:cNvSpPr/>
          <p:nvPr/>
        </p:nvSpPr>
        <p:spPr>
          <a:xfrm>
            <a:off x="670560" y="1365504"/>
            <a:ext cx="10972800" cy="731520"/>
          </a:xfrm>
          <a:prstGeom prst="rect">
            <a:avLst/>
          </a:prstGeom>
          <a:noFill/>
          <a:ln/>
        </p:spPr>
        <p:txBody>
          <a:bodyPr wrap="square" rtlCol="0" anchor="ctr"/>
          <a:lstStyle/>
          <a:p>
            <a:endParaRPr lang="en-US" b="1" dirty="0"/>
          </a:p>
        </p:txBody>
      </p:sp>
      <p:sp>
        <p:nvSpPr>
          <p:cNvPr id="7" name="Shape 5"/>
          <p:cNvSpPr/>
          <p:nvPr/>
        </p:nvSpPr>
        <p:spPr>
          <a:xfrm>
            <a:off x="426720" y="2414016"/>
            <a:ext cx="5547360" cy="1158240"/>
          </a:xfrm>
          <a:prstGeom prst="roundRect">
            <a:avLst>
              <a:gd name="adj" fmla="val 12632"/>
            </a:avLst>
          </a:prstGeom>
          <a:solidFill>
            <a:srgbClr val="F1F5F9"/>
          </a:solidFill>
          <a:ln/>
          <a:effectLst>
            <a:outerShdw blurRad="101600" dist="38100" dir="2700000" algn="bl" rotWithShape="0">
              <a:srgbClr val="000000">
                <a:alpha val="10000"/>
              </a:srgbClr>
            </a:outerShdw>
          </a:effectLst>
        </p:spPr>
        <p:txBody>
          <a:bodyPr/>
          <a:lstStyle/>
          <a:p>
            <a:endParaRPr lang="en-US" sz="2400"/>
          </a:p>
        </p:txBody>
      </p:sp>
      <p:sp>
        <p:nvSpPr>
          <p:cNvPr id="8" name="Shape 6"/>
          <p:cNvSpPr/>
          <p:nvPr/>
        </p:nvSpPr>
        <p:spPr>
          <a:xfrm>
            <a:off x="573024" y="2499360"/>
            <a:ext cx="633984" cy="633984"/>
          </a:xfrm>
          <a:prstGeom prst="ellipse">
            <a:avLst/>
          </a:prstGeom>
          <a:solidFill>
            <a:schemeClr val="accent1"/>
          </a:solidFill>
          <a:ln/>
        </p:spPr>
        <p:txBody>
          <a:bodyPr/>
          <a:lstStyle/>
          <a:p>
            <a:endParaRPr lang="en-US" sz="2400"/>
          </a:p>
        </p:txBody>
      </p:sp>
      <p:sp>
        <p:nvSpPr>
          <p:cNvPr id="9" name="Text 7"/>
          <p:cNvSpPr/>
          <p:nvPr/>
        </p:nvSpPr>
        <p:spPr>
          <a:xfrm>
            <a:off x="573024" y="2499360"/>
            <a:ext cx="633984" cy="633984"/>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01</a:t>
            </a:r>
            <a:endParaRPr lang="en-US" sz="1867" dirty="0"/>
          </a:p>
        </p:txBody>
      </p:sp>
      <p:sp>
        <p:nvSpPr>
          <p:cNvPr id="10" name="Text 8"/>
          <p:cNvSpPr/>
          <p:nvPr/>
        </p:nvSpPr>
        <p:spPr>
          <a:xfrm>
            <a:off x="1341120" y="2414016"/>
            <a:ext cx="4450080" cy="1158240"/>
          </a:xfrm>
          <a:prstGeom prst="rect">
            <a:avLst/>
          </a:prstGeom>
          <a:noFill/>
          <a:ln/>
        </p:spPr>
        <p:txBody>
          <a:bodyPr wrap="square" rtlCol="0" anchor="ctr"/>
          <a:lstStyle/>
          <a:p>
            <a:r>
              <a:rPr lang="en-US" sz="2000" dirty="0">
                <a:solidFill>
                  <a:srgbClr val="1E293B"/>
                </a:solidFill>
                <a:ea typeface="Calibri" pitchFamily="34" charset="-122"/>
                <a:cs typeface="Calibri" pitchFamily="34" charset="-120"/>
              </a:rPr>
              <a:t>Di mana konsentrasi perusahaan konstruksi terbesar?</a:t>
            </a:r>
            <a:endParaRPr lang="en-US" sz="2000" dirty="0"/>
          </a:p>
        </p:txBody>
      </p:sp>
      <p:sp>
        <p:nvSpPr>
          <p:cNvPr id="11" name="Shape 9"/>
          <p:cNvSpPr/>
          <p:nvPr/>
        </p:nvSpPr>
        <p:spPr>
          <a:xfrm>
            <a:off x="6278880" y="2414016"/>
            <a:ext cx="5547360" cy="1158240"/>
          </a:xfrm>
          <a:prstGeom prst="roundRect">
            <a:avLst>
              <a:gd name="adj" fmla="val 12632"/>
            </a:avLst>
          </a:prstGeom>
          <a:solidFill>
            <a:srgbClr val="F1F5F9"/>
          </a:solidFill>
          <a:ln/>
          <a:effectLst>
            <a:outerShdw blurRad="101600" dist="38100" dir="2700000" algn="bl" rotWithShape="0">
              <a:srgbClr val="000000">
                <a:alpha val="10000"/>
              </a:srgbClr>
            </a:outerShdw>
          </a:effectLst>
        </p:spPr>
        <p:txBody>
          <a:bodyPr/>
          <a:lstStyle/>
          <a:p>
            <a:endParaRPr lang="en-US" sz="2400"/>
          </a:p>
        </p:txBody>
      </p:sp>
      <p:sp>
        <p:nvSpPr>
          <p:cNvPr id="12" name="Shape 10"/>
          <p:cNvSpPr/>
          <p:nvPr/>
        </p:nvSpPr>
        <p:spPr>
          <a:xfrm>
            <a:off x="6425184" y="2499360"/>
            <a:ext cx="633984" cy="633984"/>
          </a:xfrm>
          <a:prstGeom prst="ellipse">
            <a:avLst/>
          </a:prstGeom>
          <a:solidFill>
            <a:schemeClr val="accent1"/>
          </a:solidFill>
          <a:ln/>
        </p:spPr>
        <p:txBody>
          <a:bodyPr/>
          <a:lstStyle/>
          <a:p>
            <a:r>
              <a:rPr lang="en-US" dirty="0">
                <a:solidFill>
                  <a:schemeClr val="bg1"/>
                </a:solidFill>
              </a:rPr>
              <a:t>02</a:t>
            </a:r>
          </a:p>
        </p:txBody>
      </p:sp>
      <p:sp>
        <p:nvSpPr>
          <p:cNvPr id="14" name="Text 12"/>
          <p:cNvSpPr/>
          <p:nvPr/>
        </p:nvSpPr>
        <p:spPr>
          <a:xfrm>
            <a:off x="7193280" y="2414016"/>
            <a:ext cx="4450080" cy="1158240"/>
          </a:xfrm>
          <a:prstGeom prst="rect">
            <a:avLst/>
          </a:prstGeom>
          <a:noFill/>
          <a:ln/>
        </p:spPr>
        <p:txBody>
          <a:bodyPr wrap="square" rtlCol="0" anchor="ctr"/>
          <a:lstStyle/>
          <a:p>
            <a:r>
              <a:rPr lang="en-US" sz="2000" dirty="0">
                <a:solidFill>
                  <a:srgbClr val="1E293B"/>
                </a:solidFill>
                <a:ea typeface="Calibri" pitchFamily="34" charset="-122"/>
                <a:cs typeface="Calibri" pitchFamily="34" charset="-120"/>
              </a:rPr>
              <a:t>Bagaimana peluang pasar berdasarkan risiko &amp; aktivitas konstruksi?</a:t>
            </a:r>
            <a:endParaRPr lang="en-US" sz="2000" dirty="0"/>
          </a:p>
        </p:txBody>
      </p:sp>
      <p:sp>
        <p:nvSpPr>
          <p:cNvPr id="15" name="Shape 13"/>
          <p:cNvSpPr/>
          <p:nvPr/>
        </p:nvSpPr>
        <p:spPr>
          <a:xfrm>
            <a:off x="426720" y="3779520"/>
            <a:ext cx="5547360" cy="1158240"/>
          </a:xfrm>
          <a:prstGeom prst="roundRect">
            <a:avLst>
              <a:gd name="adj" fmla="val 12632"/>
            </a:avLst>
          </a:prstGeom>
          <a:solidFill>
            <a:srgbClr val="F1F5F9"/>
          </a:solidFill>
          <a:ln/>
          <a:effectLst>
            <a:outerShdw blurRad="101600" dist="38100" dir="2700000" algn="bl" rotWithShape="0">
              <a:srgbClr val="000000">
                <a:alpha val="10000"/>
              </a:srgbClr>
            </a:outerShdw>
          </a:effectLst>
        </p:spPr>
        <p:txBody>
          <a:bodyPr/>
          <a:lstStyle/>
          <a:p>
            <a:endParaRPr lang="en-US" sz="2400"/>
          </a:p>
        </p:txBody>
      </p:sp>
      <p:sp>
        <p:nvSpPr>
          <p:cNvPr id="16" name="Shape 14"/>
          <p:cNvSpPr/>
          <p:nvPr/>
        </p:nvSpPr>
        <p:spPr>
          <a:xfrm>
            <a:off x="573024" y="3864864"/>
            <a:ext cx="633984" cy="633984"/>
          </a:xfrm>
          <a:prstGeom prst="ellipse">
            <a:avLst/>
          </a:prstGeom>
          <a:solidFill>
            <a:schemeClr val="accent1"/>
          </a:solidFill>
          <a:ln/>
        </p:spPr>
        <p:txBody>
          <a:bodyPr/>
          <a:lstStyle/>
          <a:p>
            <a:endParaRPr lang="en-US" sz="2400"/>
          </a:p>
        </p:txBody>
      </p:sp>
      <p:sp>
        <p:nvSpPr>
          <p:cNvPr id="17" name="Text 15"/>
          <p:cNvSpPr/>
          <p:nvPr/>
        </p:nvSpPr>
        <p:spPr>
          <a:xfrm>
            <a:off x="573024" y="3864864"/>
            <a:ext cx="633984" cy="633984"/>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03</a:t>
            </a:r>
            <a:endParaRPr lang="en-US" sz="1867" dirty="0"/>
          </a:p>
        </p:txBody>
      </p:sp>
      <p:sp>
        <p:nvSpPr>
          <p:cNvPr id="18" name="Text 16"/>
          <p:cNvSpPr/>
          <p:nvPr/>
        </p:nvSpPr>
        <p:spPr>
          <a:xfrm>
            <a:off x="1341120" y="3779520"/>
            <a:ext cx="4450080" cy="1158240"/>
          </a:xfrm>
          <a:prstGeom prst="rect">
            <a:avLst/>
          </a:prstGeom>
          <a:noFill/>
          <a:ln/>
        </p:spPr>
        <p:txBody>
          <a:bodyPr wrap="square" rtlCol="0" anchor="ctr"/>
          <a:lstStyle/>
          <a:p>
            <a:r>
              <a:rPr lang="en-US" sz="2000" dirty="0" err="1">
                <a:solidFill>
                  <a:srgbClr val="1E293B"/>
                </a:solidFill>
                <a:ea typeface="Calibri" pitchFamily="34" charset="-122"/>
                <a:cs typeface="Calibri" pitchFamily="34" charset="-120"/>
              </a:rPr>
              <a:t>Bagaimana</a:t>
            </a:r>
            <a:r>
              <a:rPr lang="en-US" sz="2000" dirty="0">
                <a:solidFill>
                  <a:srgbClr val="1E293B"/>
                </a:solidFill>
                <a:ea typeface="Calibri" pitchFamily="34" charset="-122"/>
                <a:cs typeface="Calibri" pitchFamily="34" charset="-120"/>
              </a:rPr>
              <a:t> strategy &amp; target market </a:t>
            </a:r>
            <a:r>
              <a:rPr lang="en-US" sz="2000" dirty="0" err="1">
                <a:solidFill>
                  <a:srgbClr val="1E293B"/>
                </a:solidFill>
                <a:ea typeface="Calibri" pitchFamily="34" charset="-122"/>
                <a:cs typeface="Calibri" pitchFamily="34" charset="-120"/>
              </a:rPr>
              <a:t>SumThing</a:t>
            </a:r>
            <a:r>
              <a:rPr lang="en-US" sz="2000" dirty="0">
                <a:solidFill>
                  <a:srgbClr val="1E293B"/>
                </a:solidFill>
                <a:ea typeface="Calibri" pitchFamily="34" charset="-122"/>
                <a:cs typeface="Calibri" pitchFamily="34" charset="-120"/>
              </a:rPr>
              <a:t>?</a:t>
            </a:r>
            <a:endParaRPr lang="en-US" sz="2000" dirty="0"/>
          </a:p>
        </p:txBody>
      </p:sp>
      <p:sp>
        <p:nvSpPr>
          <p:cNvPr id="19" name="Shape 17"/>
          <p:cNvSpPr/>
          <p:nvPr/>
        </p:nvSpPr>
        <p:spPr>
          <a:xfrm>
            <a:off x="6278880" y="3779520"/>
            <a:ext cx="5547360" cy="1158240"/>
          </a:xfrm>
          <a:prstGeom prst="roundRect">
            <a:avLst>
              <a:gd name="adj" fmla="val 12632"/>
            </a:avLst>
          </a:prstGeom>
          <a:solidFill>
            <a:srgbClr val="F1F5F9"/>
          </a:solidFill>
          <a:ln/>
          <a:effectLst>
            <a:outerShdw blurRad="101600" dist="38100" dir="2700000" algn="bl" rotWithShape="0">
              <a:srgbClr val="000000">
                <a:alpha val="10000"/>
              </a:srgbClr>
            </a:outerShdw>
          </a:effectLst>
        </p:spPr>
        <p:txBody>
          <a:bodyPr/>
          <a:lstStyle/>
          <a:p>
            <a:endParaRPr lang="en-US" sz="2400"/>
          </a:p>
        </p:txBody>
      </p:sp>
      <p:sp>
        <p:nvSpPr>
          <p:cNvPr id="20" name="Shape 18"/>
          <p:cNvSpPr/>
          <p:nvPr/>
        </p:nvSpPr>
        <p:spPr>
          <a:xfrm>
            <a:off x="6425184" y="3864864"/>
            <a:ext cx="633984" cy="633984"/>
          </a:xfrm>
          <a:prstGeom prst="ellipse">
            <a:avLst/>
          </a:prstGeom>
          <a:solidFill>
            <a:schemeClr val="accent1"/>
          </a:solidFill>
          <a:ln/>
        </p:spPr>
        <p:txBody>
          <a:bodyPr/>
          <a:lstStyle/>
          <a:p>
            <a:endParaRPr lang="en-US" sz="2400"/>
          </a:p>
        </p:txBody>
      </p:sp>
      <p:sp>
        <p:nvSpPr>
          <p:cNvPr id="21" name="Text 19"/>
          <p:cNvSpPr/>
          <p:nvPr/>
        </p:nvSpPr>
        <p:spPr>
          <a:xfrm>
            <a:off x="6425184" y="3864864"/>
            <a:ext cx="633984" cy="633984"/>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04</a:t>
            </a:r>
            <a:endParaRPr lang="en-US" sz="1867" dirty="0"/>
          </a:p>
        </p:txBody>
      </p:sp>
      <p:sp>
        <p:nvSpPr>
          <p:cNvPr id="22" name="Text 20"/>
          <p:cNvSpPr/>
          <p:nvPr/>
        </p:nvSpPr>
        <p:spPr>
          <a:xfrm>
            <a:off x="7193280" y="3779520"/>
            <a:ext cx="4450080" cy="1158240"/>
          </a:xfrm>
          <a:prstGeom prst="rect">
            <a:avLst/>
          </a:prstGeom>
          <a:noFill/>
          <a:ln/>
        </p:spPr>
        <p:txBody>
          <a:bodyPr wrap="square" rtlCol="0" anchor="ctr"/>
          <a:lstStyle/>
          <a:p>
            <a:r>
              <a:rPr lang="en-US" sz="2000" dirty="0">
                <a:solidFill>
                  <a:srgbClr val="1E293B"/>
                </a:solidFill>
                <a:ea typeface="Calibri" pitchFamily="34" charset="-122"/>
                <a:cs typeface="Calibri" pitchFamily="34" charset="-120"/>
              </a:rPr>
              <a:t>Di mana hotspot regional untuk implementasi AI Safety?</a:t>
            </a:r>
            <a:endParaRPr lang="en-US" sz="2000" dirty="0"/>
          </a:p>
        </p:txBody>
      </p:sp>
      <p:sp>
        <p:nvSpPr>
          <p:cNvPr id="25" name="Text 23"/>
          <p:cNvSpPr/>
          <p:nvPr/>
        </p:nvSpPr>
        <p:spPr>
          <a:xfrm>
            <a:off x="573024" y="5230368"/>
            <a:ext cx="633984" cy="633984"/>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05</a:t>
            </a:r>
            <a:endParaRPr lang="en-US" sz="18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667" b="1" dirty="0">
                <a:solidFill>
                  <a:srgbClr val="FFFFFF"/>
                </a:solidFill>
                <a:latin typeface="Calibri" pitchFamily="34" charset="0"/>
                <a:ea typeface="Calibri" pitchFamily="34" charset="-122"/>
                <a:cs typeface="Calibri" pitchFamily="34" charset="-120"/>
              </a:rPr>
              <a:t>Dataset yang Digunakan</a:t>
            </a:r>
            <a:endParaRPr lang="en-US" sz="2667" dirty="0"/>
          </a:p>
        </p:txBody>
      </p:sp>
      <p:sp>
        <p:nvSpPr>
          <p:cNvPr id="4" name="Shape 2"/>
          <p:cNvSpPr/>
          <p:nvPr/>
        </p:nvSpPr>
        <p:spPr>
          <a:xfrm>
            <a:off x="548640" y="914400"/>
            <a:ext cx="5608320" cy="5669280"/>
          </a:xfrm>
          <a:prstGeom prst="roundRect">
            <a:avLst>
              <a:gd name="adj" fmla="val 3261"/>
            </a:avLst>
          </a:prstGeom>
          <a:solidFill>
            <a:srgbClr val="FFFFFF"/>
          </a:solidFill>
          <a:ln/>
          <a:effectLst>
            <a:outerShdw blurRad="127000" dist="50800" dir="2700000" algn="bl" rotWithShape="0">
              <a:srgbClr val="000000">
                <a:alpha val="10000"/>
              </a:srgbClr>
            </a:outerShdw>
          </a:effectLst>
        </p:spPr>
        <p:txBody>
          <a:bodyPr/>
          <a:lstStyle/>
          <a:p>
            <a:endParaRPr lang="en-US" sz="2400"/>
          </a:p>
        </p:txBody>
      </p:sp>
      <p:sp>
        <p:nvSpPr>
          <p:cNvPr id="5" name="Shape 3"/>
          <p:cNvSpPr/>
          <p:nvPr/>
        </p:nvSpPr>
        <p:spPr>
          <a:xfrm>
            <a:off x="548640" y="914400"/>
            <a:ext cx="5608320" cy="268224"/>
          </a:xfrm>
          <a:prstGeom prst="roundRect">
            <a:avLst>
              <a:gd name="adj" fmla="val 27273"/>
            </a:avLst>
          </a:prstGeom>
          <a:solidFill>
            <a:schemeClr val="accent1">
              <a:lumMod val="40000"/>
              <a:lumOff val="60000"/>
            </a:schemeClr>
          </a:solidFill>
          <a:ln/>
        </p:spPr>
        <p:txBody>
          <a:bodyPr/>
          <a:lstStyle/>
          <a:p>
            <a:endParaRPr lang="en-US" sz="2400"/>
          </a:p>
        </p:txBody>
      </p:sp>
      <p:sp>
        <p:nvSpPr>
          <p:cNvPr id="6" name="Text 4"/>
          <p:cNvSpPr/>
          <p:nvPr/>
        </p:nvSpPr>
        <p:spPr>
          <a:xfrm>
            <a:off x="768096" y="1097280"/>
            <a:ext cx="853440" cy="853440"/>
          </a:xfrm>
          <a:prstGeom prst="rect">
            <a:avLst/>
          </a:prstGeom>
          <a:noFill/>
          <a:ln/>
        </p:spPr>
        <p:txBody>
          <a:bodyPr wrap="square" rtlCol="0" anchor="ctr"/>
          <a:lstStyle/>
          <a:p>
            <a:pPr algn="ctr"/>
            <a:r>
              <a:rPr lang="en-US" sz="4267" b="1" dirty="0">
                <a:solidFill>
                  <a:schemeClr val="accent6">
                    <a:lumMod val="75000"/>
                  </a:schemeClr>
                </a:solidFill>
                <a:latin typeface="Calibri" pitchFamily="34" charset="0"/>
                <a:ea typeface="Calibri" pitchFamily="34" charset="-122"/>
                <a:cs typeface="Calibri" pitchFamily="34" charset="-120"/>
              </a:rPr>
              <a:t>01</a:t>
            </a:r>
            <a:endParaRPr lang="en-US" sz="4267" dirty="0">
              <a:solidFill>
                <a:schemeClr val="accent6">
                  <a:lumMod val="75000"/>
                </a:schemeClr>
              </a:solidFill>
            </a:endParaRPr>
          </a:p>
        </p:txBody>
      </p:sp>
      <p:sp>
        <p:nvSpPr>
          <p:cNvPr id="7" name="Text 5"/>
          <p:cNvSpPr/>
          <p:nvPr/>
        </p:nvSpPr>
        <p:spPr>
          <a:xfrm>
            <a:off x="792480" y="2011680"/>
            <a:ext cx="5120640" cy="670560"/>
          </a:xfrm>
          <a:prstGeom prst="rect">
            <a:avLst/>
          </a:prstGeom>
          <a:noFill/>
          <a:ln/>
        </p:spPr>
        <p:txBody>
          <a:bodyPr wrap="square" rtlCol="0" anchor="ctr"/>
          <a:lstStyle/>
          <a:p>
            <a:r>
              <a:rPr lang="en-US" sz="2400" b="1" dirty="0">
                <a:solidFill>
                  <a:srgbClr val="1E293B"/>
                </a:solidFill>
                <a:latin typeface="+mj-lt"/>
                <a:ea typeface="Calibri" pitchFamily="34" charset="-122"/>
                <a:cs typeface="Calibri" pitchFamily="34" charset="-120"/>
              </a:rPr>
              <a:t>Data Kecelakaan Kerja Konstruksi</a:t>
            </a:r>
            <a:endParaRPr lang="en-US" sz="2400" dirty="0">
              <a:latin typeface="+mj-lt"/>
            </a:endParaRPr>
          </a:p>
        </p:txBody>
      </p:sp>
      <p:sp>
        <p:nvSpPr>
          <p:cNvPr id="8" name="Shape 6"/>
          <p:cNvSpPr/>
          <p:nvPr/>
        </p:nvSpPr>
        <p:spPr>
          <a:xfrm>
            <a:off x="792480" y="2743200"/>
            <a:ext cx="1828800" cy="426720"/>
          </a:xfrm>
          <a:prstGeom prst="roundRect">
            <a:avLst>
              <a:gd name="adj" fmla="val 22857"/>
            </a:avLst>
          </a:prstGeom>
          <a:solidFill>
            <a:srgbClr val="DC2626">
              <a:alpha val="15000"/>
            </a:srgbClr>
          </a:solidFill>
          <a:ln/>
        </p:spPr>
        <p:txBody>
          <a:bodyPr/>
          <a:lstStyle/>
          <a:p>
            <a:endParaRPr lang="en-US" sz="2400"/>
          </a:p>
        </p:txBody>
      </p:sp>
      <p:sp>
        <p:nvSpPr>
          <p:cNvPr id="9" name="Text 7"/>
          <p:cNvSpPr/>
          <p:nvPr/>
        </p:nvSpPr>
        <p:spPr>
          <a:xfrm>
            <a:off x="792480" y="2743200"/>
            <a:ext cx="1828800" cy="426720"/>
          </a:xfrm>
          <a:prstGeom prst="rect">
            <a:avLst/>
          </a:prstGeom>
          <a:noFill/>
          <a:ln/>
        </p:spPr>
        <p:txBody>
          <a:bodyPr wrap="square" lIns="0" tIns="0" rIns="0" bIns="0" rtlCol="0" anchor="ctr"/>
          <a:lstStyle/>
          <a:p>
            <a:pPr algn="ctr"/>
            <a:r>
              <a:rPr lang="en-US" b="1" dirty="0">
                <a:solidFill>
                  <a:srgbClr val="DC2626"/>
                </a:solidFill>
                <a:latin typeface="Calibri" pitchFamily="34" charset="0"/>
                <a:ea typeface="Calibri" pitchFamily="34" charset="-122"/>
                <a:cs typeface="Calibri" pitchFamily="34" charset="-120"/>
              </a:rPr>
              <a:t>2023 – 2025</a:t>
            </a:r>
            <a:endParaRPr lang="en-US" dirty="0"/>
          </a:p>
        </p:txBody>
      </p:sp>
      <p:sp>
        <p:nvSpPr>
          <p:cNvPr id="10" name="Text 8"/>
          <p:cNvSpPr/>
          <p:nvPr/>
        </p:nvSpPr>
        <p:spPr>
          <a:xfrm>
            <a:off x="792480" y="3291840"/>
            <a:ext cx="4998720" cy="426720"/>
          </a:xfrm>
          <a:prstGeom prst="rect">
            <a:avLst/>
          </a:prstGeom>
          <a:noFill/>
          <a:ln/>
        </p:spPr>
        <p:txBody>
          <a:bodyPr wrap="square" rtlCol="0" anchor="ctr"/>
          <a:lstStyle/>
          <a:p>
            <a:r>
              <a:rPr lang="en-US" b="1" dirty="0">
                <a:solidFill>
                  <a:srgbClr val="64748B"/>
                </a:solidFill>
                <a:ea typeface="Calibri" pitchFamily="34" charset="-122"/>
                <a:cs typeface="Calibri" pitchFamily="34" charset="-120"/>
              </a:rPr>
              <a:t>Sumber: BPJS Ketenagakerjaan</a:t>
            </a:r>
            <a:endParaRPr lang="en-US" dirty="0"/>
          </a:p>
        </p:txBody>
      </p:sp>
      <p:sp>
        <p:nvSpPr>
          <p:cNvPr id="11" name="Text 9"/>
          <p:cNvSpPr/>
          <p:nvPr/>
        </p:nvSpPr>
        <p:spPr>
          <a:xfrm>
            <a:off x="792480" y="3779520"/>
            <a:ext cx="5120640" cy="2560320"/>
          </a:xfrm>
          <a:prstGeom prst="rect">
            <a:avLst/>
          </a:prstGeom>
          <a:noFill/>
          <a:ln/>
        </p:spPr>
        <p:txBody>
          <a:bodyPr wrap="square" rtlCol="0" anchor="t"/>
          <a:lstStyle/>
          <a:p>
            <a:r>
              <a:rPr lang="en-US" sz="2400" dirty="0">
                <a:solidFill>
                  <a:srgbClr val="475569"/>
                </a:solidFill>
                <a:latin typeface="Calibri" pitchFamily="34" charset="0"/>
                <a:ea typeface="Calibri" pitchFamily="34" charset="-122"/>
                <a:cs typeface="Calibri" pitchFamily="34" charset="-120"/>
              </a:rPr>
              <a:t>Jumlah kasus kecelakaan sektor konstruksi per provinsi di seluruh Indonesia, difilter untuk 4 provinsi Jawa</a:t>
            </a:r>
            <a:endParaRPr lang="en-US" sz="2400" dirty="0"/>
          </a:p>
        </p:txBody>
      </p:sp>
      <p:sp>
        <p:nvSpPr>
          <p:cNvPr id="12" name="Shape 10"/>
          <p:cNvSpPr/>
          <p:nvPr/>
        </p:nvSpPr>
        <p:spPr>
          <a:xfrm>
            <a:off x="6400800" y="914400"/>
            <a:ext cx="5608320" cy="5669280"/>
          </a:xfrm>
          <a:prstGeom prst="roundRect">
            <a:avLst>
              <a:gd name="adj" fmla="val 3261"/>
            </a:avLst>
          </a:prstGeom>
          <a:solidFill>
            <a:srgbClr val="FFFFFF"/>
          </a:solidFill>
          <a:ln/>
          <a:effectLst>
            <a:outerShdw blurRad="127000" dist="50800" dir="2700000" algn="bl" rotWithShape="0">
              <a:srgbClr val="000000">
                <a:alpha val="10000"/>
              </a:srgbClr>
            </a:outerShdw>
          </a:effectLst>
        </p:spPr>
        <p:txBody>
          <a:bodyPr/>
          <a:lstStyle/>
          <a:p>
            <a:endParaRPr lang="en-US" sz="2400"/>
          </a:p>
        </p:txBody>
      </p:sp>
      <p:sp>
        <p:nvSpPr>
          <p:cNvPr id="13" name="Shape 11"/>
          <p:cNvSpPr/>
          <p:nvPr/>
        </p:nvSpPr>
        <p:spPr>
          <a:xfrm>
            <a:off x="6400800" y="914400"/>
            <a:ext cx="5608320" cy="268224"/>
          </a:xfrm>
          <a:prstGeom prst="roundRect">
            <a:avLst>
              <a:gd name="adj" fmla="val 27273"/>
            </a:avLst>
          </a:prstGeom>
          <a:solidFill>
            <a:schemeClr val="accent6">
              <a:lumMod val="40000"/>
              <a:lumOff val="60000"/>
            </a:schemeClr>
          </a:solidFill>
          <a:ln/>
        </p:spPr>
        <p:txBody>
          <a:bodyPr/>
          <a:lstStyle/>
          <a:p>
            <a:endParaRPr lang="en-US" sz="2400"/>
          </a:p>
        </p:txBody>
      </p:sp>
      <p:sp>
        <p:nvSpPr>
          <p:cNvPr id="14" name="Text 12"/>
          <p:cNvSpPr/>
          <p:nvPr/>
        </p:nvSpPr>
        <p:spPr>
          <a:xfrm>
            <a:off x="6620256" y="1097280"/>
            <a:ext cx="853440" cy="853440"/>
          </a:xfrm>
          <a:prstGeom prst="rect">
            <a:avLst/>
          </a:prstGeom>
          <a:noFill/>
          <a:ln/>
        </p:spPr>
        <p:txBody>
          <a:bodyPr wrap="square" rtlCol="0" anchor="ctr"/>
          <a:lstStyle/>
          <a:p>
            <a:pPr algn="ctr"/>
            <a:r>
              <a:rPr lang="en-US" sz="4267" b="1" dirty="0">
                <a:solidFill>
                  <a:schemeClr val="accent1"/>
                </a:solidFill>
                <a:latin typeface="Calibri" pitchFamily="34" charset="0"/>
                <a:ea typeface="Calibri" pitchFamily="34" charset="-122"/>
                <a:cs typeface="Calibri" pitchFamily="34" charset="-120"/>
              </a:rPr>
              <a:t>02</a:t>
            </a:r>
            <a:endParaRPr lang="en-US" sz="4267" dirty="0">
              <a:solidFill>
                <a:schemeClr val="accent1"/>
              </a:solidFill>
            </a:endParaRPr>
          </a:p>
        </p:txBody>
      </p:sp>
      <p:sp>
        <p:nvSpPr>
          <p:cNvPr id="15" name="Text 13"/>
          <p:cNvSpPr/>
          <p:nvPr/>
        </p:nvSpPr>
        <p:spPr>
          <a:xfrm>
            <a:off x="6644640" y="2011680"/>
            <a:ext cx="5120640" cy="670560"/>
          </a:xfrm>
          <a:prstGeom prst="rect">
            <a:avLst/>
          </a:prstGeom>
          <a:noFill/>
          <a:ln/>
        </p:spPr>
        <p:txBody>
          <a:bodyPr wrap="square" rtlCol="0" anchor="ctr"/>
          <a:lstStyle/>
          <a:p>
            <a:r>
              <a:rPr lang="en-US" sz="2400" b="1" dirty="0">
                <a:solidFill>
                  <a:srgbClr val="1E293B"/>
                </a:solidFill>
                <a:latin typeface="+mj-lt"/>
                <a:ea typeface="Calibri" pitchFamily="34" charset="-122"/>
                <a:cs typeface="Calibri" pitchFamily="34" charset="-120"/>
              </a:rPr>
              <a:t>Data Perusahaan Konstruksi</a:t>
            </a:r>
            <a:endParaRPr lang="en-US" sz="2400" dirty="0">
              <a:latin typeface="+mj-lt"/>
            </a:endParaRPr>
          </a:p>
        </p:txBody>
      </p:sp>
      <p:sp>
        <p:nvSpPr>
          <p:cNvPr id="16" name="Shape 14"/>
          <p:cNvSpPr/>
          <p:nvPr/>
        </p:nvSpPr>
        <p:spPr>
          <a:xfrm>
            <a:off x="6644640" y="2743200"/>
            <a:ext cx="1828800" cy="426720"/>
          </a:xfrm>
          <a:prstGeom prst="roundRect">
            <a:avLst>
              <a:gd name="adj" fmla="val 22857"/>
            </a:avLst>
          </a:prstGeom>
          <a:solidFill>
            <a:srgbClr val="4F46E5">
              <a:alpha val="15000"/>
            </a:srgbClr>
          </a:solidFill>
          <a:ln/>
        </p:spPr>
        <p:txBody>
          <a:bodyPr/>
          <a:lstStyle/>
          <a:p>
            <a:endParaRPr lang="en-US" sz="2400"/>
          </a:p>
        </p:txBody>
      </p:sp>
      <p:sp>
        <p:nvSpPr>
          <p:cNvPr id="17" name="Text 15"/>
          <p:cNvSpPr/>
          <p:nvPr/>
        </p:nvSpPr>
        <p:spPr>
          <a:xfrm>
            <a:off x="6644640" y="2743200"/>
            <a:ext cx="1828800" cy="426720"/>
          </a:xfrm>
          <a:prstGeom prst="rect">
            <a:avLst/>
          </a:prstGeom>
          <a:noFill/>
          <a:ln/>
        </p:spPr>
        <p:txBody>
          <a:bodyPr wrap="square" lIns="0" tIns="0" rIns="0" bIns="0" rtlCol="0" anchor="ctr"/>
          <a:lstStyle/>
          <a:p>
            <a:pPr algn="ctr"/>
            <a:r>
              <a:rPr lang="en-US" sz="2000" b="1" dirty="0">
                <a:solidFill>
                  <a:srgbClr val="4F46E5"/>
                </a:solidFill>
                <a:latin typeface="Calibri" pitchFamily="34" charset="0"/>
                <a:ea typeface="Calibri" pitchFamily="34" charset="-122"/>
                <a:cs typeface="Calibri" pitchFamily="34" charset="-120"/>
              </a:rPr>
              <a:t>2025 (Terbaru)</a:t>
            </a:r>
            <a:endParaRPr lang="en-US" sz="2000" dirty="0"/>
          </a:p>
        </p:txBody>
      </p:sp>
      <p:sp>
        <p:nvSpPr>
          <p:cNvPr id="18" name="Text 16"/>
          <p:cNvSpPr/>
          <p:nvPr/>
        </p:nvSpPr>
        <p:spPr>
          <a:xfrm>
            <a:off x="6644640" y="3291840"/>
            <a:ext cx="4998720" cy="426720"/>
          </a:xfrm>
          <a:prstGeom prst="rect">
            <a:avLst/>
          </a:prstGeom>
          <a:noFill/>
          <a:ln/>
        </p:spPr>
        <p:txBody>
          <a:bodyPr wrap="square" rtlCol="0" anchor="ctr"/>
          <a:lstStyle/>
          <a:p>
            <a:r>
              <a:rPr lang="en-US" sz="2000" b="1" dirty="0">
                <a:solidFill>
                  <a:srgbClr val="64748B"/>
                </a:solidFill>
                <a:latin typeface="Calibri" pitchFamily="34" charset="0"/>
                <a:ea typeface="Calibri" pitchFamily="34" charset="-122"/>
                <a:cs typeface="Calibri" pitchFamily="34" charset="-120"/>
              </a:rPr>
              <a:t>Sumber: BPS per Provinsi</a:t>
            </a:r>
            <a:endParaRPr lang="en-US" sz="2000" dirty="0"/>
          </a:p>
        </p:txBody>
      </p:sp>
      <p:sp>
        <p:nvSpPr>
          <p:cNvPr id="19" name="Text 17"/>
          <p:cNvSpPr/>
          <p:nvPr/>
        </p:nvSpPr>
        <p:spPr>
          <a:xfrm>
            <a:off x="6644640" y="3779520"/>
            <a:ext cx="5120640" cy="2560320"/>
          </a:xfrm>
          <a:prstGeom prst="rect">
            <a:avLst/>
          </a:prstGeom>
          <a:noFill/>
          <a:ln/>
        </p:spPr>
        <p:txBody>
          <a:bodyPr wrap="square" rtlCol="0" anchor="t"/>
          <a:lstStyle/>
          <a:p>
            <a:r>
              <a:rPr lang="en-US" sz="2400" dirty="0">
                <a:solidFill>
                  <a:srgbClr val="475569"/>
                </a:solidFill>
                <a:latin typeface="Calibri" pitchFamily="34" charset="0"/>
                <a:ea typeface="Calibri" pitchFamily="34" charset="-122"/>
                <a:cs typeface="Calibri" pitchFamily="34" charset="-120"/>
              </a:rPr>
              <a:t>Jumlah &amp; jenis badan usaha konstruksi (PT, CV, Koperasi) per Kabupaten/Kota di Jatim, Jateng, Jabar, dan Banten</a:t>
            </a:r>
            <a:endParaRPr lang="en-US" sz="2400" dirty="0"/>
          </a:p>
        </p:txBody>
      </p:sp>
      <p:sp>
        <p:nvSpPr>
          <p:cNvPr id="20" name="Text 18"/>
          <p:cNvSpPr/>
          <p:nvPr/>
        </p:nvSpPr>
        <p:spPr>
          <a:xfrm>
            <a:off x="487680" y="6437376"/>
            <a:ext cx="11216640" cy="426720"/>
          </a:xfrm>
          <a:prstGeom prst="rect">
            <a:avLst/>
          </a:prstGeom>
          <a:noFill/>
          <a:ln/>
        </p:spPr>
        <p:txBody>
          <a:bodyPr wrap="square" rtlCol="0" anchor="ctr"/>
          <a:lstStyle/>
          <a:p>
            <a:pPr algn="ctr"/>
            <a:r>
              <a:rPr lang="en-US" sz="1467" dirty="0">
                <a:solidFill>
                  <a:srgbClr val="64748B"/>
                </a:solidFill>
                <a:latin typeface="Calibri" pitchFamily="34" charset="0"/>
                <a:ea typeface="Calibri" pitchFamily="34" charset="-122"/>
                <a:cs typeface="Calibri" pitchFamily="34" charset="-120"/>
              </a:rPr>
              <a:t>Cakupan Wilayah: Jawa Timur  •  Jawa Barat  •  Jawa Tengah  •  Banten</a:t>
            </a:r>
            <a:endParaRPr lang="en-US" sz="14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2E9CEFE-46C3-3A92-CD6B-980DF572A4CE}"/>
              </a:ext>
            </a:extLst>
          </p:cNvPr>
          <p:cNvSpPr>
            <a:spLocks noGrp="1"/>
          </p:cNvSpPr>
          <p:nvPr>
            <p:ph type="title"/>
          </p:nvPr>
        </p:nvSpPr>
        <p:spPr>
          <a:xfrm>
            <a:off x="680936" y="771524"/>
            <a:ext cx="4856264" cy="2639966"/>
          </a:xfrm>
        </p:spPr>
        <p:txBody>
          <a:bodyPr/>
          <a:lstStyle/>
          <a:p>
            <a:pPr marL="0" indent="0"/>
            <a:r>
              <a:rPr lang="en-US" sz="4800" dirty="0" err="1">
                <a:solidFill>
                  <a:schemeClr val="tx1"/>
                </a:solidFill>
                <a:ea typeface="Calibri" pitchFamily="34" charset="-122"/>
                <a:cs typeface="Calibri" pitchFamily="34" charset="-120"/>
              </a:rPr>
              <a:t>Analisis</a:t>
            </a:r>
            <a:r>
              <a:rPr lang="en-US" sz="4800" dirty="0">
                <a:solidFill>
                  <a:schemeClr val="tx1"/>
                </a:solidFill>
                <a:ea typeface="Calibri" pitchFamily="34" charset="-122"/>
                <a:cs typeface="Calibri" pitchFamily="34" charset="-120"/>
              </a:rPr>
              <a:t> </a:t>
            </a:r>
            <a:r>
              <a:rPr lang="en-US" sz="4800" dirty="0" err="1">
                <a:solidFill>
                  <a:schemeClr val="tx1"/>
                </a:solidFill>
                <a:ea typeface="Calibri" pitchFamily="34" charset="-122"/>
                <a:cs typeface="Calibri" pitchFamily="34" charset="-120"/>
              </a:rPr>
              <a:t>Kepadatan</a:t>
            </a:r>
            <a:br>
              <a:rPr lang="en-US" sz="4800" dirty="0">
                <a:solidFill>
                  <a:schemeClr val="tx1"/>
                </a:solidFill>
              </a:rPr>
            </a:br>
            <a:r>
              <a:rPr lang="en-US" sz="4800" dirty="0">
                <a:solidFill>
                  <a:schemeClr val="tx1"/>
                </a:solidFill>
                <a:ea typeface="Calibri" pitchFamily="34" charset="-122"/>
                <a:cs typeface="Calibri" pitchFamily="34" charset="-120"/>
              </a:rPr>
              <a:t>Perusahaan </a:t>
            </a:r>
            <a:r>
              <a:rPr lang="en-US" sz="4800" dirty="0" err="1">
                <a:solidFill>
                  <a:schemeClr val="tx1"/>
                </a:solidFill>
                <a:ea typeface="Calibri" pitchFamily="34" charset="-122"/>
                <a:cs typeface="Calibri" pitchFamily="34" charset="-120"/>
              </a:rPr>
              <a:t>Konstruksi</a:t>
            </a:r>
            <a:br>
              <a:rPr lang="en-US" sz="4800" dirty="0">
                <a:solidFill>
                  <a:schemeClr val="tx1"/>
                </a:solidFill>
              </a:rPr>
            </a:br>
            <a:endParaRPr lang="en-US" sz="4800" dirty="0">
              <a:solidFill>
                <a:schemeClr val="tx1"/>
              </a:solidFill>
            </a:endParaRPr>
          </a:p>
        </p:txBody>
      </p:sp>
      <p:sp>
        <p:nvSpPr>
          <p:cNvPr id="8" name="Text Placeholder 2">
            <a:extLst>
              <a:ext uri="{FF2B5EF4-FFF2-40B4-BE49-F238E27FC236}">
                <a16:creationId xmlns:a16="http://schemas.microsoft.com/office/drawing/2014/main" id="{4B1FE92D-9553-87BF-ADDA-2CEF5EC2321A}"/>
              </a:ext>
            </a:extLst>
          </p:cNvPr>
          <p:cNvSpPr>
            <a:spLocks noGrp="1"/>
          </p:cNvSpPr>
          <p:nvPr>
            <p:ph type="body" sz="quarter" idx="10"/>
          </p:nvPr>
        </p:nvSpPr>
        <p:spPr>
          <a:xfrm>
            <a:off x="8530361" y="4554447"/>
            <a:ext cx="2489200" cy="3124198"/>
          </a:xfrm>
          <a:solidFill>
            <a:schemeClr val="accent1">
              <a:lumMod val="60000"/>
              <a:lumOff val="40000"/>
            </a:schemeClr>
          </a:solidFill>
        </p:spPr>
        <p:txBody>
          <a:bodyPr/>
          <a:lstStyle/>
          <a:p>
            <a:r>
              <a:rPr lang="en-US" dirty="0">
                <a:solidFill>
                  <a:schemeClr val="tx1">
                    <a:alpha val="20000"/>
                  </a:schemeClr>
                </a:solidFill>
              </a:rPr>
              <a:t>1</a:t>
            </a:r>
          </a:p>
        </p:txBody>
      </p:sp>
      <p:sp>
        <p:nvSpPr>
          <p:cNvPr id="3" name="Text 2">
            <a:extLst>
              <a:ext uri="{FF2B5EF4-FFF2-40B4-BE49-F238E27FC236}">
                <a16:creationId xmlns:a16="http://schemas.microsoft.com/office/drawing/2014/main" id="{66372C39-86AF-C4CB-6A91-8695C5AD703F}"/>
              </a:ext>
            </a:extLst>
          </p:cNvPr>
          <p:cNvSpPr/>
          <p:nvPr/>
        </p:nvSpPr>
        <p:spPr>
          <a:xfrm>
            <a:off x="680936" y="3446510"/>
            <a:ext cx="6217920" cy="640080"/>
          </a:xfrm>
          <a:prstGeom prst="rect">
            <a:avLst/>
          </a:prstGeom>
          <a:noFill/>
          <a:ln/>
        </p:spPr>
        <p:txBody>
          <a:bodyPr wrap="square" rtlCol="0" anchor="ctr"/>
          <a:lstStyle/>
          <a:p>
            <a:pPr marL="0" indent="0" algn="l">
              <a:buNone/>
            </a:pPr>
            <a:r>
              <a:rPr lang="en-US" sz="1800" dirty="0">
                <a:solidFill>
                  <a:srgbClr val="0891B2"/>
                </a:solidFill>
                <a:latin typeface="Calibri" pitchFamily="34" charset="0"/>
                <a:ea typeface="Calibri" pitchFamily="34" charset="-122"/>
                <a:cs typeface="Calibri" pitchFamily="34" charset="-120"/>
              </a:rPr>
              <a:t>Distribusi &amp; Konsentrasi Pasar di Pulau Jawa</a:t>
            </a:r>
            <a:endParaRPr lang="en-US" sz="1800" dirty="0"/>
          </a:p>
        </p:txBody>
      </p:sp>
    </p:spTree>
    <p:extLst>
      <p:ext uri="{BB962C8B-B14F-4D97-AF65-F5344CB8AC3E}">
        <p14:creationId xmlns:p14="http://schemas.microsoft.com/office/powerpoint/2010/main" val="68557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A981189-9280-48E8-90AE-7F25E741BE94}"/>
              </a:ext>
            </a:extLst>
          </p:cNvPr>
          <p:cNvSpPr>
            <a:spLocks noGrp="1"/>
          </p:cNvSpPr>
          <p:nvPr>
            <p:ph type="title"/>
          </p:nvPr>
        </p:nvSpPr>
        <p:spPr>
          <a:xfrm>
            <a:off x="0" y="-19048"/>
            <a:ext cx="12192000" cy="713316"/>
          </a:xfrm>
          <a:solidFill>
            <a:schemeClr val="accent1"/>
          </a:solidFill>
        </p:spPr>
        <p:txBody>
          <a:bodyPr>
            <a:normAutofit/>
          </a:bodyPr>
          <a:lstStyle/>
          <a:p>
            <a:r>
              <a:rPr lang="en-US" dirty="0" err="1">
                <a:solidFill>
                  <a:schemeClr val="bg1"/>
                </a:solidFill>
              </a:rPr>
              <a:t>Kepadatan</a:t>
            </a:r>
            <a:r>
              <a:rPr lang="en-US" dirty="0">
                <a:solidFill>
                  <a:schemeClr val="bg1"/>
                </a:solidFill>
              </a:rPr>
              <a:t> Perusahaan </a:t>
            </a:r>
            <a:r>
              <a:rPr lang="en-US" dirty="0" err="1">
                <a:solidFill>
                  <a:schemeClr val="bg1"/>
                </a:solidFill>
              </a:rPr>
              <a:t>Konstruksi</a:t>
            </a:r>
            <a:r>
              <a:rPr lang="en-US" dirty="0">
                <a:solidFill>
                  <a:schemeClr val="bg1"/>
                </a:solidFill>
              </a:rPr>
              <a:t> di Pulau Jawa</a:t>
            </a:r>
          </a:p>
        </p:txBody>
      </p:sp>
      <p:pic>
        <p:nvPicPr>
          <p:cNvPr id="5" name="Picture 4">
            <a:extLst>
              <a:ext uri="{FF2B5EF4-FFF2-40B4-BE49-F238E27FC236}">
                <a16:creationId xmlns:a16="http://schemas.microsoft.com/office/drawing/2014/main" id="{BB96762E-D2B1-21B0-27B1-67CF942ED74B}"/>
              </a:ext>
            </a:extLst>
          </p:cNvPr>
          <p:cNvPicPr>
            <a:picLocks noChangeAspect="1"/>
          </p:cNvPicPr>
          <p:nvPr/>
        </p:nvPicPr>
        <p:blipFill>
          <a:blip r:embed="rId3"/>
          <a:srcRect r="3313" b="3163"/>
          <a:stretch>
            <a:fillRect/>
          </a:stretch>
        </p:blipFill>
        <p:spPr>
          <a:xfrm>
            <a:off x="250019" y="946174"/>
            <a:ext cx="2241261" cy="1266815"/>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C6C701FF-1A9F-F081-DC2A-EA3AF9D40DB5}"/>
              </a:ext>
            </a:extLst>
          </p:cNvPr>
          <p:cNvPicPr>
            <a:picLocks noChangeAspect="1"/>
          </p:cNvPicPr>
          <p:nvPr/>
        </p:nvPicPr>
        <p:blipFill>
          <a:blip r:embed="rId4"/>
          <a:srcRect l="2348" r="2610" b="4626"/>
          <a:stretch>
            <a:fillRect/>
          </a:stretch>
        </p:blipFill>
        <p:spPr>
          <a:xfrm>
            <a:off x="3328458" y="913737"/>
            <a:ext cx="2241261" cy="1265160"/>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F1D974A7-5674-B4C6-CC8B-2A1684915F69}"/>
              </a:ext>
            </a:extLst>
          </p:cNvPr>
          <p:cNvPicPr>
            <a:picLocks noChangeAspect="1"/>
          </p:cNvPicPr>
          <p:nvPr/>
        </p:nvPicPr>
        <p:blipFill>
          <a:blip r:embed="rId5"/>
          <a:stretch>
            <a:fillRect/>
          </a:stretch>
        </p:blipFill>
        <p:spPr>
          <a:xfrm>
            <a:off x="6396520" y="913737"/>
            <a:ext cx="2323445" cy="1265160"/>
          </a:xfrm>
          <a:prstGeom prst="rect">
            <a:avLst/>
          </a:prstGeom>
          <a:effectLst>
            <a:outerShdw blurRad="50800" dist="38100" dir="2700000" algn="tl" rotWithShape="0">
              <a:prstClr val="black">
                <a:alpha val="40000"/>
              </a:prstClr>
            </a:outerShdw>
          </a:effectLst>
        </p:spPr>
      </p:pic>
      <p:pic>
        <p:nvPicPr>
          <p:cNvPr id="23" name="Picture 22">
            <a:extLst>
              <a:ext uri="{FF2B5EF4-FFF2-40B4-BE49-F238E27FC236}">
                <a16:creationId xmlns:a16="http://schemas.microsoft.com/office/drawing/2014/main" id="{A047507F-769B-06F5-155F-A33DDC80825E}"/>
              </a:ext>
            </a:extLst>
          </p:cNvPr>
          <p:cNvPicPr>
            <a:picLocks noChangeAspect="1"/>
          </p:cNvPicPr>
          <p:nvPr/>
        </p:nvPicPr>
        <p:blipFill>
          <a:blip r:embed="rId6"/>
          <a:srcRect l="1855" r="2386" b="3563"/>
          <a:stretch>
            <a:fillRect/>
          </a:stretch>
        </p:blipFill>
        <p:spPr>
          <a:xfrm>
            <a:off x="9464584" y="888309"/>
            <a:ext cx="2323445" cy="1290588"/>
          </a:xfrm>
          <a:prstGeom prst="rect">
            <a:avLst/>
          </a:prstGeom>
          <a:effectLst>
            <a:outerShdw blurRad="50800" dist="38100" dir="2700000" algn="tl" rotWithShape="0">
              <a:prstClr val="black">
                <a:alpha val="40000"/>
              </a:prstClr>
            </a:outerShdw>
          </a:effectLst>
        </p:spPr>
      </p:pic>
      <p:pic>
        <p:nvPicPr>
          <p:cNvPr id="29" name="Picture 28">
            <a:extLst>
              <a:ext uri="{FF2B5EF4-FFF2-40B4-BE49-F238E27FC236}">
                <a16:creationId xmlns:a16="http://schemas.microsoft.com/office/drawing/2014/main" id="{9202FF57-EC6C-1D53-6860-CEA6D54D4B64}"/>
              </a:ext>
            </a:extLst>
          </p:cNvPr>
          <p:cNvPicPr>
            <a:picLocks noChangeAspect="1"/>
          </p:cNvPicPr>
          <p:nvPr/>
        </p:nvPicPr>
        <p:blipFill>
          <a:blip r:embed="rId7"/>
          <a:stretch>
            <a:fillRect/>
          </a:stretch>
        </p:blipFill>
        <p:spPr>
          <a:xfrm>
            <a:off x="6946900" y="2812548"/>
            <a:ext cx="4317769" cy="3728971"/>
          </a:xfrm>
          <a:prstGeom prst="rect">
            <a:avLst/>
          </a:prstGeom>
        </p:spPr>
      </p:pic>
      <p:graphicFrame>
        <p:nvGraphicFramePr>
          <p:cNvPr id="3" name="Chart 0">
            <a:extLst>
              <a:ext uri="{FF2B5EF4-FFF2-40B4-BE49-F238E27FC236}">
                <a16:creationId xmlns:a16="http://schemas.microsoft.com/office/drawing/2014/main" id="{F920CD88-A6DE-4973-F42B-ECA2AC213B42}"/>
              </a:ext>
            </a:extLst>
          </p:cNvPr>
          <p:cNvGraphicFramePr/>
          <p:nvPr>
            <p:extLst>
              <p:ext uri="{D42A27DB-BD31-4B8C-83A1-F6EECF244321}">
                <p14:modId xmlns:p14="http://schemas.microsoft.com/office/powerpoint/2010/main" val="3731146718"/>
              </p:ext>
            </p:extLst>
          </p:nvPr>
        </p:nvGraphicFramePr>
        <p:xfrm>
          <a:off x="363220" y="2994548"/>
          <a:ext cx="6033300" cy="3364972"/>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298998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400" b="1" dirty="0">
                <a:solidFill>
                  <a:srgbClr val="FFFFFF"/>
                </a:solidFill>
                <a:latin typeface="+mj-lt"/>
                <a:ea typeface="Calibri" pitchFamily="34" charset="-122"/>
                <a:cs typeface="Calibri" pitchFamily="34" charset="-120"/>
              </a:rPr>
              <a:t>Top 10 Kabupaten/Kota — Kepadatan Perusahaan Konstruksi</a:t>
            </a:r>
            <a:endParaRPr lang="en-US" sz="2400" dirty="0">
              <a:latin typeface="+mj-lt"/>
            </a:endParaRPr>
          </a:p>
        </p:txBody>
      </p:sp>
      <p:sp>
        <p:nvSpPr>
          <p:cNvPr id="5" name="Shape 2"/>
          <p:cNvSpPr/>
          <p:nvPr/>
        </p:nvSpPr>
        <p:spPr>
          <a:xfrm>
            <a:off x="8168640" y="792480"/>
            <a:ext cx="3657600" cy="2493264"/>
          </a:xfrm>
          <a:prstGeom prst="roundRect">
            <a:avLst>
              <a:gd name="adj" fmla="val 5581"/>
            </a:avLst>
          </a:prstGeom>
          <a:solidFill>
            <a:srgbClr val="F1F5F9"/>
          </a:solidFill>
          <a:ln/>
          <a:effectLst>
            <a:outerShdw blurRad="127000" dist="50800" dir="2700000" algn="bl" rotWithShape="0">
              <a:srgbClr val="000000">
                <a:alpha val="10000"/>
              </a:srgbClr>
            </a:outerShdw>
          </a:effectLst>
        </p:spPr>
        <p:txBody>
          <a:bodyPr/>
          <a:lstStyle/>
          <a:p>
            <a:endParaRPr lang="en-US" sz="2400"/>
          </a:p>
        </p:txBody>
      </p:sp>
      <p:sp>
        <p:nvSpPr>
          <p:cNvPr id="6" name="Text 3"/>
          <p:cNvSpPr/>
          <p:nvPr/>
        </p:nvSpPr>
        <p:spPr>
          <a:xfrm>
            <a:off x="8351520" y="975360"/>
            <a:ext cx="609600" cy="609600"/>
          </a:xfrm>
          <a:prstGeom prst="rect">
            <a:avLst/>
          </a:prstGeom>
          <a:noFill/>
          <a:ln/>
        </p:spPr>
        <p:txBody>
          <a:bodyPr wrap="square" lIns="0" tIns="0" rIns="0" bIns="0" rtlCol="0" anchor="ctr"/>
          <a:lstStyle/>
          <a:p>
            <a:pPr algn="ctr"/>
            <a:r>
              <a:rPr lang="en-US" sz="2933" b="1" dirty="0">
                <a:solidFill>
                  <a:srgbClr val="4F46E5"/>
                </a:solidFill>
                <a:latin typeface="Calibri" pitchFamily="34" charset="0"/>
                <a:ea typeface="Calibri" pitchFamily="34" charset="-122"/>
                <a:cs typeface="Calibri" pitchFamily="34" charset="-120"/>
              </a:rPr>
              <a:t>💡</a:t>
            </a:r>
            <a:endParaRPr lang="en-US" sz="2933" dirty="0"/>
          </a:p>
        </p:txBody>
      </p:sp>
      <p:sp>
        <p:nvSpPr>
          <p:cNvPr id="7" name="Text 4"/>
          <p:cNvSpPr/>
          <p:nvPr/>
        </p:nvSpPr>
        <p:spPr>
          <a:xfrm>
            <a:off x="9022080" y="975360"/>
            <a:ext cx="2621280" cy="548640"/>
          </a:xfrm>
          <a:prstGeom prst="rect">
            <a:avLst/>
          </a:prstGeom>
          <a:noFill/>
          <a:ln/>
        </p:spPr>
        <p:txBody>
          <a:bodyPr wrap="square" lIns="0" tIns="0" rIns="0" bIns="0" rtlCol="0" anchor="ctr"/>
          <a:lstStyle/>
          <a:p>
            <a:r>
              <a:rPr lang="en-US" sz="1867" b="1" dirty="0">
                <a:solidFill>
                  <a:srgbClr val="1E293B"/>
                </a:solidFill>
                <a:latin typeface="Calibri" pitchFamily="34" charset="0"/>
                <a:ea typeface="Calibri" pitchFamily="34" charset="-122"/>
                <a:cs typeface="Calibri" pitchFamily="34" charset="-120"/>
              </a:rPr>
              <a:t>Insight Utama</a:t>
            </a:r>
            <a:endParaRPr lang="en-US" sz="1867" dirty="0"/>
          </a:p>
        </p:txBody>
      </p:sp>
      <p:sp>
        <p:nvSpPr>
          <p:cNvPr id="8" name="Text 5"/>
          <p:cNvSpPr/>
          <p:nvPr/>
        </p:nvSpPr>
        <p:spPr>
          <a:xfrm>
            <a:off x="8351520" y="1548384"/>
            <a:ext cx="3291840" cy="1706880"/>
          </a:xfrm>
          <a:prstGeom prst="rect">
            <a:avLst/>
          </a:prstGeom>
          <a:noFill/>
          <a:ln/>
        </p:spPr>
        <p:txBody>
          <a:bodyPr wrap="square" rtlCol="0" anchor="t"/>
          <a:lstStyle/>
          <a:p>
            <a:r>
              <a:rPr lang="en-US" sz="1600" dirty="0">
                <a:solidFill>
                  <a:srgbClr val="475569"/>
                </a:solidFill>
                <a:latin typeface="Calibri" pitchFamily="34" charset="0"/>
                <a:ea typeface="Calibri" pitchFamily="34" charset="-122"/>
                <a:cs typeface="Calibri" pitchFamily="34" charset="-120"/>
              </a:rPr>
              <a:t>Jawa Timur memiliki konsentrasi perusahaan konstruksi terbesar (37.4%). Surabaya unggul jauh sebagai hotspot nasional dengan 4.146 perusahaan.</a:t>
            </a:r>
            <a:endParaRPr lang="en-US" sz="1600" dirty="0"/>
          </a:p>
        </p:txBody>
      </p:sp>
      <p:sp>
        <p:nvSpPr>
          <p:cNvPr id="9" name="Shape 6"/>
          <p:cNvSpPr/>
          <p:nvPr/>
        </p:nvSpPr>
        <p:spPr>
          <a:xfrm>
            <a:off x="8168640" y="3572256"/>
            <a:ext cx="3657600" cy="3023616"/>
          </a:xfrm>
          <a:prstGeom prst="roundRect">
            <a:avLst>
              <a:gd name="adj" fmla="val 4839"/>
            </a:avLst>
          </a:prstGeom>
          <a:solidFill>
            <a:srgbClr val="F1F5F9"/>
          </a:solidFill>
          <a:ln/>
          <a:effectLst>
            <a:outerShdw blurRad="127000" dist="50800" dir="2700000" algn="bl" rotWithShape="0">
              <a:srgbClr val="000000">
                <a:alpha val="10000"/>
              </a:srgbClr>
            </a:outerShdw>
          </a:effectLst>
        </p:spPr>
        <p:txBody>
          <a:bodyPr/>
          <a:lstStyle/>
          <a:p>
            <a:endParaRPr lang="en-US" sz="2400"/>
          </a:p>
        </p:txBody>
      </p:sp>
      <p:sp>
        <p:nvSpPr>
          <p:cNvPr id="10" name="Text 7"/>
          <p:cNvSpPr/>
          <p:nvPr/>
        </p:nvSpPr>
        <p:spPr>
          <a:xfrm>
            <a:off x="8351520" y="3755136"/>
            <a:ext cx="609600" cy="609600"/>
          </a:xfrm>
          <a:prstGeom prst="rect">
            <a:avLst/>
          </a:prstGeom>
          <a:noFill/>
          <a:ln/>
        </p:spPr>
        <p:txBody>
          <a:bodyPr wrap="square" lIns="0" tIns="0" rIns="0" bIns="0" rtlCol="0" anchor="ctr"/>
          <a:lstStyle/>
          <a:p>
            <a:pPr algn="ctr"/>
            <a:r>
              <a:rPr lang="en-US" sz="2933" b="1" dirty="0">
                <a:solidFill>
                  <a:srgbClr val="059669"/>
                </a:solidFill>
                <a:latin typeface="Calibri" pitchFamily="34" charset="0"/>
                <a:ea typeface="Calibri" pitchFamily="34" charset="-122"/>
                <a:cs typeface="Calibri" pitchFamily="34" charset="-120"/>
              </a:rPr>
              <a:t>🎯</a:t>
            </a:r>
            <a:endParaRPr lang="en-US" sz="2933" dirty="0"/>
          </a:p>
        </p:txBody>
      </p:sp>
      <p:sp>
        <p:nvSpPr>
          <p:cNvPr id="11" name="Text 8"/>
          <p:cNvSpPr/>
          <p:nvPr/>
        </p:nvSpPr>
        <p:spPr>
          <a:xfrm>
            <a:off x="9022080" y="3755136"/>
            <a:ext cx="2621280" cy="548640"/>
          </a:xfrm>
          <a:prstGeom prst="rect">
            <a:avLst/>
          </a:prstGeom>
          <a:noFill/>
          <a:ln/>
        </p:spPr>
        <p:txBody>
          <a:bodyPr wrap="square" lIns="0" tIns="0" rIns="0" bIns="0" rtlCol="0" anchor="ctr"/>
          <a:lstStyle/>
          <a:p>
            <a:r>
              <a:rPr lang="en-US" sz="1867" b="1" dirty="0">
                <a:solidFill>
                  <a:srgbClr val="1E293B"/>
                </a:solidFill>
                <a:latin typeface="Calibri" pitchFamily="34" charset="0"/>
                <a:ea typeface="Calibri" pitchFamily="34" charset="-122"/>
                <a:cs typeface="Calibri" pitchFamily="34" charset="-120"/>
              </a:rPr>
              <a:t>Rekomendasi</a:t>
            </a:r>
            <a:endParaRPr lang="en-US" sz="1867" dirty="0"/>
          </a:p>
        </p:txBody>
      </p:sp>
      <p:sp>
        <p:nvSpPr>
          <p:cNvPr id="12" name="Text 9"/>
          <p:cNvSpPr/>
          <p:nvPr/>
        </p:nvSpPr>
        <p:spPr>
          <a:xfrm>
            <a:off x="8351520" y="4328160"/>
            <a:ext cx="3291840" cy="2109216"/>
          </a:xfrm>
          <a:prstGeom prst="rect">
            <a:avLst/>
          </a:prstGeom>
          <a:noFill/>
          <a:ln/>
        </p:spPr>
        <p:txBody>
          <a:bodyPr wrap="square" rtlCol="0" anchor="t"/>
          <a:lstStyle/>
          <a:p>
            <a:r>
              <a:rPr lang="en-US" sz="1600" dirty="0">
                <a:solidFill>
                  <a:srgbClr val="475569"/>
                </a:solidFill>
                <a:latin typeface="Calibri" pitchFamily="34" charset="0"/>
                <a:ea typeface="Calibri" pitchFamily="34" charset="-122"/>
                <a:cs typeface="Calibri" pitchFamily="34" charset="-120"/>
              </a:rPr>
              <a:t>Fokus sales awal di Jawa Timur — terutama Surabaya dan Sidoarjo.</a:t>
            </a:r>
            <a:endParaRPr lang="en-US" sz="1600" dirty="0"/>
          </a:p>
          <a:p>
            <a:endParaRPr lang="en-US" sz="1600" dirty="0"/>
          </a:p>
          <a:p>
            <a:r>
              <a:rPr lang="en-US" sz="1600" dirty="0">
                <a:solidFill>
                  <a:srgbClr val="475569"/>
                </a:solidFill>
                <a:latin typeface="Calibri" pitchFamily="34" charset="0"/>
                <a:ea typeface="Calibri" pitchFamily="34" charset="-122"/>
                <a:cs typeface="Calibri" pitchFamily="34" charset="-120"/>
              </a:rPr>
              <a:t>Bangun partnership dengan kontraktor besar di kota-kota dengan proyek aktif tertinggi.</a:t>
            </a:r>
            <a:endParaRPr lang="en-US" sz="1600" dirty="0"/>
          </a:p>
          <a:p>
            <a:endParaRPr lang="en-US" sz="1600" dirty="0"/>
          </a:p>
          <a:p>
            <a:r>
              <a:rPr lang="en-US" sz="1600" dirty="0">
                <a:solidFill>
                  <a:srgbClr val="475569"/>
                </a:solidFill>
                <a:latin typeface="Calibri" pitchFamily="34" charset="0"/>
                <a:ea typeface="Calibri" pitchFamily="34" charset="-122"/>
                <a:cs typeface="Calibri" pitchFamily="34" charset="-120"/>
              </a:rPr>
              <a:t>Tangerang &amp; Bandung layak menjadi target Pilot Project.</a:t>
            </a:r>
            <a:endParaRPr lang="en-US" sz="1600" dirty="0"/>
          </a:p>
        </p:txBody>
      </p:sp>
      <p:sp>
        <p:nvSpPr>
          <p:cNvPr id="13" name="Text 10"/>
          <p:cNvSpPr/>
          <p:nvPr/>
        </p:nvSpPr>
        <p:spPr>
          <a:xfrm>
            <a:off x="365760" y="6669024"/>
            <a:ext cx="11460480" cy="243840"/>
          </a:xfrm>
          <a:prstGeom prst="rect">
            <a:avLst/>
          </a:prstGeom>
          <a:noFill/>
          <a:ln/>
        </p:spPr>
        <p:txBody>
          <a:bodyPr wrap="square" rtlCol="0" anchor="ctr"/>
          <a:lstStyle/>
          <a:p>
            <a:pPr algn="r"/>
            <a:r>
              <a:rPr lang="en-US" sz="1200" dirty="0">
                <a:solidFill>
                  <a:srgbClr val="64748B"/>
                </a:solidFill>
                <a:latin typeface="Calibri" pitchFamily="34" charset="0"/>
                <a:ea typeface="Calibri" pitchFamily="34" charset="-122"/>
                <a:cs typeface="Calibri" pitchFamily="34" charset="-120"/>
              </a:rPr>
              <a:t>Sumber: BPS per Provinsi 2025</a:t>
            </a:r>
            <a:endParaRPr lang="en-US" sz="1200" dirty="0"/>
          </a:p>
        </p:txBody>
      </p:sp>
      <p:pic>
        <p:nvPicPr>
          <p:cNvPr id="14" name="Picture 13">
            <a:extLst>
              <a:ext uri="{FF2B5EF4-FFF2-40B4-BE49-F238E27FC236}">
                <a16:creationId xmlns:a16="http://schemas.microsoft.com/office/drawing/2014/main" id="{A1F86871-118A-FB80-E6A3-4549BD5EBC56}"/>
              </a:ext>
            </a:extLst>
          </p:cNvPr>
          <p:cNvPicPr>
            <a:picLocks noChangeAspect="1"/>
          </p:cNvPicPr>
          <p:nvPr/>
        </p:nvPicPr>
        <p:blipFill>
          <a:blip r:embed="rId3"/>
          <a:stretch>
            <a:fillRect/>
          </a:stretch>
        </p:blipFill>
        <p:spPr>
          <a:xfrm>
            <a:off x="220851" y="792480"/>
            <a:ext cx="7757246" cy="56433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C07B-E9E1-77CF-8286-C3B3457FFD1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F9D63BD-9447-9CDC-1530-BA3AEB998A67}"/>
              </a:ext>
            </a:extLst>
          </p:cNvPr>
          <p:cNvSpPr>
            <a:spLocks noGrp="1"/>
          </p:cNvSpPr>
          <p:nvPr>
            <p:ph type="title"/>
          </p:nvPr>
        </p:nvSpPr>
        <p:spPr>
          <a:xfrm>
            <a:off x="552680" y="1045844"/>
            <a:ext cx="5095024" cy="2195411"/>
          </a:xfrm>
        </p:spPr>
        <p:txBody>
          <a:bodyPr/>
          <a:lstStyle/>
          <a:p>
            <a:r>
              <a:rPr lang="en-US" sz="4000" dirty="0" err="1">
                <a:solidFill>
                  <a:schemeClr val="tx1"/>
                </a:solidFill>
                <a:ea typeface="Calibri" pitchFamily="34" charset="-122"/>
                <a:cs typeface="Calibri" pitchFamily="34" charset="-120"/>
              </a:rPr>
              <a:t>Analisis</a:t>
            </a:r>
            <a:r>
              <a:rPr lang="en-US" sz="4000" dirty="0">
                <a:solidFill>
                  <a:schemeClr val="tx1"/>
                </a:solidFill>
                <a:ea typeface="Calibri" pitchFamily="34" charset="-122"/>
                <a:cs typeface="Calibri" pitchFamily="34" charset="-120"/>
              </a:rPr>
              <a:t> </a:t>
            </a:r>
            <a:r>
              <a:rPr lang="en-US" sz="4000" dirty="0" err="1">
                <a:solidFill>
                  <a:schemeClr val="tx1"/>
                </a:solidFill>
                <a:ea typeface="Calibri" pitchFamily="34" charset="-122"/>
                <a:cs typeface="Calibri" pitchFamily="34" charset="-120"/>
              </a:rPr>
              <a:t>Peluang</a:t>
            </a:r>
            <a:r>
              <a:rPr lang="en-US" sz="4000" dirty="0">
                <a:solidFill>
                  <a:schemeClr val="tx1"/>
                </a:solidFill>
                <a:ea typeface="Calibri" pitchFamily="34" charset="-122"/>
                <a:cs typeface="Calibri" pitchFamily="34" charset="-120"/>
              </a:rPr>
              <a:t> Pasar</a:t>
            </a:r>
            <a:br>
              <a:rPr lang="en-US" sz="4000" dirty="0">
                <a:solidFill>
                  <a:schemeClr val="tx1"/>
                </a:solidFill>
              </a:rPr>
            </a:br>
            <a:r>
              <a:rPr lang="en-US" sz="4000" dirty="0" err="1">
                <a:solidFill>
                  <a:schemeClr val="tx1"/>
                </a:solidFill>
                <a:ea typeface="Calibri" pitchFamily="34" charset="-122"/>
                <a:cs typeface="Calibri" pitchFamily="34" charset="-120"/>
              </a:rPr>
              <a:t>Berdasarkan</a:t>
            </a:r>
            <a:r>
              <a:rPr lang="en-US" sz="4000" dirty="0">
                <a:solidFill>
                  <a:schemeClr val="tx1"/>
                </a:solidFill>
                <a:ea typeface="Calibri" pitchFamily="34" charset="-122"/>
                <a:cs typeface="Calibri" pitchFamily="34" charset="-120"/>
              </a:rPr>
              <a:t> Risiko &amp;</a:t>
            </a:r>
            <a:br>
              <a:rPr lang="en-US" sz="4000" dirty="0">
                <a:solidFill>
                  <a:schemeClr val="tx1"/>
                </a:solidFill>
              </a:rPr>
            </a:br>
            <a:r>
              <a:rPr lang="en-US" sz="4000" dirty="0" err="1">
                <a:solidFill>
                  <a:schemeClr val="tx1"/>
                </a:solidFill>
                <a:ea typeface="Calibri" pitchFamily="34" charset="-122"/>
                <a:cs typeface="Calibri" pitchFamily="34" charset="-120"/>
              </a:rPr>
              <a:t>Aktivitas</a:t>
            </a:r>
            <a:r>
              <a:rPr lang="en-US" sz="4000" dirty="0">
                <a:solidFill>
                  <a:schemeClr val="tx1"/>
                </a:solidFill>
                <a:ea typeface="Calibri" pitchFamily="34" charset="-122"/>
                <a:cs typeface="Calibri" pitchFamily="34" charset="-120"/>
              </a:rPr>
              <a:t> </a:t>
            </a:r>
            <a:r>
              <a:rPr lang="en-US" sz="4000" dirty="0" err="1">
                <a:solidFill>
                  <a:schemeClr val="tx1"/>
                </a:solidFill>
                <a:ea typeface="Calibri" pitchFamily="34" charset="-122"/>
                <a:cs typeface="Calibri" pitchFamily="34" charset="-120"/>
              </a:rPr>
              <a:t>Konstruksi</a:t>
            </a:r>
            <a:br>
              <a:rPr lang="en-US" sz="4800" dirty="0">
                <a:solidFill>
                  <a:schemeClr val="tx1"/>
                </a:solidFill>
              </a:rPr>
            </a:br>
            <a:br>
              <a:rPr lang="en-US" sz="4800" dirty="0">
                <a:solidFill>
                  <a:schemeClr val="tx1"/>
                </a:solidFill>
              </a:rPr>
            </a:br>
            <a:endParaRPr lang="en-US" sz="4800" dirty="0">
              <a:solidFill>
                <a:schemeClr val="tx1"/>
              </a:solidFill>
            </a:endParaRPr>
          </a:p>
        </p:txBody>
      </p:sp>
      <p:sp>
        <p:nvSpPr>
          <p:cNvPr id="8" name="Text Placeholder 2">
            <a:extLst>
              <a:ext uri="{FF2B5EF4-FFF2-40B4-BE49-F238E27FC236}">
                <a16:creationId xmlns:a16="http://schemas.microsoft.com/office/drawing/2014/main" id="{2400803B-A941-F1B5-F3CD-55939E2BF206}"/>
              </a:ext>
            </a:extLst>
          </p:cNvPr>
          <p:cNvSpPr>
            <a:spLocks noGrp="1"/>
          </p:cNvSpPr>
          <p:nvPr>
            <p:ph type="body" sz="quarter" idx="10"/>
          </p:nvPr>
        </p:nvSpPr>
        <p:spPr>
          <a:xfrm>
            <a:off x="8530361" y="4554447"/>
            <a:ext cx="2489200" cy="3124198"/>
          </a:xfrm>
          <a:solidFill>
            <a:schemeClr val="accent1">
              <a:lumMod val="60000"/>
              <a:lumOff val="40000"/>
            </a:schemeClr>
          </a:solidFill>
        </p:spPr>
        <p:txBody>
          <a:bodyPr/>
          <a:lstStyle/>
          <a:p>
            <a:r>
              <a:rPr lang="en-US" dirty="0">
                <a:solidFill>
                  <a:schemeClr val="tx1">
                    <a:alpha val="20000"/>
                  </a:schemeClr>
                </a:solidFill>
              </a:rPr>
              <a:t>2</a:t>
            </a:r>
          </a:p>
        </p:txBody>
      </p:sp>
      <p:sp>
        <p:nvSpPr>
          <p:cNvPr id="4" name="TextBox 3">
            <a:extLst>
              <a:ext uri="{FF2B5EF4-FFF2-40B4-BE49-F238E27FC236}">
                <a16:creationId xmlns:a16="http://schemas.microsoft.com/office/drawing/2014/main" id="{0DA6BC8B-0B76-77F0-47A6-CCF31A8AE7FB}"/>
              </a:ext>
            </a:extLst>
          </p:cNvPr>
          <p:cNvSpPr txBox="1"/>
          <p:nvPr/>
        </p:nvSpPr>
        <p:spPr>
          <a:xfrm>
            <a:off x="552680" y="3065502"/>
            <a:ext cx="6416040" cy="369332"/>
          </a:xfrm>
          <a:prstGeom prst="rect">
            <a:avLst/>
          </a:prstGeom>
          <a:noFill/>
        </p:spPr>
        <p:txBody>
          <a:bodyPr wrap="square">
            <a:spAutoFit/>
          </a:bodyPr>
          <a:lstStyle/>
          <a:p>
            <a:pPr marL="0" indent="0" algn="l">
              <a:buNone/>
            </a:pPr>
            <a:r>
              <a:rPr lang="en-US" sz="1800" dirty="0">
                <a:solidFill>
                  <a:srgbClr val="0891B2"/>
                </a:solidFill>
                <a:latin typeface="Calibri" pitchFamily="34" charset="0"/>
                <a:ea typeface="Calibri" pitchFamily="34" charset="-122"/>
                <a:cs typeface="Calibri" pitchFamily="34" charset="-120"/>
              </a:rPr>
              <a:t>Opportunity Score &amp; Risk Density Analysis</a:t>
            </a:r>
            <a:endParaRPr lang="en-US" sz="1800" dirty="0"/>
          </a:p>
        </p:txBody>
      </p:sp>
    </p:spTree>
    <p:extLst>
      <p:ext uri="{BB962C8B-B14F-4D97-AF65-F5344CB8AC3E}">
        <p14:creationId xmlns:p14="http://schemas.microsoft.com/office/powerpoint/2010/main" val="3730784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E10BE-A79C-6DB6-96AD-1AB6E6CD838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DA4348F-7024-F895-B8D9-52D497703FF8}"/>
              </a:ext>
            </a:extLst>
          </p:cNvPr>
          <p:cNvSpPr>
            <a:spLocks noGrp="1"/>
          </p:cNvSpPr>
          <p:nvPr>
            <p:ph type="title"/>
          </p:nvPr>
        </p:nvSpPr>
        <p:spPr>
          <a:xfrm>
            <a:off x="0" y="-19048"/>
            <a:ext cx="12192000" cy="713316"/>
          </a:xfrm>
          <a:solidFill>
            <a:schemeClr val="accent1"/>
          </a:solidFill>
        </p:spPr>
        <p:txBody>
          <a:bodyPr>
            <a:normAutofit fontScale="90000"/>
          </a:bodyPr>
          <a:lstStyle/>
          <a:p>
            <a:pPr algn="l"/>
            <a:r>
              <a:rPr lang="en-US" dirty="0" err="1">
                <a:solidFill>
                  <a:schemeClr val="bg1"/>
                </a:solidFill>
              </a:rPr>
              <a:t>Analisis</a:t>
            </a:r>
            <a:r>
              <a:rPr lang="en-US" dirty="0">
                <a:solidFill>
                  <a:schemeClr val="bg1"/>
                </a:solidFill>
              </a:rPr>
              <a:t> </a:t>
            </a:r>
            <a:r>
              <a:rPr lang="en-US" dirty="0" err="1">
                <a:solidFill>
                  <a:schemeClr val="bg1"/>
                </a:solidFill>
              </a:rPr>
              <a:t>Peluang</a:t>
            </a:r>
            <a:r>
              <a:rPr lang="en-US" dirty="0">
                <a:solidFill>
                  <a:schemeClr val="bg1"/>
                </a:solidFill>
              </a:rPr>
              <a:t> Pasar: Opportunity Score &amp; Risk Density</a:t>
            </a:r>
          </a:p>
        </p:txBody>
      </p:sp>
      <p:sp>
        <p:nvSpPr>
          <p:cNvPr id="2" name="Title 13">
            <a:extLst>
              <a:ext uri="{FF2B5EF4-FFF2-40B4-BE49-F238E27FC236}">
                <a16:creationId xmlns:a16="http://schemas.microsoft.com/office/drawing/2014/main" id="{1C596F7A-50D7-995E-88B8-D0B2378FAE22}"/>
              </a:ext>
            </a:extLst>
          </p:cNvPr>
          <p:cNvSpPr txBox="1">
            <a:spLocks/>
          </p:cNvSpPr>
          <p:nvPr/>
        </p:nvSpPr>
        <p:spPr>
          <a:xfrm>
            <a:off x="314325" y="1009652"/>
            <a:ext cx="11563350" cy="552448"/>
          </a:xfrm>
          <a:prstGeom prst="roundRect">
            <a:avLst/>
          </a:prstGeom>
          <a:solidFill>
            <a:schemeClr val="bg1">
              <a:lumMod val="95000"/>
            </a:schemeClr>
          </a:solidFill>
        </p:spPr>
        <p:txBody>
          <a:bodyPr vert="horz" lIns="91440" tIns="45720" rIns="91440" bIns="45720" rtlCol="0" anchor="b">
            <a:normAutofit fontScale="97500"/>
          </a:bodyPr>
          <a:lstStyle>
            <a:lvl1pPr algn="r" defTabSz="914400" rtl="0" eaLnBrk="1" latinLnBrk="0" hangingPunct="1">
              <a:lnSpc>
                <a:spcPct val="90000"/>
              </a:lnSpc>
              <a:spcBef>
                <a:spcPct val="0"/>
              </a:spcBef>
              <a:buNone/>
              <a:defRPr sz="4000" b="1" i="0" kern="1200" spc="-150">
                <a:solidFill>
                  <a:schemeClr val="tx2"/>
                </a:solidFill>
                <a:latin typeface="+mj-lt"/>
                <a:ea typeface="+mj-ea"/>
                <a:cs typeface="Gill Sans" panose="020B0502020104020203" pitchFamily="34" charset="-79"/>
              </a:defRPr>
            </a:lvl1pPr>
          </a:lstStyle>
          <a:p>
            <a:pPr algn="ctr"/>
            <a:r>
              <a:rPr lang="en-US" sz="2400" dirty="0">
                <a:solidFill>
                  <a:schemeClr val="accent1"/>
                </a:solidFill>
              </a:rPr>
              <a:t>Formula Opportunity Score = </a:t>
            </a:r>
            <a:r>
              <a:rPr lang="en-US" sz="2400" dirty="0" err="1">
                <a:solidFill>
                  <a:schemeClr val="accent1"/>
                </a:solidFill>
              </a:rPr>
              <a:t>Kecelakaan</a:t>
            </a:r>
            <a:r>
              <a:rPr lang="en-US" sz="2400" dirty="0">
                <a:solidFill>
                  <a:schemeClr val="accent1"/>
                </a:solidFill>
              </a:rPr>
              <a:t> </a:t>
            </a:r>
            <a:r>
              <a:rPr lang="en-US" sz="2400" dirty="0" err="1">
                <a:solidFill>
                  <a:schemeClr val="accent1"/>
                </a:solidFill>
              </a:rPr>
              <a:t>Konstruksi</a:t>
            </a:r>
            <a:r>
              <a:rPr lang="en-US" sz="2400" dirty="0">
                <a:solidFill>
                  <a:schemeClr val="accent1"/>
                </a:solidFill>
              </a:rPr>
              <a:t> + </a:t>
            </a:r>
            <a:r>
              <a:rPr lang="en-US" sz="2400" dirty="0" err="1">
                <a:solidFill>
                  <a:schemeClr val="accent1"/>
                </a:solidFill>
              </a:rPr>
              <a:t>Jumlah</a:t>
            </a:r>
            <a:r>
              <a:rPr lang="en-US" sz="2400" dirty="0">
                <a:solidFill>
                  <a:schemeClr val="accent1"/>
                </a:solidFill>
              </a:rPr>
              <a:t> Perusahaan </a:t>
            </a:r>
            <a:r>
              <a:rPr lang="en-US" sz="2400" dirty="0" err="1">
                <a:solidFill>
                  <a:schemeClr val="accent1"/>
                </a:solidFill>
              </a:rPr>
              <a:t>Aktif</a:t>
            </a:r>
            <a:endParaRPr lang="en-US" sz="2400" dirty="0">
              <a:solidFill>
                <a:schemeClr val="accent1"/>
              </a:solidFill>
            </a:endParaRPr>
          </a:p>
        </p:txBody>
      </p:sp>
      <p:graphicFrame>
        <p:nvGraphicFramePr>
          <p:cNvPr id="3" name="Content Placeholder 4">
            <a:extLst>
              <a:ext uri="{FF2B5EF4-FFF2-40B4-BE49-F238E27FC236}">
                <a16:creationId xmlns:a16="http://schemas.microsoft.com/office/drawing/2014/main" id="{54A5D621-FDE6-4823-622E-1F55AE4791F7}"/>
              </a:ext>
            </a:extLst>
          </p:cNvPr>
          <p:cNvGraphicFramePr>
            <a:graphicFrameLocks/>
          </p:cNvGraphicFramePr>
          <p:nvPr>
            <p:extLst>
              <p:ext uri="{D42A27DB-BD31-4B8C-83A1-F6EECF244321}">
                <p14:modId xmlns:p14="http://schemas.microsoft.com/office/powerpoint/2010/main" val="1060162663"/>
              </p:ext>
            </p:extLst>
          </p:nvPr>
        </p:nvGraphicFramePr>
        <p:xfrm>
          <a:off x="314324" y="2066232"/>
          <a:ext cx="11563350" cy="2184400"/>
        </p:xfrm>
        <a:graphic>
          <a:graphicData uri="http://schemas.openxmlformats.org/drawingml/2006/table">
            <a:tbl>
              <a:tblPr firstRow="1" bandRow="1">
                <a:tableStyleId>{5940675A-B579-460E-94D1-54222C63F5DA}</a:tableStyleId>
              </a:tblPr>
              <a:tblGrid>
                <a:gridCol w="1323976">
                  <a:extLst>
                    <a:ext uri="{9D8B030D-6E8A-4147-A177-3AD203B41FA5}">
                      <a16:colId xmlns:a16="http://schemas.microsoft.com/office/drawing/2014/main" val="743983320"/>
                    </a:ext>
                  </a:extLst>
                </a:gridCol>
                <a:gridCol w="1866900">
                  <a:extLst>
                    <a:ext uri="{9D8B030D-6E8A-4147-A177-3AD203B41FA5}">
                      <a16:colId xmlns:a16="http://schemas.microsoft.com/office/drawing/2014/main" val="821656510"/>
                    </a:ext>
                  </a:extLst>
                </a:gridCol>
                <a:gridCol w="1752600">
                  <a:extLst>
                    <a:ext uri="{9D8B030D-6E8A-4147-A177-3AD203B41FA5}">
                      <a16:colId xmlns:a16="http://schemas.microsoft.com/office/drawing/2014/main" val="2167361624"/>
                    </a:ext>
                  </a:extLst>
                </a:gridCol>
                <a:gridCol w="1485900">
                  <a:extLst>
                    <a:ext uri="{9D8B030D-6E8A-4147-A177-3AD203B41FA5}">
                      <a16:colId xmlns:a16="http://schemas.microsoft.com/office/drawing/2014/main" val="1124378820"/>
                    </a:ext>
                  </a:extLst>
                </a:gridCol>
                <a:gridCol w="1257300">
                  <a:extLst>
                    <a:ext uri="{9D8B030D-6E8A-4147-A177-3AD203B41FA5}">
                      <a16:colId xmlns:a16="http://schemas.microsoft.com/office/drawing/2014/main" val="2092283568"/>
                    </a:ext>
                  </a:extLst>
                </a:gridCol>
                <a:gridCol w="1847850">
                  <a:extLst>
                    <a:ext uri="{9D8B030D-6E8A-4147-A177-3AD203B41FA5}">
                      <a16:colId xmlns:a16="http://schemas.microsoft.com/office/drawing/2014/main" val="1052785576"/>
                    </a:ext>
                  </a:extLst>
                </a:gridCol>
                <a:gridCol w="2028824">
                  <a:extLst>
                    <a:ext uri="{9D8B030D-6E8A-4147-A177-3AD203B41FA5}">
                      <a16:colId xmlns:a16="http://schemas.microsoft.com/office/drawing/2014/main" val="4206801311"/>
                    </a:ext>
                  </a:extLst>
                </a:gridCol>
              </a:tblGrid>
              <a:tr h="370840">
                <a:tc>
                  <a:txBody>
                    <a:bodyPr/>
                    <a:lstStyle/>
                    <a:p>
                      <a:r>
                        <a:rPr lang="en-US" sz="2000" b="1" dirty="0" err="1"/>
                        <a:t>Provinsi</a:t>
                      </a:r>
                      <a:r>
                        <a:rPr lang="en-US" sz="2000" b="1" dirty="0"/>
                        <a:t> </a:t>
                      </a:r>
                    </a:p>
                  </a:txBody>
                  <a:tcPr>
                    <a:solidFill>
                      <a:schemeClr val="accent1">
                        <a:lumMod val="40000"/>
                        <a:lumOff val="60000"/>
                      </a:schemeClr>
                    </a:solidFill>
                  </a:tcPr>
                </a:tc>
                <a:tc>
                  <a:txBody>
                    <a:bodyPr/>
                    <a:lstStyle/>
                    <a:p>
                      <a:r>
                        <a:rPr lang="en-US" sz="2000" b="1" dirty="0" err="1"/>
                        <a:t>Kecelakaan</a:t>
                      </a:r>
                      <a:r>
                        <a:rPr lang="en-US" sz="2000" b="1" dirty="0"/>
                        <a:t> </a:t>
                      </a:r>
                    </a:p>
                  </a:txBody>
                  <a:tcPr>
                    <a:solidFill>
                      <a:schemeClr val="accent1">
                        <a:lumMod val="40000"/>
                        <a:lumOff val="60000"/>
                      </a:schemeClr>
                    </a:solidFill>
                  </a:tcPr>
                </a:tc>
                <a:tc>
                  <a:txBody>
                    <a:bodyPr/>
                    <a:lstStyle/>
                    <a:p>
                      <a:r>
                        <a:rPr lang="en-US" sz="2000" b="1" dirty="0"/>
                        <a:t>Perusahaan</a:t>
                      </a:r>
                    </a:p>
                  </a:txBody>
                  <a:tcPr>
                    <a:solidFill>
                      <a:schemeClr val="accent1">
                        <a:lumMod val="40000"/>
                        <a:lumOff val="60000"/>
                      </a:schemeClr>
                    </a:solidFill>
                  </a:tcPr>
                </a:tc>
                <a:tc>
                  <a:txBody>
                    <a:bodyPr/>
                    <a:lstStyle/>
                    <a:p>
                      <a:r>
                        <a:rPr lang="en-US" sz="2000" b="1" dirty="0"/>
                        <a:t>Score</a:t>
                      </a:r>
                    </a:p>
                  </a:txBody>
                  <a:tcPr>
                    <a:solidFill>
                      <a:schemeClr val="accent1">
                        <a:lumMod val="40000"/>
                        <a:lumOff val="60000"/>
                      </a:schemeClr>
                    </a:solidFill>
                  </a:tcPr>
                </a:tc>
                <a:tc>
                  <a:txBody>
                    <a:bodyPr/>
                    <a:lstStyle/>
                    <a:p>
                      <a:r>
                        <a:rPr lang="en-US" sz="2000" b="1" dirty="0" err="1"/>
                        <a:t>Pangsa</a:t>
                      </a:r>
                      <a:r>
                        <a:rPr lang="en-US" sz="2000" b="1" dirty="0"/>
                        <a:t> (%)</a:t>
                      </a:r>
                    </a:p>
                  </a:txBody>
                  <a:tcPr>
                    <a:solidFill>
                      <a:schemeClr val="accent1">
                        <a:lumMod val="40000"/>
                        <a:lumOff val="60000"/>
                      </a:schemeClr>
                    </a:solidFill>
                  </a:tcPr>
                </a:tc>
                <a:tc>
                  <a:txBody>
                    <a:bodyPr/>
                    <a:lstStyle/>
                    <a:p>
                      <a:r>
                        <a:rPr lang="en-US" sz="2000" b="1" dirty="0"/>
                        <a:t>Risk Density (/1000)</a:t>
                      </a:r>
                    </a:p>
                  </a:txBody>
                  <a:tcPr>
                    <a:solidFill>
                      <a:schemeClr val="accent1">
                        <a:lumMod val="40000"/>
                        <a:lumOff val="60000"/>
                      </a:schemeClr>
                    </a:solidFill>
                  </a:tcPr>
                </a:tc>
                <a:tc>
                  <a:txBody>
                    <a:bodyPr/>
                    <a:lstStyle/>
                    <a:p>
                      <a:r>
                        <a:rPr lang="en-US" sz="2000" b="1" dirty="0" err="1"/>
                        <a:t>Kategori</a:t>
                      </a:r>
                      <a:endParaRPr lang="en-US" sz="2000" b="1" dirty="0"/>
                    </a:p>
                  </a:txBody>
                  <a:tcPr>
                    <a:solidFill>
                      <a:schemeClr val="accent1">
                        <a:lumMod val="40000"/>
                        <a:lumOff val="60000"/>
                      </a:schemeClr>
                    </a:solidFill>
                  </a:tcPr>
                </a:tc>
                <a:extLst>
                  <a:ext uri="{0D108BD9-81ED-4DB2-BD59-A6C34878D82A}">
                    <a16:rowId xmlns:a16="http://schemas.microsoft.com/office/drawing/2014/main" val="66452967"/>
                  </a:ext>
                </a:extLst>
              </a:tr>
              <a:tr h="370840">
                <a:tc>
                  <a:txBody>
                    <a:bodyPr/>
                    <a:lstStyle/>
                    <a:p>
                      <a:r>
                        <a:rPr lang="en-US" dirty="0"/>
                        <a:t>Jatim</a:t>
                      </a:r>
                    </a:p>
                  </a:txBody>
                  <a:tcPr/>
                </a:tc>
                <a:tc>
                  <a:txBody>
                    <a:bodyPr/>
                    <a:lstStyle/>
                    <a:p>
                      <a:r>
                        <a:rPr lang="en-US" dirty="0"/>
                        <a:t>639</a:t>
                      </a:r>
                    </a:p>
                  </a:txBody>
                  <a:tcPr/>
                </a:tc>
                <a:tc>
                  <a:txBody>
                    <a:bodyPr/>
                    <a:lstStyle/>
                    <a:p>
                      <a:r>
                        <a:rPr lang="en-US" dirty="0"/>
                        <a:t>24.564</a:t>
                      </a:r>
                    </a:p>
                  </a:txBody>
                  <a:tcPr/>
                </a:tc>
                <a:tc>
                  <a:txBody>
                    <a:bodyPr/>
                    <a:lstStyle/>
                    <a:p>
                      <a:r>
                        <a:rPr lang="en-US" dirty="0"/>
                        <a:t>25.203</a:t>
                      </a:r>
                    </a:p>
                  </a:txBody>
                  <a:tcPr/>
                </a:tc>
                <a:tc>
                  <a:txBody>
                    <a:bodyPr/>
                    <a:lstStyle/>
                    <a:p>
                      <a:r>
                        <a:rPr lang="en-US" dirty="0"/>
                        <a:t>37,3</a:t>
                      </a:r>
                    </a:p>
                  </a:txBody>
                  <a:tcPr/>
                </a:tc>
                <a:tc>
                  <a:txBody>
                    <a:bodyPr/>
                    <a:lstStyle/>
                    <a:p>
                      <a:r>
                        <a:rPr lang="en-US" b="0" dirty="0"/>
                        <a:t>26.0</a:t>
                      </a:r>
                    </a:p>
                  </a:txBody>
                  <a:tcPr/>
                </a:tc>
                <a:tc>
                  <a:txBody>
                    <a:bodyPr/>
                    <a:lstStyle/>
                    <a:p>
                      <a:r>
                        <a:rPr lang="en-US" dirty="0"/>
                        <a:t>Sangat Tinggi</a:t>
                      </a:r>
                    </a:p>
                  </a:txBody>
                  <a:tcPr>
                    <a:solidFill>
                      <a:schemeClr val="accent1">
                        <a:lumMod val="60000"/>
                        <a:lumOff val="40000"/>
                      </a:schemeClr>
                    </a:solidFill>
                  </a:tcPr>
                </a:tc>
                <a:extLst>
                  <a:ext uri="{0D108BD9-81ED-4DB2-BD59-A6C34878D82A}">
                    <a16:rowId xmlns:a16="http://schemas.microsoft.com/office/drawing/2014/main" val="2781754382"/>
                  </a:ext>
                </a:extLst>
              </a:tr>
              <a:tr h="370840">
                <a:tc>
                  <a:txBody>
                    <a:bodyPr/>
                    <a:lstStyle/>
                    <a:p>
                      <a:r>
                        <a:rPr lang="en-US" dirty="0"/>
                        <a:t>Jabar</a:t>
                      </a:r>
                    </a:p>
                  </a:txBody>
                  <a:tcPr/>
                </a:tc>
                <a:tc>
                  <a:txBody>
                    <a:bodyPr/>
                    <a:lstStyle/>
                    <a:p>
                      <a:r>
                        <a:rPr lang="en-US" dirty="0"/>
                        <a:t>710</a:t>
                      </a:r>
                    </a:p>
                  </a:txBody>
                  <a:tcPr/>
                </a:tc>
                <a:tc>
                  <a:txBody>
                    <a:bodyPr/>
                    <a:lstStyle/>
                    <a:p>
                      <a:r>
                        <a:rPr lang="en-US" dirty="0"/>
                        <a:t>17.906</a:t>
                      </a:r>
                    </a:p>
                  </a:txBody>
                  <a:tcPr/>
                </a:tc>
                <a:tc>
                  <a:txBody>
                    <a:bodyPr/>
                    <a:lstStyle/>
                    <a:p>
                      <a:r>
                        <a:rPr lang="en-US" dirty="0"/>
                        <a:t>18.616</a:t>
                      </a:r>
                    </a:p>
                  </a:txBody>
                  <a:tcPr/>
                </a:tc>
                <a:tc>
                  <a:txBody>
                    <a:bodyPr/>
                    <a:lstStyle/>
                    <a:p>
                      <a:r>
                        <a:rPr lang="en-US" dirty="0"/>
                        <a:t>27,6</a:t>
                      </a:r>
                    </a:p>
                  </a:txBody>
                  <a:tcPr/>
                </a:tc>
                <a:tc>
                  <a:txBody>
                    <a:bodyPr/>
                    <a:lstStyle/>
                    <a:p>
                      <a:r>
                        <a:rPr lang="en-US" b="1" dirty="0"/>
                        <a:t>39.6 !</a:t>
                      </a:r>
                    </a:p>
                  </a:txBody>
                  <a:tcPr/>
                </a:tc>
                <a:tc>
                  <a:txBody>
                    <a:bodyPr/>
                    <a:lstStyle/>
                    <a:p>
                      <a:r>
                        <a:rPr lang="en-US" dirty="0"/>
                        <a:t>Tinggi</a:t>
                      </a:r>
                    </a:p>
                  </a:txBody>
                  <a:tcPr/>
                </a:tc>
                <a:extLst>
                  <a:ext uri="{0D108BD9-81ED-4DB2-BD59-A6C34878D82A}">
                    <a16:rowId xmlns:a16="http://schemas.microsoft.com/office/drawing/2014/main" val="3310049539"/>
                  </a:ext>
                </a:extLst>
              </a:tr>
              <a:tr h="370840">
                <a:tc>
                  <a:txBody>
                    <a:bodyPr/>
                    <a:lstStyle/>
                    <a:p>
                      <a:r>
                        <a:rPr lang="en-US" dirty="0" err="1"/>
                        <a:t>Jateng</a:t>
                      </a:r>
                      <a:endParaRPr lang="en-US" dirty="0"/>
                    </a:p>
                  </a:txBody>
                  <a:tcPr/>
                </a:tc>
                <a:tc>
                  <a:txBody>
                    <a:bodyPr/>
                    <a:lstStyle/>
                    <a:p>
                      <a:r>
                        <a:rPr lang="en-US" dirty="0"/>
                        <a:t>315</a:t>
                      </a:r>
                    </a:p>
                  </a:txBody>
                  <a:tcPr/>
                </a:tc>
                <a:tc>
                  <a:txBody>
                    <a:bodyPr/>
                    <a:lstStyle/>
                    <a:p>
                      <a:r>
                        <a:rPr lang="en-US" dirty="0"/>
                        <a:t>15.290</a:t>
                      </a:r>
                    </a:p>
                  </a:txBody>
                  <a:tcPr/>
                </a:tc>
                <a:tc>
                  <a:txBody>
                    <a:bodyPr/>
                    <a:lstStyle/>
                    <a:p>
                      <a:r>
                        <a:rPr lang="en-US" dirty="0"/>
                        <a:t>15.605</a:t>
                      </a:r>
                    </a:p>
                  </a:txBody>
                  <a:tcPr/>
                </a:tc>
                <a:tc>
                  <a:txBody>
                    <a:bodyPr/>
                    <a:lstStyle/>
                    <a:p>
                      <a:r>
                        <a:rPr lang="en-US" dirty="0"/>
                        <a:t>23,1</a:t>
                      </a:r>
                    </a:p>
                  </a:txBody>
                  <a:tcPr/>
                </a:tc>
                <a:tc>
                  <a:txBody>
                    <a:bodyPr/>
                    <a:lstStyle/>
                    <a:p>
                      <a:r>
                        <a:rPr lang="en-US" b="0" dirty="0"/>
                        <a:t>20.5</a:t>
                      </a:r>
                    </a:p>
                  </a:txBody>
                  <a:tcPr/>
                </a:tc>
                <a:tc>
                  <a:txBody>
                    <a:bodyPr/>
                    <a:lstStyle/>
                    <a:p>
                      <a:r>
                        <a:rPr lang="en-US" dirty="0"/>
                        <a:t>Sedang</a:t>
                      </a:r>
                    </a:p>
                  </a:txBody>
                  <a:tcPr/>
                </a:tc>
                <a:extLst>
                  <a:ext uri="{0D108BD9-81ED-4DB2-BD59-A6C34878D82A}">
                    <a16:rowId xmlns:a16="http://schemas.microsoft.com/office/drawing/2014/main" val="621285698"/>
                  </a:ext>
                </a:extLst>
              </a:tr>
              <a:tr h="370840">
                <a:tc>
                  <a:txBody>
                    <a:bodyPr/>
                    <a:lstStyle/>
                    <a:p>
                      <a:r>
                        <a:rPr lang="en-US" dirty="0"/>
                        <a:t>Banten</a:t>
                      </a:r>
                    </a:p>
                  </a:txBody>
                  <a:tcPr/>
                </a:tc>
                <a:tc>
                  <a:txBody>
                    <a:bodyPr/>
                    <a:lstStyle/>
                    <a:p>
                      <a:r>
                        <a:rPr lang="en-US" dirty="0"/>
                        <a:t>343</a:t>
                      </a:r>
                    </a:p>
                  </a:txBody>
                  <a:tcPr/>
                </a:tc>
                <a:tc>
                  <a:txBody>
                    <a:bodyPr/>
                    <a:lstStyle/>
                    <a:p>
                      <a:r>
                        <a:rPr lang="en-US" dirty="0"/>
                        <a:t>7.722</a:t>
                      </a:r>
                    </a:p>
                  </a:txBody>
                  <a:tcPr/>
                </a:tc>
                <a:tc>
                  <a:txBody>
                    <a:bodyPr/>
                    <a:lstStyle/>
                    <a:p>
                      <a:r>
                        <a:rPr lang="en-US" dirty="0"/>
                        <a:t>8.065</a:t>
                      </a:r>
                    </a:p>
                  </a:txBody>
                  <a:tcPr/>
                </a:tc>
                <a:tc>
                  <a:txBody>
                    <a:bodyPr/>
                    <a:lstStyle/>
                    <a:p>
                      <a:r>
                        <a:rPr lang="en-US" dirty="0"/>
                        <a:t>11,9</a:t>
                      </a:r>
                    </a:p>
                  </a:txBody>
                  <a:tcPr/>
                </a:tc>
                <a:tc>
                  <a:txBody>
                    <a:bodyPr/>
                    <a:lstStyle/>
                    <a:p>
                      <a:r>
                        <a:rPr lang="en-US" b="1" dirty="0"/>
                        <a:t>44.4 !!</a:t>
                      </a:r>
                    </a:p>
                  </a:txBody>
                  <a:tcPr/>
                </a:tc>
                <a:tc>
                  <a:txBody>
                    <a:bodyPr/>
                    <a:lstStyle/>
                    <a:p>
                      <a:r>
                        <a:rPr lang="en-US" dirty="0"/>
                        <a:t>Kecil + </a:t>
                      </a:r>
                      <a:r>
                        <a:rPr lang="en-US" dirty="0" err="1"/>
                        <a:t>Resiko</a:t>
                      </a:r>
                      <a:endParaRPr lang="en-US" dirty="0"/>
                    </a:p>
                  </a:txBody>
                  <a:tcPr/>
                </a:tc>
                <a:extLst>
                  <a:ext uri="{0D108BD9-81ED-4DB2-BD59-A6C34878D82A}">
                    <a16:rowId xmlns:a16="http://schemas.microsoft.com/office/drawing/2014/main" val="1640651208"/>
                  </a:ext>
                </a:extLst>
              </a:tr>
            </a:tbl>
          </a:graphicData>
        </a:graphic>
      </p:graphicFrame>
      <p:sp>
        <p:nvSpPr>
          <p:cNvPr id="6" name="Rectangle: Rounded Corners 5">
            <a:extLst>
              <a:ext uri="{FF2B5EF4-FFF2-40B4-BE49-F238E27FC236}">
                <a16:creationId xmlns:a16="http://schemas.microsoft.com/office/drawing/2014/main" id="{534C730A-661A-1D3A-293E-3C889BCDA62A}"/>
              </a:ext>
            </a:extLst>
          </p:cNvPr>
          <p:cNvSpPr/>
          <p:nvPr/>
        </p:nvSpPr>
        <p:spPr>
          <a:xfrm>
            <a:off x="314324" y="4754764"/>
            <a:ext cx="5591176" cy="159735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      Insight </a:t>
            </a:r>
          </a:p>
          <a:p>
            <a:endParaRPr lang="en-US" sz="1600" b="1" dirty="0">
              <a:solidFill>
                <a:schemeClr val="tx1"/>
              </a:solidFill>
            </a:endParaRPr>
          </a:p>
          <a:p>
            <a:r>
              <a:rPr lang="en-US" sz="1600" dirty="0">
                <a:solidFill>
                  <a:schemeClr val="tx1"/>
                </a:solidFill>
              </a:rPr>
              <a:t>Jatim </a:t>
            </a:r>
            <a:r>
              <a:rPr lang="en-US" sz="1600" dirty="0" err="1">
                <a:solidFill>
                  <a:schemeClr val="tx1"/>
                </a:solidFill>
              </a:rPr>
              <a:t>unggul</a:t>
            </a:r>
            <a:r>
              <a:rPr lang="en-US" sz="1600" dirty="0">
                <a:solidFill>
                  <a:schemeClr val="tx1"/>
                </a:solidFill>
              </a:rPr>
              <a:t> </a:t>
            </a:r>
            <a:r>
              <a:rPr lang="en-US" sz="1600" dirty="0" err="1">
                <a:solidFill>
                  <a:schemeClr val="tx1"/>
                </a:solidFill>
              </a:rPr>
              <a:t>karena</a:t>
            </a:r>
            <a:r>
              <a:rPr lang="en-US" sz="1600" dirty="0">
                <a:solidFill>
                  <a:schemeClr val="tx1"/>
                </a:solidFill>
              </a:rPr>
              <a:t> </a:t>
            </a:r>
            <a:r>
              <a:rPr lang="en-US" sz="1600" dirty="0" err="1">
                <a:solidFill>
                  <a:schemeClr val="tx1"/>
                </a:solidFill>
              </a:rPr>
              <a:t>jumlah</a:t>
            </a:r>
            <a:r>
              <a:rPr lang="en-US" sz="1600" dirty="0">
                <a:solidFill>
                  <a:schemeClr val="tx1"/>
                </a:solidFill>
              </a:rPr>
              <a:t> Perusahaan </a:t>
            </a:r>
            <a:r>
              <a:rPr lang="en-US" sz="1600" dirty="0" err="1">
                <a:solidFill>
                  <a:schemeClr val="tx1"/>
                </a:solidFill>
              </a:rPr>
              <a:t>besar</a:t>
            </a:r>
            <a:r>
              <a:rPr lang="en-US" sz="1600" dirty="0">
                <a:solidFill>
                  <a:schemeClr val="tx1"/>
                </a:solidFill>
              </a:rPr>
              <a:t>, </a:t>
            </a:r>
            <a:r>
              <a:rPr lang="en-US" sz="1600" dirty="0" err="1">
                <a:solidFill>
                  <a:schemeClr val="tx1"/>
                </a:solidFill>
              </a:rPr>
              <a:t>bukan</a:t>
            </a:r>
            <a:r>
              <a:rPr lang="en-US" sz="1600" dirty="0">
                <a:solidFill>
                  <a:schemeClr val="tx1"/>
                </a:solidFill>
              </a:rPr>
              <a:t> </a:t>
            </a:r>
            <a:r>
              <a:rPr lang="en-US" sz="1600" dirty="0" err="1">
                <a:solidFill>
                  <a:schemeClr val="tx1"/>
                </a:solidFill>
              </a:rPr>
              <a:t>karena</a:t>
            </a:r>
            <a:r>
              <a:rPr lang="en-US" sz="1600" dirty="0">
                <a:solidFill>
                  <a:schemeClr val="tx1"/>
                </a:solidFill>
              </a:rPr>
              <a:t> </a:t>
            </a:r>
            <a:r>
              <a:rPr lang="en-US" sz="1600" dirty="0" err="1">
                <a:solidFill>
                  <a:schemeClr val="tx1"/>
                </a:solidFill>
              </a:rPr>
              <a:t>kecelakaan</a:t>
            </a:r>
            <a:r>
              <a:rPr lang="en-US" sz="1600" dirty="0">
                <a:solidFill>
                  <a:schemeClr val="tx1"/>
                </a:solidFill>
              </a:rPr>
              <a:t> </a:t>
            </a:r>
            <a:r>
              <a:rPr lang="en-US" sz="1600" dirty="0" err="1">
                <a:solidFill>
                  <a:schemeClr val="tx1"/>
                </a:solidFill>
              </a:rPr>
              <a:t>tertinggi</a:t>
            </a:r>
            <a:r>
              <a:rPr lang="en-US" sz="1600" dirty="0">
                <a:solidFill>
                  <a:schemeClr val="tx1"/>
                </a:solidFill>
              </a:rPr>
              <a:t>. Banten punya risk density </a:t>
            </a:r>
            <a:r>
              <a:rPr lang="en-US" sz="1600" dirty="0" err="1">
                <a:solidFill>
                  <a:schemeClr val="tx1"/>
                </a:solidFill>
              </a:rPr>
              <a:t>tertinggi</a:t>
            </a:r>
            <a:r>
              <a:rPr lang="en-US" sz="1600" dirty="0">
                <a:solidFill>
                  <a:schemeClr val="tx1"/>
                </a:solidFill>
              </a:rPr>
              <a:t> (44.4/1000) </a:t>
            </a:r>
            <a:r>
              <a:rPr lang="en-US" sz="1600" dirty="0" err="1">
                <a:solidFill>
                  <a:schemeClr val="tx1"/>
                </a:solidFill>
              </a:rPr>
              <a:t>potensi</a:t>
            </a:r>
            <a:r>
              <a:rPr lang="en-US" sz="1600" dirty="0">
                <a:solidFill>
                  <a:schemeClr val="tx1"/>
                </a:solidFill>
              </a:rPr>
              <a:t> </a:t>
            </a:r>
            <a:r>
              <a:rPr lang="en-US" sz="1600" dirty="0" err="1">
                <a:solidFill>
                  <a:schemeClr val="tx1"/>
                </a:solidFill>
              </a:rPr>
              <a:t>urgensi</a:t>
            </a:r>
            <a:r>
              <a:rPr lang="en-US" sz="1600" dirty="0">
                <a:solidFill>
                  <a:schemeClr val="tx1"/>
                </a:solidFill>
              </a:rPr>
              <a:t> </a:t>
            </a:r>
            <a:r>
              <a:rPr lang="en-US" sz="1600" dirty="0" err="1">
                <a:solidFill>
                  <a:schemeClr val="tx1"/>
                </a:solidFill>
              </a:rPr>
              <a:t>tinggi</a:t>
            </a:r>
            <a:endParaRPr lang="en-US" sz="1600" dirty="0">
              <a:solidFill>
                <a:schemeClr val="tx1"/>
              </a:solidFill>
            </a:endParaRPr>
          </a:p>
        </p:txBody>
      </p:sp>
      <p:sp>
        <p:nvSpPr>
          <p:cNvPr id="8" name="Rectangle: Rounded Corners 7">
            <a:extLst>
              <a:ext uri="{FF2B5EF4-FFF2-40B4-BE49-F238E27FC236}">
                <a16:creationId xmlns:a16="http://schemas.microsoft.com/office/drawing/2014/main" id="{4FD9B698-F15E-C271-9EE4-F5DBECED6B8A}"/>
              </a:ext>
            </a:extLst>
          </p:cNvPr>
          <p:cNvSpPr/>
          <p:nvPr/>
        </p:nvSpPr>
        <p:spPr>
          <a:xfrm>
            <a:off x="6496051" y="4754763"/>
            <a:ext cx="5381624" cy="159735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         </a:t>
            </a:r>
            <a:r>
              <a:rPr lang="en-US" sz="1600" b="1" dirty="0" err="1">
                <a:solidFill>
                  <a:schemeClr val="tx1"/>
                </a:solidFill>
              </a:rPr>
              <a:t>Rekomendasi</a:t>
            </a:r>
            <a:endParaRPr lang="en-US" sz="1600" b="1" dirty="0">
              <a:solidFill>
                <a:schemeClr val="tx1"/>
              </a:solidFill>
            </a:endParaRPr>
          </a:p>
          <a:p>
            <a:endParaRPr lang="en-US" sz="1600" b="1" dirty="0">
              <a:solidFill>
                <a:schemeClr val="tx1"/>
              </a:solidFill>
            </a:endParaRPr>
          </a:p>
          <a:p>
            <a:r>
              <a:rPr lang="en-US" sz="1600" dirty="0" err="1">
                <a:solidFill>
                  <a:schemeClr val="tx1"/>
                </a:solidFill>
              </a:rPr>
              <a:t>Jadikan</a:t>
            </a:r>
            <a:r>
              <a:rPr lang="en-US" sz="1600" dirty="0">
                <a:solidFill>
                  <a:schemeClr val="tx1"/>
                </a:solidFill>
              </a:rPr>
              <a:t> Jatim </a:t>
            </a:r>
            <a:r>
              <a:rPr lang="en-US" sz="1600" dirty="0" err="1">
                <a:solidFill>
                  <a:schemeClr val="tx1"/>
                </a:solidFill>
              </a:rPr>
              <a:t>pusat</a:t>
            </a:r>
            <a:r>
              <a:rPr lang="en-US" sz="1600" dirty="0">
                <a:solidFill>
                  <a:schemeClr val="tx1"/>
                </a:solidFill>
              </a:rPr>
              <a:t> </a:t>
            </a:r>
            <a:r>
              <a:rPr lang="en-US" sz="1600" dirty="0" err="1">
                <a:solidFill>
                  <a:schemeClr val="tx1"/>
                </a:solidFill>
              </a:rPr>
              <a:t>kampanye</a:t>
            </a:r>
            <a:r>
              <a:rPr lang="en-US" sz="1600" dirty="0">
                <a:solidFill>
                  <a:schemeClr val="tx1"/>
                </a:solidFill>
              </a:rPr>
              <a:t> AI safety dan </a:t>
            </a:r>
            <a:r>
              <a:rPr lang="en-US" sz="1600" dirty="0" err="1">
                <a:solidFill>
                  <a:schemeClr val="tx1"/>
                </a:solidFill>
              </a:rPr>
              <a:t>gunakan</a:t>
            </a:r>
            <a:r>
              <a:rPr lang="en-US" sz="1600" dirty="0">
                <a:solidFill>
                  <a:schemeClr val="tx1"/>
                </a:solidFill>
              </a:rPr>
              <a:t> </a:t>
            </a:r>
            <a:r>
              <a:rPr lang="en-US" sz="1600" dirty="0" err="1">
                <a:solidFill>
                  <a:schemeClr val="tx1"/>
                </a:solidFill>
              </a:rPr>
              <a:t>pendekatan</a:t>
            </a:r>
            <a:r>
              <a:rPr lang="en-US" sz="1600" dirty="0">
                <a:solidFill>
                  <a:schemeClr val="tx1"/>
                </a:solidFill>
              </a:rPr>
              <a:t> “Risk reduction” untuk marketing di Banten dan Jabar.</a:t>
            </a:r>
          </a:p>
        </p:txBody>
      </p:sp>
      <p:sp>
        <p:nvSpPr>
          <p:cNvPr id="9" name="TextBox 8">
            <a:extLst>
              <a:ext uri="{FF2B5EF4-FFF2-40B4-BE49-F238E27FC236}">
                <a16:creationId xmlns:a16="http://schemas.microsoft.com/office/drawing/2014/main" id="{4475BF56-2BE6-FB3B-5E93-CD4358AB84F5}"/>
              </a:ext>
            </a:extLst>
          </p:cNvPr>
          <p:cNvSpPr txBox="1"/>
          <p:nvPr/>
        </p:nvSpPr>
        <p:spPr>
          <a:xfrm>
            <a:off x="6229350" y="6515100"/>
            <a:ext cx="6286500" cy="369332"/>
          </a:xfrm>
          <a:prstGeom prst="rect">
            <a:avLst/>
          </a:prstGeom>
          <a:noFill/>
        </p:spPr>
        <p:txBody>
          <a:bodyPr wrap="square" rtlCol="0">
            <a:spAutoFit/>
          </a:bodyPr>
          <a:lstStyle/>
          <a:p>
            <a:r>
              <a:rPr lang="en-US" dirty="0" err="1">
                <a:solidFill>
                  <a:schemeClr val="bg2"/>
                </a:solidFill>
              </a:rPr>
              <a:t>Sumber</a:t>
            </a:r>
            <a:r>
              <a:rPr lang="en-US" dirty="0">
                <a:solidFill>
                  <a:schemeClr val="bg2"/>
                </a:solidFill>
              </a:rPr>
              <a:t>: BPJS </a:t>
            </a:r>
            <a:r>
              <a:rPr lang="en-US" dirty="0" err="1">
                <a:solidFill>
                  <a:schemeClr val="bg2"/>
                </a:solidFill>
              </a:rPr>
              <a:t>Ketenagakerjaan</a:t>
            </a:r>
            <a:r>
              <a:rPr lang="en-US" dirty="0">
                <a:solidFill>
                  <a:schemeClr val="bg2"/>
                </a:solidFill>
              </a:rPr>
              <a:t> &amp; BPS per </a:t>
            </a:r>
            <a:r>
              <a:rPr lang="en-US" dirty="0" err="1">
                <a:solidFill>
                  <a:schemeClr val="bg2"/>
                </a:solidFill>
              </a:rPr>
              <a:t>Provinsi</a:t>
            </a:r>
            <a:r>
              <a:rPr lang="en-US" dirty="0">
                <a:solidFill>
                  <a:schemeClr val="bg2"/>
                </a:solidFill>
              </a:rPr>
              <a:t> 2025</a:t>
            </a:r>
          </a:p>
        </p:txBody>
      </p:sp>
      <p:sp>
        <p:nvSpPr>
          <p:cNvPr id="5" name="Text 5">
            <a:extLst>
              <a:ext uri="{FF2B5EF4-FFF2-40B4-BE49-F238E27FC236}">
                <a16:creationId xmlns:a16="http://schemas.microsoft.com/office/drawing/2014/main" id="{F9F3D299-EA7A-2D03-5406-93FFF331A851}"/>
              </a:ext>
            </a:extLst>
          </p:cNvPr>
          <p:cNvSpPr/>
          <p:nvPr/>
        </p:nvSpPr>
        <p:spPr>
          <a:xfrm>
            <a:off x="457200" y="4754764"/>
            <a:ext cx="457200" cy="457200"/>
          </a:xfrm>
          <a:prstGeom prst="rect">
            <a:avLst/>
          </a:prstGeom>
          <a:noFill/>
          <a:ln/>
        </p:spPr>
        <p:txBody>
          <a:bodyPr wrap="square" lIns="0" tIns="0" rIns="0" bIns="0" rtlCol="0" anchor="ctr"/>
          <a:lstStyle/>
          <a:p>
            <a:pPr marL="0" indent="0" algn="ctr">
              <a:buNone/>
            </a:pPr>
            <a:r>
              <a:rPr lang="en-US" sz="2200" b="1" dirty="0">
                <a:solidFill>
                  <a:srgbClr val="4F46E5"/>
                </a:solidFill>
                <a:latin typeface="Calibri" pitchFamily="34" charset="0"/>
                <a:ea typeface="Calibri" pitchFamily="34" charset="-122"/>
                <a:cs typeface="Calibri" pitchFamily="34" charset="-120"/>
              </a:rPr>
              <a:t>💡</a:t>
            </a:r>
            <a:endParaRPr lang="en-US" sz="2200" dirty="0"/>
          </a:p>
        </p:txBody>
      </p:sp>
      <p:sp>
        <p:nvSpPr>
          <p:cNvPr id="10" name="Text 9">
            <a:extLst>
              <a:ext uri="{FF2B5EF4-FFF2-40B4-BE49-F238E27FC236}">
                <a16:creationId xmlns:a16="http://schemas.microsoft.com/office/drawing/2014/main" id="{D9EFA99B-14D3-570C-A1D9-D64849410657}"/>
              </a:ext>
            </a:extLst>
          </p:cNvPr>
          <p:cNvSpPr/>
          <p:nvPr/>
        </p:nvSpPr>
        <p:spPr>
          <a:xfrm>
            <a:off x="6751320" y="4754764"/>
            <a:ext cx="457200" cy="457200"/>
          </a:xfrm>
          <a:prstGeom prst="rect">
            <a:avLst/>
          </a:prstGeom>
          <a:noFill/>
          <a:ln/>
        </p:spPr>
        <p:txBody>
          <a:bodyPr wrap="square" lIns="0" tIns="0" rIns="0" bIns="0" rtlCol="0" anchor="ctr"/>
          <a:lstStyle/>
          <a:p>
            <a:pPr marL="0" indent="0" algn="ctr">
              <a:buNone/>
            </a:pPr>
            <a:r>
              <a:rPr lang="en-US" sz="2200" b="1" dirty="0">
                <a:solidFill>
                  <a:srgbClr val="059669"/>
                </a:solidFill>
                <a:latin typeface="Calibri" pitchFamily="34" charset="0"/>
                <a:ea typeface="Calibri" pitchFamily="34" charset="-122"/>
                <a:cs typeface="Calibri" pitchFamily="34" charset="-120"/>
              </a:rPr>
              <a:t>🎯</a:t>
            </a:r>
            <a:endParaRPr lang="en-US" sz="2200" dirty="0"/>
          </a:p>
        </p:txBody>
      </p:sp>
    </p:spTree>
    <p:extLst>
      <p:ext uri="{BB962C8B-B14F-4D97-AF65-F5344CB8AC3E}">
        <p14:creationId xmlns:p14="http://schemas.microsoft.com/office/powerpoint/2010/main" val="196820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47C57-0D0A-FD34-749F-CEC6BC7FA3D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7CE4D2-8DD8-02C0-324C-C3FBAA31F7D5}"/>
              </a:ext>
            </a:extLst>
          </p:cNvPr>
          <p:cNvSpPr>
            <a:spLocks noGrp="1"/>
          </p:cNvSpPr>
          <p:nvPr>
            <p:ph type="title"/>
          </p:nvPr>
        </p:nvSpPr>
        <p:spPr>
          <a:xfrm>
            <a:off x="680936" y="1695656"/>
            <a:ext cx="4856264" cy="631200"/>
          </a:xfrm>
        </p:spPr>
        <p:txBody>
          <a:bodyPr/>
          <a:lstStyle/>
          <a:p>
            <a:pPr marL="0" indent="0"/>
            <a:r>
              <a:rPr lang="en-US" sz="4800" dirty="0">
                <a:solidFill>
                  <a:schemeClr val="tx1"/>
                </a:solidFill>
                <a:ea typeface="Calibri" pitchFamily="34" charset="-122"/>
                <a:cs typeface="Calibri" pitchFamily="34" charset="-120"/>
              </a:rPr>
              <a:t>Strategy &amp; </a:t>
            </a:r>
            <a:r>
              <a:rPr lang="en-US" sz="4800" dirty="0" err="1">
                <a:solidFill>
                  <a:schemeClr val="tx1"/>
                </a:solidFill>
                <a:ea typeface="Calibri" pitchFamily="34" charset="-122"/>
                <a:cs typeface="Calibri" pitchFamily="34" charset="-120"/>
              </a:rPr>
              <a:t>Prioritas</a:t>
            </a:r>
            <a:r>
              <a:rPr lang="en-US" sz="4800" dirty="0">
                <a:solidFill>
                  <a:schemeClr val="tx1"/>
                </a:solidFill>
                <a:ea typeface="Calibri" pitchFamily="34" charset="-122"/>
                <a:cs typeface="Calibri" pitchFamily="34" charset="-120"/>
              </a:rPr>
              <a:t> Pasar</a:t>
            </a:r>
            <a:endParaRPr lang="en-US" sz="4800" dirty="0">
              <a:solidFill>
                <a:schemeClr val="tx1"/>
              </a:solidFill>
            </a:endParaRPr>
          </a:p>
        </p:txBody>
      </p:sp>
      <p:sp>
        <p:nvSpPr>
          <p:cNvPr id="8" name="Text Placeholder 2">
            <a:extLst>
              <a:ext uri="{FF2B5EF4-FFF2-40B4-BE49-F238E27FC236}">
                <a16:creationId xmlns:a16="http://schemas.microsoft.com/office/drawing/2014/main" id="{18C7A5B6-5FBC-9E98-A4F5-30604765C3FD}"/>
              </a:ext>
            </a:extLst>
          </p:cNvPr>
          <p:cNvSpPr>
            <a:spLocks noGrp="1"/>
          </p:cNvSpPr>
          <p:nvPr>
            <p:ph type="body" sz="quarter" idx="10"/>
          </p:nvPr>
        </p:nvSpPr>
        <p:spPr>
          <a:xfrm>
            <a:off x="8778011" y="3733802"/>
            <a:ext cx="2489200" cy="3124198"/>
          </a:xfrm>
          <a:solidFill>
            <a:schemeClr val="accent1">
              <a:lumMod val="60000"/>
              <a:lumOff val="40000"/>
            </a:schemeClr>
          </a:solidFill>
        </p:spPr>
        <p:txBody>
          <a:bodyPr/>
          <a:lstStyle/>
          <a:p>
            <a:r>
              <a:rPr lang="en-US" dirty="0">
                <a:solidFill>
                  <a:schemeClr val="tx1">
                    <a:alpha val="20000"/>
                  </a:schemeClr>
                </a:solidFill>
              </a:rPr>
              <a:t>3</a:t>
            </a:r>
          </a:p>
        </p:txBody>
      </p:sp>
      <p:sp>
        <p:nvSpPr>
          <p:cNvPr id="3" name="Text 2">
            <a:extLst>
              <a:ext uri="{FF2B5EF4-FFF2-40B4-BE49-F238E27FC236}">
                <a16:creationId xmlns:a16="http://schemas.microsoft.com/office/drawing/2014/main" id="{B00A6831-12C3-24FA-2EE7-E947AFF85FCA}"/>
              </a:ext>
            </a:extLst>
          </p:cNvPr>
          <p:cNvSpPr/>
          <p:nvPr/>
        </p:nvSpPr>
        <p:spPr>
          <a:xfrm>
            <a:off x="185636" y="3076389"/>
            <a:ext cx="6217920" cy="640080"/>
          </a:xfrm>
          <a:prstGeom prst="rect">
            <a:avLst/>
          </a:prstGeom>
          <a:noFill/>
          <a:ln/>
        </p:spPr>
        <p:txBody>
          <a:bodyPr wrap="square" rtlCol="0" anchor="ctr"/>
          <a:lstStyle/>
          <a:p>
            <a:r>
              <a:rPr lang="en-US" sz="1600" dirty="0" err="1">
                <a:solidFill>
                  <a:schemeClr val="accent1"/>
                </a:solidFill>
              </a:rPr>
              <a:t>Prioritas</a:t>
            </a:r>
            <a:r>
              <a:rPr lang="en-US" sz="1600" dirty="0">
                <a:solidFill>
                  <a:schemeClr val="accent1"/>
                </a:solidFill>
              </a:rPr>
              <a:t> B2B &amp; </a:t>
            </a:r>
            <a:r>
              <a:rPr lang="en-US" sz="1600" dirty="0" err="1">
                <a:solidFill>
                  <a:schemeClr val="accent1"/>
                </a:solidFill>
              </a:rPr>
              <a:t>Segmentasi</a:t>
            </a:r>
            <a:r>
              <a:rPr lang="en-US" sz="1600" dirty="0">
                <a:solidFill>
                  <a:schemeClr val="accent1"/>
                </a:solidFill>
              </a:rPr>
              <a:t> Pasar </a:t>
            </a:r>
            <a:r>
              <a:rPr lang="en-US" sz="1600" dirty="0" err="1">
                <a:solidFill>
                  <a:schemeClr val="accent1"/>
                </a:solidFill>
              </a:rPr>
              <a:t>Konstruksi</a:t>
            </a:r>
            <a:r>
              <a:rPr lang="en-US" sz="1600" dirty="0">
                <a:solidFill>
                  <a:schemeClr val="accent1"/>
                </a:solidFill>
              </a:rPr>
              <a:t> di Pulau Jawa</a:t>
            </a:r>
          </a:p>
        </p:txBody>
      </p:sp>
    </p:spTree>
    <p:extLst>
      <p:ext uri="{BB962C8B-B14F-4D97-AF65-F5344CB8AC3E}">
        <p14:creationId xmlns:p14="http://schemas.microsoft.com/office/powerpoint/2010/main" val="1361361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Skor Prioritas B2B per Provinsi (Weighted Scoring Model)</a:t>
            </a:r>
            <a:endParaRPr lang="en-US" sz="2400" dirty="0"/>
          </a:p>
        </p:txBody>
      </p:sp>
      <p:sp>
        <p:nvSpPr>
          <p:cNvPr id="4" name="Shape 2"/>
          <p:cNvSpPr/>
          <p:nvPr/>
        </p:nvSpPr>
        <p:spPr>
          <a:xfrm>
            <a:off x="426720" y="755904"/>
            <a:ext cx="11338560" cy="585216"/>
          </a:xfrm>
          <a:prstGeom prst="roundRect">
            <a:avLst>
              <a:gd name="adj" fmla="val 20833"/>
            </a:avLst>
          </a:prstGeom>
          <a:solidFill>
            <a:schemeClr val="accent1">
              <a:lumMod val="40000"/>
              <a:lumOff val="60000"/>
            </a:schemeClr>
          </a:solidFill>
          <a:ln/>
        </p:spPr>
        <p:txBody>
          <a:bodyPr/>
          <a:lstStyle/>
          <a:p>
            <a:endParaRPr lang="en-US" sz="2400"/>
          </a:p>
        </p:txBody>
      </p:sp>
      <p:sp>
        <p:nvSpPr>
          <p:cNvPr id="5" name="Text 3"/>
          <p:cNvSpPr/>
          <p:nvPr/>
        </p:nvSpPr>
        <p:spPr>
          <a:xfrm>
            <a:off x="609600" y="755904"/>
            <a:ext cx="10972800" cy="585216"/>
          </a:xfrm>
          <a:prstGeom prst="rect">
            <a:avLst/>
          </a:prstGeom>
          <a:noFill/>
          <a:ln/>
        </p:spPr>
        <p:txBody>
          <a:bodyPr wrap="square" rtlCol="0" anchor="ctr"/>
          <a:lstStyle/>
          <a:p>
            <a:pPr algn="ctr"/>
            <a:r>
              <a:rPr lang="en-US" sz="1600" b="1" dirty="0" err="1">
                <a:solidFill>
                  <a:srgbClr val="3B7579"/>
                </a:solidFill>
                <a:latin typeface="Calibri" pitchFamily="34" charset="0"/>
                <a:ea typeface="Calibri" pitchFamily="34" charset="-122"/>
                <a:cs typeface="Calibri" pitchFamily="34" charset="-120"/>
              </a:rPr>
              <a:t>Bobot</a:t>
            </a:r>
            <a:r>
              <a:rPr lang="en-US" sz="1600" b="1" dirty="0">
                <a:solidFill>
                  <a:srgbClr val="3B7579"/>
                </a:solidFill>
                <a:latin typeface="Calibri" pitchFamily="34" charset="0"/>
                <a:ea typeface="Calibri" pitchFamily="34" charset="-122"/>
                <a:cs typeface="Calibri" pitchFamily="34" charset="-120"/>
              </a:rPr>
              <a:t> Scoring = Opportunity Score (40%) + Market Share (30%) + Risk Density (30%) → Normalisasi 0-100</a:t>
            </a:r>
            <a:endParaRPr lang="en-US" sz="1600" dirty="0">
              <a:solidFill>
                <a:srgbClr val="3B7579"/>
              </a:solidFill>
            </a:endParaRPr>
          </a:p>
        </p:txBody>
      </p:sp>
      <p:graphicFrame>
        <p:nvGraphicFramePr>
          <p:cNvPr id="6" name="Chart 0"/>
          <p:cNvGraphicFramePr/>
          <p:nvPr>
            <p:extLst>
              <p:ext uri="{D42A27DB-BD31-4B8C-83A1-F6EECF244321}">
                <p14:modId xmlns:p14="http://schemas.microsoft.com/office/powerpoint/2010/main" val="3159985628"/>
              </p:ext>
            </p:extLst>
          </p:nvPr>
        </p:nvGraphicFramePr>
        <p:xfrm>
          <a:off x="365760" y="1438656"/>
          <a:ext cx="7071360" cy="4145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802880" y="1438656"/>
            <a:ext cx="3962400" cy="1219200"/>
          </a:xfrm>
          <a:prstGeom prst="roundRect">
            <a:avLst>
              <a:gd name="adj" fmla="val 12000"/>
            </a:avLst>
          </a:prstGeom>
          <a:solidFill>
            <a:srgbClr val="EEF2FF"/>
          </a:solidFill>
          <a:ln/>
          <a:effectLst>
            <a:outerShdw blurRad="101600" dist="38100" dir="2700000" algn="bl" rotWithShape="0">
              <a:srgbClr val="000000">
                <a:alpha val="8000"/>
              </a:srgbClr>
            </a:outerShdw>
          </a:effectLst>
        </p:spPr>
        <p:txBody>
          <a:bodyPr/>
          <a:lstStyle/>
          <a:p>
            <a:endParaRPr lang="en-US" sz="2400"/>
          </a:p>
        </p:txBody>
      </p:sp>
      <p:sp>
        <p:nvSpPr>
          <p:cNvPr id="8" name="Shape 5"/>
          <p:cNvSpPr/>
          <p:nvPr/>
        </p:nvSpPr>
        <p:spPr>
          <a:xfrm>
            <a:off x="7924800" y="1524000"/>
            <a:ext cx="829056" cy="829056"/>
          </a:xfrm>
          <a:prstGeom prst="ellipse">
            <a:avLst/>
          </a:prstGeom>
          <a:solidFill>
            <a:srgbClr val="1A2B5E"/>
          </a:solidFill>
          <a:ln/>
        </p:spPr>
        <p:txBody>
          <a:bodyPr/>
          <a:lstStyle/>
          <a:p>
            <a:endParaRPr lang="en-US" sz="2400"/>
          </a:p>
        </p:txBody>
      </p:sp>
      <p:sp>
        <p:nvSpPr>
          <p:cNvPr id="9" name="Text 6"/>
          <p:cNvSpPr/>
          <p:nvPr/>
        </p:nvSpPr>
        <p:spPr>
          <a:xfrm>
            <a:off x="7924800" y="1524000"/>
            <a:ext cx="829056" cy="82905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76.9</a:t>
            </a:r>
            <a:endParaRPr lang="en-US" sz="1733" dirty="0"/>
          </a:p>
        </p:txBody>
      </p:sp>
      <p:sp>
        <p:nvSpPr>
          <p:cNvPr id="10" name="Text 7"/>
          <p:cNvSpPr/>
          <p:nvPr/>
        </p:nvSpPr>
        <p:spPr>
          <a:xfrm>
            <a:off x="8839200" y="1560576"/>
            <a:ext cx="2743200" cy="426720"/>
          </a:xfrm>
          <a:prstGeom prst="rect">
            <a:avLst/>
          </a:prstGeom>
          <a:noFill/>
          <a:ln/>
        </p:spPr>
        <p:txBody>
          <a:bodyPr wrap="square" lIns="0" tIns="0" rIns="0" bIns="0" rtlCol="0" anchor="ctr"/>
          <a:lstStyle/>
          <a:p>
            <a:r>
              <a:rPr lang="en-US" sz="1733" b="1" dirty="0">
                <a:solidFill>
                  <a:srgbClr val="1A2B5E"/>
                </a:solidFill>
                <a:latin typeface="Calibri" pitchFamily="34" charset="0"/>
                <a:ea typeface="Calibri" pitchFamily="34" charset="-122"/>
                <a:cs typeface="Calibri" pitchFamily="34" charset="-120"/>
              </a:rPr>
              <a:t>Sales Priority</a:t>
            </a:r>
            <a:endParaRPr lang="en-US" sz="1733" dirty="0"/>
          </a:p>
        </p:txBody>
      </p:sp>
      <p:sp>
        <p:nvSpPr>
          <p:cNvPr id="11" name="Text 8"/>
          <p:cNvSpPr/>
          <p:nvPr/>
        </p:nvSpPr>
        <p:spPr>
          <a:xfrm>
            <a:off x="8839200" y="1987296"/>
            <a:ext cx="2743200" cy="34137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Jawa Timur</a:t>
            </a:r>
            <a:endParaRPr lang="en-US" sz="1467" dirty="0"/>
          </a:p>
        </p:txBody>
      </p:sp>
      <p:sp>
        <p:nvSpPr>
          <p:cNvPr id="12" name="Shape 9"/>
          <p:cNvSpPr/>
          <p:nvPr/>
        </p:nvSpPr>
        <p:spPr>
          <a:xfrm>
            <a:off x="7802880" y="2865120"/>
            <a:ext cx="3962400" cy="1219200"/>
          </a:xfrm>
          <a:prstGeom prst="roundRect">
            <a:avLst>
              <a:gd name="adj" fmla="val 12000"/>
            </a:avLst>
          </a:prstGeom>
          <a:solidFill>
            <a:srgbClr val="EEF2FF"/>
          </a:solidFill>
          <a:ln/>
          <a:effectLst>
            <a:outerShdw blurRad="101600" dist="38100" dir="2700000" algn="bl" rotWithShape="0">
              <a:srgbClr val="000000">
                <a:alpha val="8000"/>
              </a:srgbClr>
            </a:outerShdw>
          </a:effectLst>
        </p:spPr>
        <p:txBody>
          <a:bodyPr/>
          <a:lstStyle/>
          <a:p>
            <a:endParaRPr lang="en-US" sz="2400"/>
          </a:p>
        </p:txBody>
      </p:sp>
      <p:sp>
        <p:nvSpPr>
          <p:cNvPr id="13" name="Shape 10"/>
          <p:cNvSpPr/>
          <p:nvPr/>
        </p:nvSpPr>
        <p:spPr>
          <a:xfrm>
            <a:off x="7924800" y="2950464"/>
            <a:ext cx="829056" cy="829056"/>
          </a:xfrm>
          <a:prstGeom prst="ellipse">
            <a:avLst/>
          </a:prstGeom>
          <a:solidFill>
            <a:srgbClr val="4F46E5"/>
          </a:solidFill>
          <a:ln/>
        </p:spPr>
        <p:txBody>
          <a:bodyPr/>
          <a:lstStyle/>
          <a:p>
            <a:endParaRPr lang="en-US" sz="2400"/>
          </a:p>
        </p:txBody>
      </p:sp>
      <p:sp>
        <p:nvSpPr>
          <p:cNvPr id="14" name="Text 11"/>
          <p:cNvSpPr/>
          <p:nvPr/>
        </p:nvSpPr>
        <p:spPr>
          <a:xfrm>
            <a:off x="7924800" y="2950464"/>
            <a:ext cx="829056" cy="82905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66.8</a:t>
            </a:r>
            <a:endParaRPr lang="en-US" sz="1733" dirty="0"/>
          </a:p>
        </p:txBody>
      </p:sp>
      <p:sp>
        <p:nvSpPr>
          <p:cNvPr id="15" name="Text 12"/>
          <p:cNvSpPr/>
          <p:nvPr/>
        </p:nvSpPr>
        <p:spPr>
          <a:xfrm>
            <a:off x="8839200" y="2987040"/>
            <a:ext cx="2743200" cy="426720"/>
          </a:xfrm>
          <a:prstGeom prst="rect">
            <a:avLst/>
          </a:prstGeom>
          <a:noFill/>
          <a:ln/>
        </p:spPr>
        <p:txBody>
          <a:bodyPr wrap="square" lIns="0" tIns="0" rIns="0" bIns="0" rtlCol="0" anchor="ctr"/>
          <a:lstStyle/>
          <a:p>
            <a:r>
              <a:rPr lang="en-US" sz="1733" b="1" dirty="0">
                <a:solidFill>
                  <a:srgbClr val="4F46E5"/>
                </a:solidFill>
                <a:latin typeface="Calibri" pitchFamily="34" charset="0"/>
                <a:ea typeface="Calibri" pitchFamily="34" charset="-122"/>
                <a:cs typeface="Calibri" pitchFamily="34" charset="-120"/>
              </a:rPr>
              <a:t>Pilot Project</a:t>
            </a:r>
            <a:endParaRPr lang="en-US" sz="1733" dirty="0"/>
          </a:p>
        </p:txBody>
      </p:sp>
      <p:sp>
        <p:nvSpPr>
          <p:cNvPr id="16" name="Text 13"/>
          <p:cNvSpPr/>
          <p:nvPr/>
        </p:nvSpPr>
        <p:spPr>
          <a:xfrm>
            <a:off x="8839200" y="3413760"/>
            <a:ext cx="2743200" cy="34137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Jawa Barat</a:t>
            </a:r>
            <a:endParaRPr lang="en-US" sz="1467" dirty="0"/>
          </a:p>
        </p:txBody>
      </p:sp>
      <p:sp>
        <p:nvSpPr>
          <p:cNvPr id="17" name="Shape 14"/>
          <p:cNvSpPr/>
          <p:nvPr/>
        </p:nvSpPr>
        <p:spPr>
          <a:xfrm>
            <a:off x="7802880" y="4291584"/>
            <a:ext cx="3962400" cy="1219200"/>
          </a:xfrm>
          <a:prstGeom prst="roundRect">
            <a:avLst>
              <a:gd name="adj" fmla="val 12000"/>
            </a:avLst>
          </a:prstGeom>
          <a:solidFill>
            <a:srgbClr val="F0FDFA"/>
          </a:solidFill>
          <a:ln/>
          <a:effectLst>
            <a:outerShdw blurRad="101600" dist="38100" dir="2700000" algn="bl" rotWithShape="0">
              <a:srgbClr val="000000">
                <a:alpha val="8000"/>
              </a:srgbClr>
            </a:outerShdw>
          </a:effectLst>
        </p:spPr>
        <p:txBody>
          <a:bodyPr/>
          <a:lstStyle/>
          <a:p>
            <a:endParaRPr lang="en-US" sz="2400"/>
          </a:p>
        </p:txBody>
      </p:sp>
      <p:sp>
        <p:nvSpPr>
          <p:cNvPr id="18" name="Shape 15"/>
          <p:cNvSpPr/>
          <p:nvPr/>
        </p:nvSpPr>
        <p:spPr>
          <a:xfrm>
            <a:off x="7924800" y="4376928"/>
            <a:ext cx="829056" cy="829056"/>
          </a:xfrm>
          <a:prstGeom prst="ellipse">
            <a:avLst/>
          </a:prstGeom>
          <a:solidFill>
            <a:srgbClr val="0E7490"/>
          </a:solidFill>
          <a:ln/>
        </p:spPr>
        <p:txBody>
          <a:bodyPr/>
          <a:lstStyle/>
          <a:p>
            <a:endParaRPr lang="en-US" sz="2400"/>
          </a:p>
        </p:txBody>
      </p:sp>
      <p:sp>
        <p:nvSpPr>
          <p:cNvPr id="19" name="Text 16"/>
          <p:cNvSpPr/>
          <p:nvPr/>
        </p:nvSpPr>
        <p:spPr>
          <a:xfrm>
            <a:off x="7924800" y="4376928"/>
            <a:ext cx="829056" cy="82905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31.5 / 30.0</a:t>
            </a:r>
            <a:endParaRPr lang="en-US" sz="1733" dirty="0"/>
          </a:p>
        </p:txBody>
      </p:sp>
      <p:sp>
        <p:nvSpPr>
          <p:cNvPr id="20" name="Text 17"/>
          <p:cNvSpPr/>
          <p:nvPr/>
        </p:nvSpPr>
        <p:spPr>
          <a:xfrm>
            <a:off x="8839200" y="4413504"/>
            <a:ext cx="2743200" cy="426720"/>
          </a:xfrm>
          <a:prstGeom prst="rect">
            <a:avLst/>
          </a:prstGeom>
          <a:noFill/>
          <a:ln/>
        </p:spPr>
        <p:txBody>
          <a:bodyPr wrap="square" lIns="0" tIns="0" rIns="0" bIns="0" rtlCol="0" anchor="ctr"/>
          <a:lstStyle/>
          <a:p>
            <a:r>
              <a:rPr lang="en-US" sz="1733" b="1" dirty="0">
                <a:solidFill>
                  <a:srgbClr val="0E7490"/>
                </a:solidFill>
                <a:latin typeface="Calibri" pitchFamily="34" charset="0"/>
                <a:ea typeface="Calibri" pitchFamily="34" charset="-122"/>
                <a:cs typeface="Calibri" pitchFamily="34" charset="-120"/>
              </a:rPr>
              <a:t>Canvassing</a:t>
            </a:r>
            <a:endParaRPr lang="en-US" sz="1733" dirty="0"/>
          </a:p>
        </p:txBody>
      </p:sp>
      <p:sp>
        <p:nvSpPr>
          <p:cNvPr id="21" name="Text 18"/>
          <p:cNvSpPr/>
          <p:nvPr/>
        </p:nvSpPr>
        <p:spPr>
          <a:xfrm>
            <a:off x="8839200" y="4840224"/>
            <a:ext cx="2743200" cy="341376"/>
          </a:xfrm>
          <a:prstGeom prst="rect">
            <a:avLst/>
          </a:prstGeom>
          <a:noFill/>
          <a:ln/>
        </p:spPr>
        <p:txBody>
          <a:bodyPr wrap="square" lIns="0" tIns="0" rIns="0" bIns="0" rtlCol="0" anchor="ctr"/>
          <a:lstStyle/>
          <a:p>
            <a:r>
              <a:rPr lang="en-US" sz="1467" dirty="0">
                <a:solidFill>
                  <a:srgbClr val="64748B"/>
                </a:solidFill>
                <a:latin typeface="Calibri" pitchFamily="34" charset="0"/>
                <a:ea typeface="Calibri" pitchFamily="34" charset="-122"/>
                <a:cs typeface="Calibri" pitchFamily="34" charset="-120"/>
              </a:rPr>
              <a:t>Jateng &amp; Banten</a:t>
            </a:r>
            <a:endParaRPr lang="en-US" sz="1467" dirty="0"/>
          </a:p>
        </p:txBody>
      </p:sp>
      <p:sp>
        <p:nvSpPr>
          <p:cNvPr id="22" name="Shape 19"/>
          <p:cNvSpPr/>
          <p:nvPr/>
        </p:nvSpPr>
        <p:spPr>
          <a:xfrm>
            <a:off x="7802880" y="5705856"/>
            <a:ext cx="3962400" cy="36576"/>
          </a:xfrm>
          <a:prstGeom prst="rect">
            <a:avLst/>
          </a:prstGeom>
          <a:solidFill>
            <a:srgbClr val="D97706"/>
          </a:solidFill>
          <a:ln/>
        </p:spPr>
        <p:txBody>
          <a:bodyPr/>
          <a:lstStyle/>
          <a:p>
            <a:endParaRPr lang="en-US" sz="2400"/>
          </a:p>
        </p:txBody>
      </p:sp>
      <p:sp>
        <p:nvSpPr>
          <p:cNvPr id="23" name="Text 20"/>
          <p:cNvSpPr/>
          <p:nvPr/>
        </p:nvSpPr>
        <p:spPr>
          <a:xfrm>
            <a:off x="426720" y="5766816"/>
            <a:ext cx="11338560" cy="426720"/>
          </a:xfrm>
          <a:prstGeom prst="rect">
            <a:avLst/>
          </a:prstGeom>
          <a:noFill/>
          <a:ln/>
        </p:spPr>
        <p:txBody>
          <a:bodyPr wrap="square" rtlCol="0" anchor="ctr"/>
          <a:lstStyle/>
          <a:p>
            <a:pPr algn="ctr"/>
            <a:r>
              <a:rPr lang="en-US" sz="1333" dirty="0">
                <a:solidFill>
                  <a:srgbClr val="64748B"/>
                </a:solidFill>
                <a:latin typeface="Calibri" pitchFamily="34" charset="0"/>
                <a:ea typeface="Calibri" pitchFamily="34" charset="-122"/>
                <a:cs typeface="Calibri" pitchFamily="34" charset="-120"/>
              </a:rPr>
              <a:t>Threshold 70 = Sales Priority  |  40-69 = Pilot Project  |  &lt;40 = Canvassing</a:t>
            </a:r>
            <a:endParaRPr lang="en-US" sz="1333" dirty="0"/>
          </a:p>
        </p:txBody>
      </p:sp>
      <p:sp>
        <p:nvSpPr>
          <p:cNvPr id="24" name="Text 21"/>
          <p:cNvSpPr/>
          <p:nvPr/>
        </p:nvSpPr>
        <p:spPr>
          <a:xfrm>
            <a:off x="426720" y="6632448"/>
            <a:ext cx="11460480" cy="243840"/>
          </a:xfrm>
          <a:prstGeom prst="rect">
            <a:avLst/>
          </a:prstGeom>
          <a:noFill/>
          <a:ln/>
        </p:spPr>
        <p:txBody>
          <a:bodyPr wrap="square" rtlCol="0" anchor="ctr"/>
          <a:lstStyle/>
          <a:p>
            <a:pPr algn="r"/>
            <a:r>
              <a:rPr lang="en-US" sz="1200" dirty="0">
                <a:solidFill>
                  <a:srgbClr val="64748B"/>
                </a:solidFill>
                <a:latin typeface="Calibri" pitchFamily="34" charset="0"/>
                <a:ea typeface="Calibri" pitchFamily="34" charset="-122"/>
                <a:cs typeface="Calibri" pitchFamily="34" charset="-120"/>
              </a:rPr>
              <a:t>Metodologi: MinMaxScaler normalization + weighted scoring | Sumber: BPJS &amp; BPS 2025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1216640" cy="60960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Strategi Pasar &amp; Prioritas B2B — Satu Kerangka Terpadu</a:t>
            </a:r>
            <a:endParaRPr lang="en-US" sz="2400" dirty="0"/>
          </a:p>
        </p:txBody>
      </p:sp>
      <p:sp>
        <p:nvSpPr>
          <p:cNvPr id="4" name="Shape 2"/>
          <p:cNvSpPr/>
          <p:nvPr/>
        </p:nvSpPr>
        <p:spPr>
          <a:xfrm>
            <a:off x="268224" y="707136"/>
            <a:ext cx="11655552" cy="451104"/>
          </a:xfrm>
          <a:prstGeom prst="roundRect">
            <a:avLst>
              <a:gd name="adj" fmla="val 21622"/>
            </a:avLst>
          </a:prstGeom>
          <a:solidFill>
            <a:schemeClr val="accent1">
              <a:lumMod val="20000"/>
              <a:lumOff val="80000"/>
            </a:schemeClr>
          </a:solidFill>
          <a:ln/>
        </p:spPr>
        <p:txBody>
          <a:bodyPr/>
          <a:lstStyle/>
          <a:p>
            <a:endParaRPr lang="en-US" sz="2400"/>
          </a:p>
        </p:txBody>
      </p:sp>
      <p:sp>
        <p:nvSpPr>
          <p:cNvPr id="5" name="Text 3"/>
          <p:cNvSpPr/>
          <p:nvPr/>
        </p:nvSpPr>
        <p:spPr>
          <a:xfrm>
            <a:off x="426720" y="707136"/>
            <a:ext cx="11338560" cy="451104"/>
          </a:xfrm>
          <a:prstGeom prst="rect">
            <a:avLst/>
          </a:prstGeom>
          <a:noFill/>
          <a:ln/>
        </p:spPr>
        <p:txBody>
          <a:bodyPr wrap="square" rtlCol="0" anchor="ctr"/>
          <a:lstStyle/>
          <a:p>
            <a:pPr algn="ctr"/>
            <a:r>
              <a:rPr lang="en-US" sz="1600" b="1" dirty="0">
                <a:solidFill>
                  <a:srgbClr val="4F46E5"/>
                </a:solidFill>
                <a:latin typeface="Calibri" pitchFamily="34" charset="0"/>
                <a:ea typeface="Calibri" pitchFamily="34" charset="-122"/>
                <a:cs typeface="Calibri" pitchFamily="34" charset="-120"/>
              </a:rPr>
              <a:t>Prioritisasi B2B dan segmentasi pasar menunjuk ke kesimpulan yang sama — disatukan menjadi satu kerangka eksekusi</a:t>
            </a:r>
            <a:endParaRPr lang="en-US" sz="1600" dirty="0"/>
          </a:p>
        </p:txBody>
      </p:sp>
      <p:sp>
        <p:nvSpPr>
          <p:cNvPr id="6" name="Shape 4"/>
          <p:cNvSpPr/>
          <p:nvPr/>
        </p:nvSpPr>
        <p:spPr>
          <a:xfrm>
            <a:off x="268224" y="1255776"/>
            <a:ext cx="3755136" cy="4389120"/>
          </a:xfrm>
          <a:prstGeom prst="roundRect">
            <a:avLst>
              <a:gd name="adj" fmla="val 4545"/>
            </a:avLst>
          </a:prstGeom>
          <a:solidFill>
            <a:schemeClr val="accent1">
              <a:lumMod val="20000"/>
              <a:lumOff val="80000"/>
            </a:schemeClr>
          </a:solidFill>
          <a:ln/>
          <a:effectLst>
            <a:outerShdw blurRad="127000" dist="38100" dir="2700000" algn="bl" rotWithShape="0">
              <a:srgbClr val="000000">
                <a:alpha val="10000"/>
              </a:srgbClr>
            </a:outerShdw>
          </a:effectLst>
        </p:spPr>
        <p:txBody>
          <a:bodyPr/>
          <a:lstStyle/>
          <a:p>
            <a:endParaRPr lang="en-US" sz="2400"/>
          </a:p>
        </p:txBody>
      </p:sp>
      <p:sp>
        <p:nvSpPr>
          <p:cNvPr id="7" name="Shape 5"/>
          <p:cNvSpPr/>
          <p:nvPr/>
        </p:nvSpPr>
        <p:spPr>
          <a:xfrm>
            <a:off x="426720" y="1426464"/>
            <a:ext cx="1682496" cy="390144"/>
          </a:xfrm>
          <a:prstGeom prst="roundRect">
            <a:avLst>
              <a:gd name="adj" fmla="val 21875"/>
            </a:avLst>
          </a:prstGeom>
          <a:solidFill>
            <a:srgbClr val="1A2B5E"/>
          </a:solidFill>
          <a:ln/>
        </p:spPr>
        <p:txBody>
          <a:bodyPr/>
          <a:lstStyle/>
          <a:p>
            <a:endParaRPr lang="en-US" sz="2400"/>
          </a:p>
        </p:txBody>
      </p:sp>
      <p:sp>
        <p:nvSpPr>
          <p:cNvPr id="8" name="Text 6"/>
          <p:cNvSpPr/>
          <p:nvPr/>
        </p:nvSpPr>
        <p:spPr>
          <a:xfrm>
            <a:off x="426720" y="1426464"/>
            <a:ext cx="1682496" cy="390144"/>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Sales Priority</a:t>
            </a:r>
            <a:endParaRPr lang="en-US" sz="1267" dirty="0"/>
          </a:p>
        </p:txBody>
      </p:sp>
      <p:sp>
        <p:nvSpPr>
          <p:cNvPr id="9" name="Shape 7"/>
          <p:cNvSpPr/>
          <p:nvPr/>
        </p:nvSpPr>
        <p:spPr>
          <a:xfrm>
            <a:off x="2157984" y="1426464"/>
            <a:ext cx="1682496" cy="390144"/>
          </a:xfrm>
          <a:prstGeom prst="roundRect">
            <a:avLst>
              <a:gd name="adj" fmla="val 21875"/>
            </a:avLst>
          </a:prstGeom>
          <a:solidFill>
            <a:srgbClr val="C7D2FE"/>
          </a:solidFill>
          <a:ln/>
        </p:spPr>
        <p:txBody>
          <a:bodyPr/>
          <a:lstStyle/>
          <a:p>
            <a:endParaRPr lang="en-US" sz="2400"/>
          </a:p>
        </p:txBody>
      </p:sp>
      <p:sp>
        <p:nvSpPr>
          <p:cNvPr id="10" name="Text 8"/>
          <p:cNvSpPr/>
          <p:nvPr/>
        </p:nvSpPr>
        <p:spPr>
          <a:xfrm>
            <a:off x="2157984" y="1426464"/>
            <a:ext cx="1682496" cy="390144"/>
          </a:xfrm>
          <a:prstGeom prst="rect">
            <a:avLst/>
          </a:prstGeom>
          <a:noFill/>
          <a:ln/>
        </p:spPr>
        <p:txBody>
          <a:bodyPr wrap="square" lIns="0" tIns="0" rIns="0" bIns="0" rtlCol="0" anchor="ctr"/>
          <a:lstStyle/>
          <a:p>
            <a:pPr algn="ctr"/>
            <a:r>
              <a:rPr lang="en-US" sz="1267" b="1" dirty="0">
                <a:solidFill>
                  <a:srgbClr val="1A2B5E"/>
                </a:solidFill>
                <a:latin typeface="Calibri" pitchFamily="34" charset="0"/>
                <a:ea typeface="Calibri" pitchFamily="34" charset="-122"/>
                <a:cs typeface="Calibri" pitchFamily="34" charset="-120"/>
              </a:rPr>
              <a:t>Strategic Market</a:t>
            </a:r>
            <a:endParaRPr lang="en-US" sz="1267" dirty="0"/>
          </a:p>
        </p:txBody>
      </p:sp>
      <p:sp>
        <p:nvSpPr>
          <p:cNvPr id="11" name="Text 9"/>
          <p:cNvSpPr/>
          <p:nvPr/>
        </p:nvSpPr>
        <p:spPr>
          <a:xfrm>
            <a:off x="426720" y="1926336"/>
            <a:ext cx="3438144" cy="512064"/>
          </a:xfrm>
          <a:prstGeom prst="rect">
            <a:avLst/>
          </a:prstGeom>
          <a:noFill/>
          <a:ln/>
        </p:spPr>
        <p:txBody>
          <a:bodyPr wrap="square" rtlCol="0" anchor="ctr"/>
          <a:lstStyle/>
          <a:p>
            <a:r>
              <a:rPr lang="en-US" sz="2400" b="1" dirty="0">
                <a:solidFill>
                  <a:srgbClr val="1A2B5E"/>
                </a:solidFill>
                <a:latin typeface="Calibri" pitchFamily="34" charset="0"/>
                <a:ea typeface="Calibri" pitchFamily="34" charset="-122"/>
                <a:cs typeface="Calibri" pitchFamily="34" charset="-120"/>
              </a:rPr>
              <a:t>Jawa Timur</a:t>
            </a:r>
            <a:endParaRPr lang="en-US" sz="2400" dirty="0"/>
          </a:p>
        </p:txBody>
      </p:sp>
      <p:sp>
        <p:nvSpPr>
          <p:cNvPr id="12" name="Shape 10"/>
          <p:cNvSpPr/>
          <p:nvPr/>
        </p:nvSpPr>
        <p:spPr>
          <a:xfrm>
            <a:off x="426720" y="2499360"/>
            <a:ext cx="1658112" cy="390144"/>
          </a:xfrm>
          <a:prstGeom prst="roundRect">
            <a:avLst>
              <a:gd name="adj" fmla="val 21875"/>
            </a:avLst>
          </a:prstGeom>
          <a:solidFill>
            <a:srgbClr val="1A2B5E">
              <a:alpha val="12000"/>
            </a:srgbClr>
          </a:solidFill>
          <a:ln/>
        </p:spPr>
        <p:txBody>
          <a:bodyPr/>
          <a:lstStyle/>
          <a:p>
            <a:endParaRPr lang="en-US" sz="2400"/>
          </a:p>
        </p:txBody>
      </p:sp>
      <p:sp>
        <p:nvSpPr>
          <p:cNvPr id="13" name="Text 11"/>
          <p:cNvSpPr/>
          <p:nvPr/>
        </p:nvSpPr>
        <p:spPr>
          <a:xfrm>
            <a:off x="426720" y="2499360"/>
            <a:ext cx="1658112" cy="390144"/>
          </a:xfrm>
          <a:prstGeom prst="rect">
            <a:avLst/>
          </a:prstGeom>
          <a:noFill/>
          <a:ln/>
        </p:spPr>
        <p:txBody>
          <a:bodyPr wrap="square" lIns="0" tIns="0" rIns="0" bIns="0" rtlCol="0" anchor="ctr"/>
          <a:lstStyle/>
          <a:p>
            <a:pPr algn="ctr"/>
            <a:r>
              <a:rPr lang="en-US" sz="1200" b="1" dirty="0">
                <a:solidFill>
                  <a:srgbClr val="1A2B5E"/>
                </a:solidFill>
                <a:latin typeface="Calibri" pitchFamily="34" charset="0"/>
                <a:ea typeface="Calibri" pitchFamily="34" charset="-122"/>
                <a:cs typeface="Calibri" pitchFamily="34" charset="-120"/>
              </a:rPr>
              <a:t>Opp. Score: 25,203</a:t>
            </a:r>
            <a:endParaRPr lang="en-US" sz="1200" dirty="0"/>
          </a:p>
        </p:txBody>
      </p:sp>
      <p:sp>
        <p:nvSpPr>
          <p:cNvPr id="14" name="Shape 12"/>
          <p:cNvSpPr/>
          <p:nvPr/>
        </p:nvSpPr>
        <p:spPr>
          <a:xfrm>
            <a:off x="2157984" y="2499360"/>
            <a:ext cx="1682496" cy="390144"/>
          </a:xfrm>
          <a:prstGeom prst="roundRect">
            <a:avLst>
              <a:gd name="adj" fmla="val 21875"/>
            </a:avLst>
          </a:prstGeom>
          <a:solidFill>
            <a:srgbClr val="1A2B5E">
              <a:alpha val="12000"/>
            </a:srgbClr>
          </a:solidFill>
          <a:ln/>
        </p:spPr>
        <p:txBody>
          <a:bodyPr/>
          <a:lstStyle/>
          <a:p>
            <a:endParaRPr lang="en-US" sz="2400"/>
          </a:p>
        </p:txBody>
      </p:sp>
      <p:sp>
        <p:nvSpPr>
          <p:cNvPr id="15" name="Text 13"/>
          <p:cNvSpPr/>
          <p:nvPr/>
        </p:nvSpPr>
        <p:spPr>
          <a:xfrm>
            <a:off x="2157984" y="2499360"/>
            <a:ext cx="1682496" cy="390144"/>
          </a:xfrm>
          <a:prstGeom prst="rect">
            <a:avLst/>
          </a:prstGeom>
          <a:noFill/>
          <a:ln/>
        </p:spPr>
        <p:txBody>
          <a:bodyPr wrap="square" lIns="0" tIns="0" rIns="0" bIns="0" rtlCol="0" anchor="ctr"/>
          <a:lstStyle/>
          <a:p>
            <a:pPr algn="ctr"/>
            <a:r>
              <a:rPr lang="en-US" sz="1200" b="1" dirty="0">
                <a:solidFill>
                  <a:srgbClr val="1A2B5E"/>
                </a:solidFill>
                <a:latin typeface="Calibri" pitchFamily="34" charset="0"/>
                <a:ea typeface="Calibri" pitchFamily="34" charset="-122"/>
                <a:cs typeface="Calibri" pitchFamily="34" charset="-120"/>
              </a:rPr>
              <a:t>Risk: 26.0/1000</a:t>
            </a:r>
            <a:endParaRPr lang="en-US" sz="1200" dirty="0"/>
          </a:p>
        </p:txBody>
      </p:sp>
      <p:sp>
        <p:nvSpPr>
          <p:cNvPr id="16" name="Text 14"/>
          <p:cNvSpPr/>
          <p:nvPr/>
        </p:nvSpPr>
        <p:spPr>
          <a:xfrm>
            <a:off x="426720" y="3011424"/>
            <a:ext cx="3438144" cy="341376"/>
          </a:xfrm>
          <a:prstGeom prst="rect">
            <a:avLst/>
          </a:prstGeom>
          <a:noFill/>
          <a:ln/>
        </p:spPr>
        <p:txBody>
          <a:bodyPr wrap="square" rtlCol="0" anchor="ctr"/>
          <a:lstStyle/>
          <a:p>
            <a:pPr algn="r"/>
            <a:r>
              <a:rPr lang="en-US" sz="1333" i="1" dirty="0">
                <a:solidFill>
                  <a:srgbClr val="64748B"/>
                </a:solidFill>
                <a:latin typeface="Calibri" pitchFamily="34" charset="0"/>
                <a:ea typeface="Calibri" pitchFamily="34" charset="-122"/>
                <a:cs typeface="Calibri" pitchFamily="34" charset="-120"/>
              </a:rPr>
              <a:t>Score 76.9</a:t>
            </a:r>
            <a:endParaRPr lang="en-US" sz="1333" dirty="0"/>
          </a:p>
        </p:txBody>
      </p:sp>
      <p:sp>
        <p:nvSpPr>
          <p:cNvPr id="17" name="Shape 15"/>
          <p:cNvSpPr/>
          <p:nvPr/>
        </p:nvSpPr>
        <p:spPr>
          <a:xfrm>
            <a:off x="426720" y="3401568"/>
            <a:ext cx="3438144" cy="30480"/>
          </a:xfrm>
          <a:prstGeom prst="rect">
            <a:avLst/>
          </a:prstGeom>
          <a:solidFill>
            <a:srgbClr val="1A2B5E">
              <a:alpha val="35000"/>
            </a:srgbClr>
          </a:solidFill>
          <a:ln/>
        </p:spPr>
        <p:txBody>
          <a:bodyPr/>
          <a:lstStyle/>
          <a:p>
            <a:endParaRPr lang="en-US" sz="2400"/>
          </a:p>
        </p:txBody>
      </p:sp>
      <p:sp>
        <p:nvSpPr>
          <p:cNvPr id="18" name="Text 16"/>
          <p:cNvSpPr/>
          <p:nvPr/>
        </p:nvSpPr>
        <p:spPr>
          <a:xfrm>
            <a:off x="426720" y="3474720"/>
            <a:ext cx="3438144" cy="365760"/>
          </a:xfrm>
          <a:prstGeom prst="rect">
            <a:avLst/>
          </a:prstGeom>
          <a:noFill/>
          <a:ln/>
        </p:spPr>
        <p:txBody>
          <a:bodyPr wrap="square" rtlCol="0" anchor="ctr"/>
          <a:lstStyle/>
          <a:p>
            <a:r>
              <a:rPr lang="en-US" sz="1400" b="1" i="1" dirty="0">
                <a:solidFill>
                  <a:srgbClr val="1A2B5E"/>
                </a:solidFill>
                <a:latin typeface="Calibri" pitchFamily="34" charset="0"/>
                <a:ea typeface="Calibri" pitchFamily="34" charset="-122"/>
                <a:cs typeface="Calibri" pitchFamily="34" charset="-120"/>
              </a:rPr>
              <a:t>Direct Sales &amp; Enterprise</a:t>
            </a:r>
            <a:endParaRPr lang="en-US" sz="1400" dirty="0"/>
          </a:p>
        </p:txBody>
      </p:sp>
      <p:sp>
        <p:nvSpPr>
          <p:cNvPr id="19" name="Text 17"/>
          <p:cNvSpPr/>
          <p:nvPr/>
        </p:nvSpPr>
        <p:spPr>
          <a:xfrm>
            <a:off x="426720" y="3877056"/>
            <a:ext cx="3438144" cy="451104"/>
          </a:xfrm>
          <a:prstGeom prst="rect">
            <a:avLst/>
          </a:prstGeom>
          <a:noFill/>
          <a:ln/>
        </p:spPr>
        <p:txBody>
          <a:bodyPr wrap="square" rtlCol="0" anchor="ctr"/>
          <a:lstStyle/>
          <a:p>
            <a:pPr marL="457189" indent="-457189">
              <a:buSzPct val="100000"/>
              <a:buFont typeface="+mj-lt"/>
              <a:buAutoNum type="arabicPeriod"/>
            </a:pPr>
            <a:r>
              <a:rPr lang="en-US" sz="1467" dirty="0">
                <a:solidFill>
                  <a:srgbClr val="1E293B"/>
                </a:solidFill>
                <a:latin typeface="Calibri" pitchFamily="34" charset="0"/>
                <a:ea typeface="Calibri" pitchFamily="34" charset="-122"/>
                <a:cs typeface="Calibri" pitchFamily="34" charset="-120"/>
              </a:rPr>
              <a:t>Tim sales dedicated + workshop gratis Surabaya</a:t>
            </a:r>
            <a:endParaRPr lang="en-US" sz="1467" dirty="0"/>
          </a:p>
        </p:txBody>
      </p:sp>
      <p:sp>
        <p:nvSpPr>
          <p:cNvPr id="20" name="Text 18"/>
          <p:cNvSpPr/>
          <p:nvPr/>
        </p:nvSpPr>
        <p:spPr>
          <a:xfrm>
            <a:off x="426720" y="4340352"/>
            <a:ext cx="3438144" cy="451104"/>
          </a:xfrm>
          <a:prstGeom prst="rect">
            <a:avLst/>
          </a:prstGeom>
          <a:noFill/>
          <a:ln/>
        </p:spPr>
        <p:txBody>
          <a:bodyPr wrap="square" rtlCol="0" anchor="ctr"/>
          <a:lstStyle/>
          <a:p>
            <a:pPr marL="457189" indent="-457189">
              <a:buSzPct val="100000"/>
              <a:buFont typeface="+mj-lt"/>
              <a:buAutoNum type="arabicPeriod" startAt="2"/>
            </a:pPr>
            <a:r>
              <a:rPr lang="en-US" sz="1467" dirty="0">
                <a:solidFill>
                  <a:srgbClr val="1E293B"/>
                </a:solidFill>
                <a:latin typeface="Calibri" pitchFamily="34" charset="0"/>
                <a:ea typeface="Calibri" pitchFamily="34" charset="-122"/>
                <a:cs typeface="Calibri" pitchFamily="34" charset="-120"/>
              </a:rPr>
              <a:t>Bundling produk — kontraktor BUMN &amp; pemerintah</a:t>
            </a:r>
            <a:endParaRPr lang="en-US" sz="1467" dirty="0"/>
          </a:p>
        </p:txBody>
      </p:sp>
      <p:sp>
        <p:nvSpPr>
          <p:cNvPr id="21" name="Text 19"/>
          <p:cNvSpPr/>
          <p:nvPr/>
        </p:nvSpPr>
        <p:spPr>
          <a:xfrm>
            <a:off x="426720" y="4803648"/>
            <a:ext cx="3438144" cy="451104"/>
          </a:xfrm>
          <a:prstGeom prst="rect">
            <a:avLst/>
          </a:prstGeom>
          <a:noFill/>
          <a:ln/>
        </p:spPr>
        <p:txBody>
          <a:bodyPr wrap="square" rtlCol="0" anchor="ctr"/>
          <a:lstStyle/>
          <a:p>
            <a:pPr marL="457189" indent="-457189">
              <a:buSzPct val="100000"/>
              <a:buFont typeface="+mj-lt"/>
              <a:buAutoNum type="arabicPeriod" startAt="3"/>
            </a:pPr>
            <a:r>
              <a:rPr lang="en-US" sz="1467" dirty="0">
                <a:solidFill>
                  <a:srgbClr val="1E293B"/>
                </a:solidFill>
                <a:latin typeface="Calibri" pitchFamily="34" charset="0"/>
                <a:ea typeface="Calibri" pitchFamily="34" charset="-122"/>
                <a:cs typeface="Calibri" pitchFamily="34" charset="-120"/>
              </a:rPr>
              <a:t>Target: 5 kontrak enterprise Q1</a:t>
            </a:r>
            <a:endParaRPr lang="en-US" sz="1467" dirty="0"/>
          </a:p>
        </p:txBody>
      </p:sp>
      <p:sp>
        <p:nvSpPr>
          <p:cNvPr id="24" name="Shape 22"/>
          <p:cNvSpPr/>
          <p:nvPr/>
        </p:nvSpPr>
        <p:spPr>
          <a:xfrm>
            <a:off x="4242816" y="1255776"/>
            <a:ext cx="3755136" cy="4389120"/>
          </a:xfrm>
          <a:prstGeom prst="roundRect">
            <a:avLst>
              <a:gd name="adj" fmla="val 4545"/>
            </a:avLst>
          </a:prstGeom>
          <a:solidFill>
            <a:srgbClr val="F0F4FF"/>
          </a:solidFill>
          <a:ln/>
          <a:effectLst>
            <a:outerShdw blurRad="127000" dist="38100" dir="2700000" algn="bl" rotWithShape="0">
              <a:srgbClr val="000000">
                <a:alpha val="10000"/>
              </a:srgbClr>
            </a:outerShdw>
          </a:effectLst>
        </p:spPr>
        <p:txBody>
          <a:bodyPr/>
          <a:lstStyle/>
          <a:p>
            <a:endParaRPr lang="en-US" sz="2400"/>
          </a:p>
        </p:txBody>
      </p:sp>
      <p:sp>
        <p:nvSpPr>
          <p:cNvPr id="25" name="Shape 23"/>
          <p:cNvSpPr/>
          <p:nvPr/>
        </p:nvSpPr>
        <p:spPr>
          <a:xfrm>
            <a:off x="4401312" y="1426464"/>
            <a:ext cx="1682496" cy="390144"/>
          </a:xfrm>
          <a:prstGeom prst="roundRect">
            <a:avLst>
              <a:gd name="adj" fmla="val 21875"/>
            </a:avLst>
          </a:prstGeom>
          <a:solidFill>
            <a:schemeClr val="accent1">
              <a:lumMod val="50000"/>
            </a:schemeClr>
          </a:solidFill>
          <a:ln/>
        </p:spPr>
        <p:txBody>
          <a:bodyPr/>
          <a:lstStyle/>
          <a:p>
            <a:endParaRPr lang="en-US" sz="2400"/>
          </a:p>
        </p:txBody>
      </p:sp>
      <p:sp>
        <p:nvSpPr>
          <p:cNvPr id="26" name="Text 24"/>
          <p:cNvSpPr/>
          <p:nvPr/>
        </p:nvSpPr>
        <p:spPr>
          <a:xfrm>
            <a:off x="4401312" y="1426464"/>
            <a:ext cx="1682496" cy="390144"/>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Pilot Project</a:t>
            </a:r>
            <a:endParaRPr lang="en-US" sz="1267" dirty="0"/>
          </a:p>
        </p:txBody>
      </p:sp>
      <p:sp>
        <p:nvSpPr>
          <p:cNvPr id="27" name="Shape 25"/>
          <p:cNvSpPr/>
          <p:nvPr/>
        </p:nvSpPr>
        <p:spPr>
          <a:xfrm>
            <a:off x="6132576" y="1426464"/>
            <a:ext cx="1682496" cy="390144"/>
          </a:xfrm>
          <a:prstGeom prst="roundRect">
            <a:avLst>
              <a:gd name="adj" fmla="val 21875"/>
            </a:avLst>
          </a:prstGeom>
          <a:solidFill>
            <a:srgbClr val="C7D2FE"/>
          </a:solidFill>
          <a:ln/>
        </p:spPr>
        <p:txBody>
          <a:bodyPr/>
          <a:lstStyle/>
          <a:p>
            <a:endParaRPr lang="en-US" sz="2400"/>
          </a:p>
        </p:txBody>
      </p:sp>
      <p:sp>
        <p:nvSpPr>
          <p:cNvPr id="28" name="Text 26"/>
          <p:cNvSpPr/>
          <p:nvPr/>
        </p:nvSpPr>
        <p:spPr>
          <a:xfrm>
            <a:off x="6132576" y="1426464"/>
            <a:ext cx="1682496" cy="390144"/>
          </a:xfrm>
          <a:prstGeom prst="rect">
            <a:avLst/>
          </a:prstGeom>
          <a:noFill/>
          <a:ln/>
        </p:spPr>
        <p:txBody>
          <a:bodyPr wrap="square" lIns="0" tIns="0" rIns="0" bIns="0" rtlCol="0" anchor="ctr"/>
          <a:lstStyle/>
          <a:p>
            <a:pPr algn="ctr"/>
            <a:r>
              <a:rPr lang="en-US" sz="1267" b="1" dirty="0">
                <a:solidFill>
                  <a:srgbClr val="4F46E5"/>
                </a:solidFill>
                <a:latin typeface="Calibri" pitchFamily="34" charset="0"/>
                <a:ea typeface="Calibri" pitchFamily="34" charset="-122"/>
                <a:cs typeface="Calibri" pitchFamily="34" charset="-120"/>
              </a:rPr>
              <a:t>Growth Market</a:t>
            </a:r>
            <a:endParaRPr lang="en-US" sz="1267" dirty="0"/>
          </a:p>
        </p:txBody>
      </p:sp>
      <p:sp>
        <p:nvSpPr>
          <p:cNvPr id="29" name="Text 27"/>
          <p:cNvSpPr/>
          <p:nvPr/>
        </p:nvSpPr>
        <p:spPr>
          <a:xfrm>
            <a:off x="4401312" y="1926336"/>
            <a:ext cx="3438144" cy="512064"/>
          </a:xfrm>
          <a:prstGeom prst="rect">
            <a:avLst/>
          </a:prstGeom>
          <a:noFill/>
          <a:ln/>
        </p:spPr>
        <p:txBody>
          <a:bodyPr wrap="square" rtlCol="0" anchor="ctr"/>
          <a:lstStyle/>
          <a:p>
            <a:r>
              <a:rPr lang="en-US" sz="2400" b="1" dirty="0">
                <a:latin typeface="Calibri" pitchFamily="34" charset="0"/>
                <a:ea typeface="Calibri" pitchFamily="34" charset="-122"/>
                <a:cs typeface="Calibri" pitchFamily="34" charset="-120"/>
              </a:rPr>
              <a:t>Jawa Barat</a:t>
            </a:r>
            <a:endParaRPr lang="en-US" sz="2400" dirty="0"/>
          </a:p>
        </p:txBody>
      </p:sp>
      <p:sp>
        <p:nvSpPr>
          <p:cNvPr id="30" name="Shape 28"/>
          <p:cNvSpPr/>
          <p:nvPr/>
        </p:nvSpPr>
        <p:spPr>
          <a:xfrm>
            <a:off x="4401312" y="2499360"/>
            <a:ext cx="1658112" cy="390144"/>
          </a:xfrm>
          <a:prstGeom prst="roundRect">
            <a:avLst>
              <a:gd name="adj" fmla="val 21875"/>
            </a:avLst>
          </a:prstGeom>
          <a:solidFill>
            <a:srgbClr val="4F46E5">
              <a:alpha val="12000"/>
            </a:srgbClr>
          </a:solidFill>
          <a:ln/>
        </p:spPr>
        <p:txBody>
          <a:bodyPr/>
          <a:lstStyle/>
          <a:p>
            <a:endParaRPr lang="en-US" sz="2400"/>
          </a:p>
        </p:txBody>
      </p:sp>
      <p:sp>
        <p:nvSpPr>
          <p:cNvPr id="31" name="Text 29"/>
          <p:cNvSpPr/>
          <p:nvPr/>
        </p:nvSpPr>
        <p:spPr>
          <a:xfrm>
            <a:off x="4401312" y="2499360"/>
            <a:ext cx="1658112" cy="390144"/>
          </a:xfrm>
          <a:prstGeom prst="rect">
            <a:avLst/>
          </a:prstGeom>
          <a:noFill/>
          <a:ln/>
        </p:spPr>
        <p:txBody>
          <a:bodyPr wrap="square" lIns="0" tIns="0" rIns="0" bIns="0" rtlCol="0" anchor="ctr"/>
          <a:lstStyle/>
          <a:p>
            <a:pPr algn="ctr"/>
            <a:r>
              <a:rPr lang="en-US" sz="1200" b="1" dirty="0">
                <a:solidFill>
                  <a:srgbClr val="4F46E5"/>
                </a:solidFill>
                <a:latin typeface="Calibri" pitchFamily="34" charset="0"/>
                <a:ea typeface="Calibri" pitchFamily="34" charset="-122"/>
                <a:cs typeface="Calibri" pitchFamily="34" charset="-120"/>
              </a:rPr>
              <a:t>Opp. Score: 18,629</a:t>
            </a:r>
            <a:endParaRPr lang="en-US" sz="1200" dirty="0"/>
          </a:p>
        </p:txBody>
      </p:sp>
      <p:sp>
        <p:nvSpPr>
          <p:cNvPr id="32" name="Shape 30"/>
          <p:cNvSpPr/>
          <p:nvPr/>
        </p:nvSpPr>
        <p:spPr>
          <a:xfrm>
            <a:off x="6132576" y="2499360"/>
            <a:ext cx="1682496" cy="390144"/>
          </a:xfrm>
          <a:prstGeom prst="roundRect">
            <a:avLst>
              <a:gd name="adj" fmla="val 21875"/>
            </a:avLst>
          </a:prstGeom>
          <a:solidFill>
            <a:srgbClr val="4F46E5">
              <a:alpha val="12000"/>
            </a:srgbClr>
          </a:solidFill>
          <a:ln/>
        </p:spPr>
        <p:txBody>
          <a:bodyPr/>
          <a:lstStyle/>
          <a:p>
            <a:endParaRPr lang="en-US" sz="2400"/>
          </a:p>
        </p:txBody>
      </p:sp>
      <p:sp>
        <p:nvSpPr>
          <p:cNvPr id="33" name="Text 31"/>
          <p:cNvSpPr/>
          <p:nvPr/>
        </p:nvSpPr>
        <p:spPr>
          <a:xfrm>
            <a:off x="6132576" y="2499360"/>
            <a:ext cx="1682496" cy="390144"/>
          </a:xfrm>
          <a:prstGeom prst="rect">
            <a:avLst/>
          </a:prstGeom>
          <a:noFill/>
          <a:ln/>
        </p:spPr>
        <p:txBody>
          <a:bodyPr wrap="square" lIns="0" tIns="0" rIns="0" bIns="0" rtlCol="0" anchor="ctr"/>
          <a:lstStyle/>
          <a:p>
            <a:pPr algn="ctr"/>
            <a:r>
              <a:rPr lang="en-US" sz="1200" b="1" dirty="0">
                <a:solidFill>
                  <a:srgbClr val="4F46E5"/>
                </a:solidFill>
                <a:latin typeface="Calibri" pitchFamily="34" charset="0"/>
                <a:ea typeface="Calibri" pitchFamily="34" charset="-122"/>
                <a:cs typeface="Calibri" pitchFamily="34" charset="-120"/>
              </a:rPr>
              <a:t>Risk: 39.6/1000 ⚡</a:t>
            </a:r>
            <a:endParaRPr lang="en-US" sz="1200" dirty="0"/>
          </a:p>
        </p:txBody>
      </p:sp>
      <p:sp>
        <p:nvSpPr>
          <p:cNvPr id="34" name="Text 32"/>
          <p:cNvSpPr/>
          <p:nvPr/>
        </p:nvSpPr>
        <p:spPr>
          <a:xfrm>
            <a:off x="4401312" y="3011424"/>
            <a:ext cx="3438144" cy="341376"/>
          </a:xfrm>
          <a:prstGeom prst="rect">
            <a:avLst/>
          </a:prstGeom>
          <a:noFill/>
          <a:ln/>
        </p:spPr>
        <p:txBody>
          <a:bodyPr wrap="square" rtlCol="0" anchor="ctr"/>
          <a:lstStyle/>
          <a:p>
            <a:pPr algn="r"/>
            <a:r>
              <a:rPr lang="en-US" sz="1333" i="1" dirty="0">
                <a:solidFill>
                  <a:srgbClr val="64748B"/>
                </a:solidFill>
                <a:latin typeface="Calibri" pitchFamily="34" charset="0"/>
                <a:ea typeface="Calibri" pitchFamily="34" charset="-122"/>
                <a:cs typeface="Calibri" pitchFamily="34" charset="-120"/>
              </a:rPr>
              <a:t>Score 66.8</a:t>
            </a:r>
            <a:endParaRPr lang="en-US" sz="1333" dirty="0"/>
          </a:p>
        </p:txBody>
      </p:sp>
      <p:sp>
        <p:nvSpPr>
          <p:cNvPr id="35" name="Shape 33"/>
          <p:cNvSpPr/>
          <p:nvPr/>
        </p:nvSpPr>
        <p:spPr>
          <a:xfrm>
            <a:off x="4401312" y="3401568"/>
            <a:ext cx="3438144" cy="30480"/>
          </a:xfrm>
          <a:prstGeom prst="rect">
            <a:avLst/>
          </a:prstGeom>
          <a:solidFill>
            <a:srgbClr val="4F46E5">
              <a:alpha val="35000"/>
            </a:srgbClr>
          </a:solidFill>
          <a:ln/>
        </p:spPr>
        <p:txBody>
          <a:bodyPr/>
          <a:lstStyle/>
          <a:p>
            <a:endParaRPr lang="en-US" sz="2400"/>
          </a:p>
        </p:txBody>
      </p:sp>
      <p:sp>
        <p:nvSpPr>
          <p:cNvPr id="36" name="Text 34"/>
          <p:cNvSpPr/>
          <p:nvPr/>
        </p:nvSpPr>
        <p:spPr>
          <a:xfrm>
            <a:off x="4401312" y="3474720"/>
            <a:ext cx="3438144" cy="365760"/>
          </a:xfrm>
          <a:prstGeom prst="rect">
            <a:avLst/>
          </a:prstGeom>
          <a:noFill/>
          <a:ln/>
        </p:spPr>
        <p:txBody>
          <a:bodyPr wrap="square" rtlCol="0" anchor="ctr"/>
          <a:lstStyle/>
          <a:p>
            <a:r>
              <a:rPr lang="en-US" sz="1400" b="1" i="1" dirty="0">
                <a:solidFill>
                  <a:srgbClr val="4F46E5"/>
                </a:solidFill>
                <a:latin typeface="Calibri" pitchFamily="34" charset="0"/>
                <a:ea typeface="Calibri" pitchFamily="34" charset="-122"/>
                <a:cs typeface="Calibri" pitchFamily="34" charset="-120"/>
              </a:rPr>
              <a:t>Trial &amp; Partnership</a:t>
            </a:r>
            <a:endParaRPr lang="en-US" sz="1400" dirty="0"/>
          </a:p>
        </p:txBody>
      </p:sp>
      <p:sp>
        <p:nvSpPr>
          <p:cNvPr id="37" name="Text 35"/>
          <p:cNvSpPr/>
          <p:nvPr/>
        </p:nvSpPr>
        <p:spPr>
          <a:xfrm>
            <a:off x="4401312" y="3877056"/>
            <a:ext cx="3438144" cy="451104"/>
          </a:xfrm>
          <a:prstGeom prst="rect">
            <a:avLst/>
          </a:prstGeom>
          <a:noFill/>
          <a:ln/>
        </p:spPr>
        <p:txBody>
          <a:bodyPr wrap="square" rtlCol="0" anchor="ctr"/>
          <a:lstStyle/>
          <a:p>
            <a:pPr marL="457189" indent="-457189">
              <a:buSzPct val="100000"/>
              <a:buFont typeface="+mj-lt"/>
              <a:buAutoNum type="arabicPeriod"/>
            </a:pPr>
            <a:r>
              <a:rPr lang="en-US" sz="1467" dirty="0">
                <a:solidFill>
                  <a:srgbClr val="1E293B"/>
                </a:solidFill>
                <a:latin typeface="Calibri" pitchFamily="34" charset="0"/>
                <a:ea typeface="Calibri" pitchFamily="34" charset="-122"/>
                <a:cs typeface="Calibri" pitchFamily="34" charset="-120"/>
              </a:rPr>
              <a:t>Pilot gratis Bandung &amp; Bekasi (10 perusahaan)</a:t>
            </a:r>
            <a:endParaRPr lang="en-US" sz="1467" dirty="0"/>
          </a:p>
        </p:txBody>
      </p:sp>
      <p:sp>
        <p:nvSpPr>
          <p:cNvPr id="38" name="Text 36"/>
          <p:cNvSpPr/>
          <p:nvPr/>
        </p:nvSpPr>
        <p:spPr>
          <a:xfrm>
            <a:off x="4401312" y="4340352"/>
            <a:ext cx="3438144" cy="451104"/>
          </a:xfrm>
          <a:prstGeom prst="rect">
            <a:avLst/>
          </a:prstGeom>
          <a:noFill/>
          <a:ln/>
        </p:spPr>
        <p:txBody>
          <a:bodyPr wrap="square" rtlCol="0" anchor="ctr"/>
          <a:lstStyle/>
          <a:p>
            <a:pPr marL="457189" indent="-457189">
              <a:buSzPct val="100000"/>
              <a:buFont typeface="+mj-lt"/>
              <a:buAutoNum type="arabicPeriod" startAt="2"/>
            </a:pPr>
            <a:r>
              <a:rPr lang="en-US" sz="1467" dirty="0">
                <a:solidFill>
                  <a:srgbClr val="1E293B"/>
                </a:solidFill>
                <a:latin typeface="Calibri" pitchFamily="34" charset="0"/>
                <a:ea typeface="Calibri" pitchFamily="34" charset="-122"/>
                <a:cs typeface="Calibri" pitchFamily="34" charset="-120"/>
              </a:rPr>
              <a:t>Partnership asosiasi kontraktor lokal</a:t>
            </a:r>
            <a:endParaRPr lang="en-US" sz="1467" dirty="0"/>
          </a:p>
        </p:txBody>
      </p:sp>
      <p:sp>
        <p:nvSpPr>
          <p:cNvPr id="39" name="Text 37"/>
          <p:cNvSpPr/>
          <p:nvPr/>
        </p:nvSpPr>
        <p:spPr>
          <a:xfrm>
            <a:off x="4401312" y="4803648"/>
            <a:ext cx="3438144" cy="451104"/>
          </a:xfrm>
          <a:prstGeom prst="rect">
            <a:avLst/>
          </a:prstGeom>
          <a:noFill/>
          <a:ln/>
        </p:spPr>
        <p:txBody>
          <a:bodyPr wrap="square" rtlCol="0" anchor="ctr"/>
          <a:lstStyle/>
          <a:p>
            <a:pPr marL="457189" indent="-457189">
              <a:buSzPct val="100000"/>
              <a:buFont typeface="+mj-lt"/>
              <a:buAutoNum type="arabicPeriod" startAt="3"/>
            </a:pPr>
            <a:r>
              <a:rPr lang="en-US" sz="1467" dirty="0">
                <a:solidFill>
                  <a:srgbClr val="1E293B"/>
                </a:solidFill>
                <a:latin typeface="Calibri" pitchFamily="34" charset="0"/>
                <a:ea typeface="Calibri" pitchFamily="34" charset="-122"/>
                <a:cs typeface="Calibri" pitchFamily="34" charset="-120"/>
              </a:rPr>
              <a:t>Edukasi &amp; webinar K3 online</a:t>
            </a:r>
            <a:endParaRPr lang="en-US" sz="1467" dirty="0"/>
          </a:p>
        </p:txBody>
      </p:sp>
      <p:sp>
        <p:nvSpPr>
          <p:cNvPr id="42" name="Shape 40"/>
          <p:cNvSpPr/>
          <p:nvPr/>
        </p:nvSpPr>
        <p:spPr>
          <a:xfrm>
            <a:off x="8217408" y="1255776"/>
            <a:ext cx="3755136" cy="4389120"/>
          </a:xfrm>
          <a:prstGeom prst="roundRect">
            <a:avLst>
              <a:gd name="adj" fmla="val 4545"/>
            </a:avLst>
          </a:prstGeom>
          <a:solidFill>
            <a:srgbClr val="F0FDFA"/>
          </a:solidFill>
          <a:ln/>
          <a:effectLst>
            <a:outerShdw blurRad="127000" dist="38100" dir="2700000" algn="bl" rotWithShape="0">
              <a:srgbClr val="000000">
                <a:alpha val="10000"/>
              </a:srgbClr>
            </a:outerShdw>
          </a:effectLst>
        </p:spPr>
        <p:txBody>
          <a:bodyPr/>
          <a:lstStyle/>
          <a:p>
            <a:endParaRPr lang="en-US" sz="2400"/>
          </a:p>
        </p:txBody>
      </p:sp>
      <p:sp>
        <p:nvSpPr>
          <p:cNvPr id="43" name="Shape 41"/>
          <p:cNvSpPr/>
          <p:nvPr/>
        </p:nvSpPr>
        <p:spPr>
          <a:xfrm>
            <a:off x="8375904" y="1426464"/>
            <a:ext cx="1682496" cy="390144"/>
          </a:xfrm>
          <a:prstGeom prst="roundRect">
            <a:avLst>
              <a:gd name="adj" fmla="val 21875"/>
            </a:avLst>
          </a:prstGeom>
          <a:solidFill>
            <a:srgbClr val="0E7490"/>
          </a:solidFill>
          <a:ln/>
        </p:spPr>
        <p:txBody>
          <a:bodyPr/>
          <a:lstStyle/>
          <a:p>
            <a:endParaRPr lang="en-US" sz="2400"/>
          </a:p>
        </p:txBody>
      </p:sp>
      <p:sp>
        <p:nvSpPr>
          <p:cNvPr id="44" name="Text 42"/>
          <p:cNvSpPr/>
          <p:nvPr/>
        </p:nvSpPr>
        <p:spPr>
          <a:xfrm>
            <a:off x="8375904" y="1426464"/>
            <a:ext cx="1682496" cy="390144"/>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Canvassing</a:t>
            </a:r>
            <a:endParaRPr lang="en-US" sz="1267" dirty="0"/>
          </a:p>
        </p:txBody>
      </p:sp>
      <p:sp>
        <p:nvSpPr>
          <p:cNvPr id="45" name="Shape 43"/>
          <p:cNvSpPr/>
          <p:nvPr/>
        </p:nvSpPr>
        <p:spPr>
          <a:xfrm>
            <a:off x="10107168" y="1426464"/>
            <a:ext cx="1682496" cy="390144"/>
          </a:xfrm>
          <a:prstGeom prst="roundRect">
            <a:avLst>
              <a:gd name="adj" fmla="val 21875"/>
            </a:avLst>
          </a:prstGeom>
          <a:solidFill>
            <a:srgbClr val="99F6E4"/>
          </a:solidFill>
          <a:ln/>
        </p:spPr>
        <p:txBody>
          <a:bodyPr/>
          <a:lstStyle/>
          <a:p>
            <a:endParaRPr lang="en-US" sz="2400"/>
          </a:p>
        </p:txBody>
      </p:sp>
      <p:sp>
        <p:nvSpPr>
          <p:cNvPr id="46" name="Text 44"/>
          <p:cNvSpPr/>
          <p:nvPr/>
        </p:nvSpPr>
        <p:spPr>
          <a:xfrm>
            <a:off x="10107168" y="1426464"/>
            <a:ext cx="1682496" cy="390144"/>
          </a:xfrm>
          <a:prstGeom prst="rect">
            <a:avLst/>
          </a:prstGeom>
          <a:noFill/>
          <a:ln/>
        </p:spPr>
        <p:txBody>
          <a:bodyPr wrap="square" lIns="0" tIns="0" rIns="0" bIns="0" rtlCol="0" anchor="ctr"/>
          <a:lstStyle/>
          <a:p>
            <a:pPr algn="ctr"/>
            <a:r>
              <a:rPr lang="en-US" sz="1267" b="1" dirty="0">
                <a:solidFill>
                  <a:srgbClr val="0E7490"/>
                </a:solidFill>
                <a:latin typeface="Calibri" pitchFamily="34" charset="0"/>
                <a:ea typeface="Calibri" pitchFamily="34" charset="-122"/>
                <a:cs typeface="Calibri" pitchFamily="34" charset="-120"/>
              </a:rPr>
              <a:t>Emerging Market</a:t>
            </a:r>
            <a:endParaRPr lang="en-US" sz="1267" dirty="0"/>
          </a:p>
        </p:txBody>
      </p:sp>
      <p:sp>
        <p:nvSpPr>
          <p:cNvPr id="47" name="Text 45"/>
          <p:cNvSpPr/>
          <p:nvPr/>
        </p:nvSpPr>
        <p:spPr>
          <a:xfrm>
            <a:off x="8375904" y="1926336"/>
            <a:ext cx="3438144" cy="512064"/>
          </a:xfrm>
          <a:prstGeom prst="rect">
            <a:avLst/>
          </a:prstGeom>
          <a:noFill/>
          <a:ln/>
        </p:spPr>
        <p:txBody>
          <a:bodyPr wrap="square" rtlCol="0" anchor="ctr"/>
          <a:lstStyle/>
          <a:p>
            <a:r>
              <a:rPr lang="en-US" sz="2400" b="1" dirty="0">
                <a:latin typeface="Calibri" pitchFamily="34" charset="0"/>
                <a:ea typeface="Calibri" pitchFamily="34" charset="-122"/>
                <a:cs typeface="Calibri" pitchFamily="34" charset="-120"/>
              </a:rPr>
              <a:t>Jateng &amp; Banten</a:t>
            </a:r>
            <a:endParaRPr lang="en-US" sz="2400" dirty="0"/>
          </a:p>
        </p:txBody>
      </p:sp>
      <p:sp>
        <p:nvSpPr>
          <p:cNvPr id="48" name="Shape 46"/>
          <p:cNvSpPr/>
          <p:nvPr/>
        </p:nvSpPr>
        <p:spPr>
          <a:xfrm>
            <a:off x="8375904" y="2499360"/>
            <a:ext cx="1658112" cy="390144"/>
          </a:xfrm>
          <a:prstGeom prst="roundRect">
            <a:avLst>
              <a:gd name="adj" fmla="val 21875"/>
            </a:avLst>
          </a:prstGeom>
          <a:solidFill>
            <a:srgbClr val="0E7490">
              <a:alpha val="12000"/>
            </a:srgbClr>
          </a:solidFill>
          <a:ln/>
        </p:spPr>
        <p:txBody>
          <a:bodyPr/>
          <a:lstStyle/>
          <a:p>
            <a:endParaRPr lang="en-US" sz="2400"/>
          </a:p>
        </p:txBody>
      </p:sp>
      <p:sp>
        <p:nvSpPr>
          <p:cNvPr id="49" name="Text 47"/>
          <p:cNvSpPr/>
          <p:nvPr/>
        </p:nvSpPr>
        <p:spPr>
          <a:xfrm>
            <a:off x="8375904" y="2499360"/>
            <a:ext cx="1658112" cy="390144"/>
          </a:xfrm>
          <a:prstGeom prst="rect">
            <a:avLst/>
          </a:prstGeom>
          <a:noFill/>
          <a:ln/>
        </p:spPr>
        <p:txBody>
          <a:bodyPr wrap="square" lIns="0" tIns="0" rIns="0" bIns="0" rtlCol="0" anchor="ctr"/>
          <a:lstStyle/>
          <a:p>
            <a:pPr algn="ctr"/>
            <a:r>
              <a:rPr lang="en-US" sz="1200" b="1" dirty="0">
                <a:solidFill>
                  <a:srgbClr val="0E7490"/>
                </a:solidFill>
                <a:latin typeface="Calibri" pitchFamily="34" charset="0"/>
                <a:ea typeface="Calibri" pitchFamily="34" charset="-122"/>
                <a:cs typeface="Calibri" pitchFamily="34" charset="-120"/>
              </a:rPr>
              <a:t>Opp. Score: 23,762</a:t>
            </a:r>
            <a:endParaRPr lang="en-US" sz="1200" dirty="0"/>
          </a:p>
        </p:txBody>
      </p:sp>
      <p:sp>
        <p:nvSpPr>
          <p:cNvPr id="50" name="Shape 48"/>
          <p:cNvSpPr/>
          <p:nvPr/>
        </p:nvSpPr>
        <p:spPr>
          <a:xfrm>
            <a:off x="10107168" y="2499360"/>
            <a:ext cx="1682496" cy="390144"/>
          </a:xfrm>
          <a:prstGeom prst="roundRect">
            <a:avLst>
              <a:gd name="adj" fmla="val 21875"/>
            </a:avLst>
          </a:prstGeom>
          <a:solidFill>
            <a:srgbClr val="0E7490">
              <a:alpha val="12000"/>
            </a:srgbClr>
          </a:solidFill>
          <a:ln/>
        </p:spPr>
        <p:txBody>
          <a:bodyPr/>
          <a:lstStyle/>
          <a:p>
            <a:endParaRPr lang="en-US" sz="2400"/>
          </a:p>
        </p:txBody>
      </p:sp>
      <p:sp>
        <p:nvSpPr>
          <p:cNvPr id="51" name="Text 49"/>
          <p:cNvSpPr/>
          <p:nvPr/>
        </p:nvSpPr>
        <p:spPr>
          <a:xfrm>
            <a:off x="10107168" y="2499360"/>
            <a:ext cx="1682496" cy="390144"/>
          </a:xfrm>
          <a:prstGeom prst="rect">
            <a:avLst/>
          </a:prstGeom>
          <a:noFill/>
          <a:ln/>
        </p:spPr>
        <p:txBody>
          <a:bodyPr wrap="square" lIns="0" tIns="0" rIns="0" bIns="0" rtlCol="0" anchor="ctr"/>
          <a:lstStyle/>
          <a:p>
            <a:pPr algn="ctr"/>
            <a:r>
              <a:rPr lang="en-US" sz="1200" b="1" dirty="0">
                <a:solidFill>
                  <a:srgbClr val="0E7490"/>
                </a:solidFill>
                <a:latin typeface="Calibri" pitchFamily="34" charset="0"/>
                <a:ea typeface="Calibri" pitchFamily="34" charset="-122"/>
                <a:cs typeface="Calibri" pitchFamily="34" charset="-120"/>
              </a:rPr>
              <a:t>Risk: 44.4/1000 🔴</a:t>
            </a:r>
            <a:endParaRPr lang="en-US" sz="1200" dirty="0"/>
          </a:p>
        </p:txBody>
      </p:sp>
      <p:sp>
        <p:nvSpPr>
          <p:cNvPr id="52" name="Text 50"/>
          <p:cNvSpPr/>
          <p:nvPr/>
        </p:nvSpPr>
        <p:spPr>
          <a:xfrm>
            <a:off x="8375904" y="3011424"/>
            <a:ext cx="3438144" cy="341376"/>
          </a:xfrm>
          <a:prstGeom prst="rect">
            <a:avLst/>
          </a:prstGeom>
          <a:noFill/>
          <a:ln/>
        </p:spPr>
        <p:txBody>
          <a:bodyPr wrap="square" rtlCol="0" anchor="ctr"/>
          <a:lstStyle/>
          <a:p>
            <a:pPr algn="r"/>
            <a:r>
              <a:rPr lang="en-US" sz="1333" i="1" dirty="0">
                <a:solidFill>
                  <a:srgbClr val="64748B"/>
                </a:solidFill>
                <a:latin typeface="Calibri" pitchFamily="34" charset="0"/>
                <a:ea typeface="Calibri" pitchFamily="34" charset="-122"/>
                <a:cs typeface="Calibri" pitchFamily="34" charset="-120"/>
              </a:rPr>
              <a:t>Score ~31</a:t>
            </a:r>
            <a:endParaRPr lang="en-US" sz="1333" dirty="0"/>
          </a:p>
        </p:txBody>
      </p:sp>
      <p:sp>
        <p:nvSpPr>
          <p:cNvPr id="53" name="Shape 51"/>
          <p:cNvSpPr/>
          <p:nvPr/>
        </p:nvSpPr>
        <p:spPr>
          <a:xfrm>
            <a:off x="8375904" y="3401568"/>
            <a:ext cx="3438144" cy="30480"/>
          </a:xfrm>
          <a:prstGeom prst="rect">
            <a:avLst/>
          </a:prstGeom>
          <a:solidFill>
            <a:srgbClr val="0E7490">
              <a:alpha val="35000"/>
            </a:srgbClr>
          </a:solidFill>
          <a:ln/>
        </p:spPr>
        <p:txBody>
          <a:bodyPr/>
          <a:lstStyle/>
          <a:p>
            <a:endParaRPr lang="en-US" sz="2400"/>
          </a:p>
        </p:txBody>
      </p:sp>
      <p:sp>
        <p:nvSpPr>
          <p:cNvPr id="54" name="Text 52"/>
          <p:cNvSpPr/>
          <p:nvPr/>
        </p:nvSpPr>
        <p:spPr>
          <a:xfrm>
            <a:off x="8375904" y="3474720"/>
            <a:ext cx="3438144" cy="365760"/>
          </a:xfrm>
          <a:prstGeom prst="rect">
            <a:avLst/>
          </a:prstGeom>
          <a:noFill/>
          <a:ln/>
        </p:spPr>
        <p:txBody>
          <a:bodyPr wrap="square" rtlCol="0" anchor="ctr"/>
          <a:lstStyle/>
          <a:p>
            <a:r>
              <a:rPr lang="en-US" sz="1400" b="1" i="1" dirty="0">
                <a:solidFill>
                  <a:srgbClr val="0E7490"/>
                </a:solidFill>
                <a:latin typeface="Calibri" pitchFamily="34" charset="0"/>
                <a:ea typeface="Calibri" pitchFamily="34" charset="-122"/>
                <a:cs typeface="Calibri" pitchFamily="34" charset="-120"/>
              </a:rPr>
              <a:t>Digital Marketing &amp; Awareness</a:t>
            </a:r>
            <a:endParaRPr lang="en-US" sz="1400" dirty="0"/>
          </a:p>
        </p:txBody>
      </p:sp>
      <p:sp>
        <p:nvSpPr>
          <p:cNvPr id="55" name="Text 53"/>
          <p:cNvSpPr/>
          <p:nvPr/>
        </p:nvSpPr>
        <p:spPr>
          <a:xfrm>
            <a:off x="8375904" y="3877056"/>
            <a:ext cx="3438144" cy="451104"/>
          </a:xfrm>
          <a:prstGeom prst="rect">
            <a:avLst/>
          </a:prstGeom>
          <a:noFill/>
          <a:ln/>
        </p:spPr>
        <p:txBody>
          <a:bodyPr wrap="square" rtlCol="0" anchor="ctr"/>
          <a:lstStyle/>
          <a:p>
            <a:pPr marL="457189" indent="-457189">
              <a:buSzPct val="100000"/>
              <a:buFont typeface="+mj-lt"/>
              <a:buAutoNum type="arabicPeriod"/>
            </a:pPr>
            <a:r>
              <a:rPr lang="en-US" sz="1467" dirty="0">
                <a:solidFill>
                  <a:srgbClr val="1E293B"/>
                </a:solidFill>
                <a:latin typeface="Calibri" pitchFamily="34" charset="0"/>
                <a:ea typeface="Calibri" pitchFamily="34" charset="-122"/>
                <a:cs typeface="Calibri" pitchFamily="34" charset="-120"/>
              </a:rPr>
              <a:t>Google Ads: 'Kurangi Kecelakaan Konstruksi'</a:t>
            </a:r>
            <a:endParaRPr lang="en-US" sz="1467" dirty="0"/>
          </a:p>
        </p:txBody>
      </p:sp>
      <p:sp>
        <p:nvSpPr>
          <p:cNvPr id="56" name="Text 54"/>
          <p:cNvSpPr/>
          <p:nvPr/>
        </p:nvSpPr>
        <p:spPr>
          <a:xfrm>
            <a:off x="8375904" y="4340352"/>
            <a:ext cx="3438144" cy="451104"/>
          </a:xfrm>
          <a:prstGeom prst="rect">
            <a:avLst/>
          </a:prstGeom>
          <a:noFill/>
          <a:ln/>
        </p:spPr>
        <p:txBody>
          <a:bodyPr wrap="square" rtlCol="0" anchor="ctr"/>
          <a:lstStyle/>
          <a:p>
            <a:pPr marL="457189" indent="-457189">
              <a:buSzPct val="100000"/>
              <a:buFont typeface="+mj-lt"/>
              <a:buAutoNum type="arabicPeriod" startAt="2"/>
            </a:pPr>
            <a:r>
              <a:rPr lang="en-US" sz="1467" dirty="0">
                <a:solidFill>
                  <a:srgbClr val="1E293B"/>
                </a:solidFill>
                <a:latin typeface="Calibri" pitchFamily="34" charset="0"/>
                <a:ea typeface="Calibri" pitchFamily="34" charset="-122"/>
                <a:cs typeface="Calibri" pitchFamily="34" charset="-120"/>
              </a:rPr>
              <a:t>Webinar edukasi K3 — CPL &lt; Rp 50.000</a:t>
            </a:r>
            <a:endParaRPr lang="en-US" sz="1467" dirty="0"/>
          </a:p>
        </p:txBody>
      </p:sp>
      <p:sp>
        <p:nvSpPr>
          <p:cNvPr id="57" name="Text 55"/>
          <p:cNvSpPr/>
          <p:nvPr/>
        </p:nvSpPr>
        <p:spPr>
          <a:xfrm>
            <a:off x="8375904" y="4803648"/>
            <a:ext cx="3438144" cy="451104"/>
          </a:xfrm>
          <a:prstGeom prst="rect">
            <a:avLst/>
          </a:prstGeom>
          <a:noFill/>
          <a:ln/>
        </p:spPr>
        <p:txBody>
          <a:bodyPr wrap="square" rtlCol="0" anchor="ctr"/>
          <a:lstStyle/>
          <a:p>
            <a:pPr marL="457189" indent="-457189">
              <a:buSzPct val="100000"/>
              <a:buFont typeface="+mj-lt"/>
              <a:buAutoNum type="arabicPeriod" startAt="3"/>
            </a:pPr>
            <a:r>
              <a:rPr lang="en-US" sz="1467" dirty="0">
                <a:solidFill>
                  <a:srgbClr val="1E293B"/>
                </a:solidFill>
                <a:latin typeface="Calibri" pitchFamily="34" charset="0"/>
                <a:ea typeface="Calibri" pitchFamily="34" charset="-122"/>
                <a:cs typeface="Calibri" pitchFamily="34" charset="-120"/>
              </a:rPr>
              <a:t>Tangsel: micro-prioritas AI Safety pilot</a:t>
            </a:r>
            <a:endParaRPr lang="en-US" sz="1467" dirty="0"/>
          </a:p>
        </p:txBody>
      </p:sp>
      <p:sp>
        <p:nvSpPr>
          <p:cNvPr id="60" name="Shape 58"/>
          <p:cNvSpPr/>
          <p:nvPr/>
        </p:nvSpPr>
        <p:spPr>
          <a:xfrm>
            <a:off x="268224" y="5766816"/>
            <a:ext cx="11655552" cy="950976"/>
          </a:xfrm>
          <a:prstGeom prst="roundRect">
            <a:avLst>
              <a:gd name="adj" fmla="val 12821"/>
            </a:avLst>
          </a:prstGeom>
          <a:solidFill>
            <a:srgbClr val="F1F5F9"/>
          </a:solidFill>
          <a:ln/>
          <a:effectLst>
            <a:outerShdw blurRad="76200" dist="25400" dir="2700000" algn="bl" rotWithShape="0">
              <a:srgbClr val="000000">
                <a:alpha val="7000"/>
              </a:srgbClr>
            </a:outerShdw>
          </a:effectLst>
        </p:spPr>
        <p:txBody>
          <a:bodyPr/>
          <a:lstStyle/>
          <a:p>
            <a:endParaRPr lang="en-US" sz="2400"/>
          </a:p>
        </p:txBody>
      </p:sp>
      <p:sp>
        <p:nvSpPr>
          <p:cNvPr id="61" name="Text 59"/>
          <p:cNvSpPr/>
          <p:nvPr/>
        </p:nvSpPr>
        <p:spPr>
          <a:xfrm>
            <a:off x="426720" y="5766816"/>
            <a:ext cx="11338560" cy="950976"/>
          </a:xfrm>
          <a:prstGeom prst="rect">
            <a:avLst/>
          </a:prstGeom>
          <a:noFill/>
          <a:ln/>
        </p:spPr>
        <p:txBody>
          <a:bodyPr wrap="square" rtlCol="0" anchor="ctr"/>
          <a:lstStyle/>
          <a:p>
            <a:pPr algn="ctr"/>
            <a:r>
              <a:rPr lang="en-US" sz="1467" dirty="0">
                <a:solidFill>
                  <a:srgbClr val="64748B"/>
                </a:solidFill>
                <a:latin typeface="Calibri" pitchFamily="34" charset="0"/>
                <a:ea typeface="Calibri" pitchFamily="34" charset="-122"/>
                <a:cs typeface="Calibri" pitchFamily="34" charset="-120"/>
              </a:rPr>
              <a:t>  Badge kiri </a:t>
            </a:r>
            <a:r>
              <a:rPr lang="en-US" sz="1467" b="1" dirty="0">
                <a:solidFill>
                  <a:srgbClr val="1A2B5E"/>
                </a:solidFill>
                <a:latin typeface="Calibri" pitchFamily="34" charset="0"/>
                <a:ea typeface="Calibri" pitchFamily="34" charset="-122"/>
                <a:cs typeface="Calibri" pitchFamily="34" charset="-120"/>
              </a:rPr>
              <a:t>= Prioritas B2B (kapan &amp; bagaimana mendekati)</a:t>
            </a:r>
            <a:r>
              <a:rPr lang="en-US" sz="1467" dirty="0">
                <a:solidFill>
                  <a:srgbClr val="64748B"/>
                </a:solidFill>
                <a:latin typeface="Calibri" pitchFamily="34" charset="0"/>
                <a:ea typeface="Calibri" pitchFamily="34" charset="-122"/>
                <a:cs typeface="Calibri" pitchFamily="34" charset="-120"/>
              </a:rPr>
              <a:t>    |    Badge kanan </a:t>
            </a:r>
            <a:r>
              <a:rPr lang="en-US" sz="1467" b="1" dirty="0">
                <a:solidFill>
                  <a:srgbClr val="4F46E5"/>
                </a:solidFill>
                <a:latin typeface="Calibri" pitchFamily="34" charset="0"/>
                <a:ea typeface="Calibri" pitchFamily="34" charset="-122"/>
                <a:cs typeface="Calibri" pitchFamily="34" charset="-120"/>
              </a:rPr>
              <a:t>= Segmen Pasar (siapa target &amp; ukuran peluang)</a:t>
            </a:r>
            <a:r>
              <a:rPr lang="en-US" sz="1467" dirty="0">
                <a:solidFill>
                  <a:srgbClr val="64748B"/>
                </a:solidFill>
                <a:latin typeface="Calibri" pitchFamily="34" charset="0"/>
                <a:ea typeface="Calibri" pitchFamily="34" charset="-122"/>
                <a:cs typeface="Calibri" pitchFamily="34" charset="-120"/>
              </a:rPr>
              <a:t>    ⚡ Catatan: </a:t>
            </a:r>
            <a:r>
              <a:rPr lang="en-US" sz="1467" b="1" dirty="0">
                <a:solidFill>
                  <a:srgbClr val="D97706"/>
                </a:solidFill>
                <a:latin typeface="Calibri" pitchFamily="34" charset="0"/>
                <a:ea typeface="Calibri" pitchFamily="34" charset="-122"/>
                <a:cs typeface="Calibri" pitchFamily="34" charset="-120"/>
              </a:rPr>
              <a:t>Tangsel (Banten) = micro-prioritas AI Safety meski provinsi masuk Canvassing.</a:t>
            </a:r>
            <a:endParaRPr lang="en-US" sz="146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D667-B864-F4EC-C9CE-F4FE8B55D5A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DD9822C-2775-04AF-9404-52590D6A6B15}"/>
              </a:ext>
            </a:extLst>
          </p:cNvPr>
          <p:cNvSpPr>
            <a:spLocks noGrp="1"/>
          </p:cNvSpPr>
          <p:nvPr>
            <p:ph type="title"/>
          </p:nvPr>
        </p:nvSpPr>
        <p:spPr>
          <a:xfrm>
            <a:off x="680936" y="771524"/>
            <a:ext cx="4856264" cy="2195411"/>
          </a:xfrm>
        </p:spPr>
        <p:txBody>
          <a:bodyPr/>
          <a:lstStyle/>
          <a:p>
            <a:pPr marL="0" indent="0"/>
            <a:r>
              <a:rPr lang="en-US" sz="4800" dirty="0">
                <a:solidFill>
                  <a:schemeClr val="tx1"/>
                </a:solidFill>
                <a:ea typeface="Calibri" pitchFamily="34" charset="-122"/>
                <a:cs typeface="Calibri" pitchFamily="34" charset="-120"/>
              </a:rPr>
              <a:t>Regional Hotspot &amp; AI Safety</a:t>
            </a:r>
            <a:endParaRPr lang="en-US" sz="4800" dirty="0">
              <a:solidFill>
                <a:schemeClr val="tx1"/>
              </a:solidFill>
            </a:endParaRPr>
          </a:p>
        </p:txBody>
      </p:sp>
      <p:sp>
        <p:nvSpPr>
          <p:cNvPr id="8" name="Text Placeholder 2">
            <a:extLst>
              <a:ext uri="{FF2B5EF4-FFF2-40B4-BE49-F238E27FC236}">
                <a16:creationId xmlns:a16="http://schemas.microsoft.com/office/drawing/2014/main" id="{BC3FE711-F84A-DDD9-7BD6-7F63ACC77597}"/>
              </a:ext>
            </a:extLst>
          </p:cNvPr>
          <p:cNvSpPr>
            <a:spLocks noGrp="1"/>
          </p:cNvSpPr>
          <p:nvPr>
            <p:ph type="body" sz="quarter" idx="10"/>
          </p:nvPr>
        </p:nvSpPr>
        <p:spPr>
          <a:xfrm>
            <a:off x="8854211" y="3733802"/>
            <a:ext cx="2489200" cy="3124198"/>
          </a:xfrm>
          <a:solidFill>
            <a:schemeClr val="accent1">
              <a:lumMod val="60000"/>
              <a:lumOff val="40000"/>
            </a:schemeClr>
          </a:solidFill>
        </p:spPr>
        <p:txBody>
          <a:bodyPr/>
          <a:lstStyle/>
          <a:p>
            <a:r>
              <a:rPr lang="en-US" dirty="0">
                <a:solidFill>
                  <a:schemeClr val="tx1">
                    <a:alpha val="20000"/>
                  </a:schemeClr>
                </a:solidFill>
              </a:rPr>
              <a:t>4</a:t>
            </a:r>
          </a:p>
        </p:txBody>
      </p:sp>
      <p:sp>
        <p:nvSpPr>
          <p:cNvPr id="4" name="Text 2">
            <a:extLst>
              <a:ext uri="{FF2B5EF4-FFF2-40B4-BE49-F238E27FC236}">
                <a16:creationId xmlns:a16="http://schemas.microsoft.com/office/drawing/2014/main" id="{60550AF7-55FC-6B63-86FC-DDE42AF5E81D}"/>
              </a:ext>
            </a:extLst>
          </p:cNvPr>
          <p:cNvSpPr/>
          <p:nvPr/>
        </p:nvSpPr>
        <p:spPr>
          <a:xfrm>
            <a:off x="680936" y="2281135"/>
            <a:ext cx="6217920" cy="640080"/>
          </a:xfrm>
          <a:prstGeom prst="rect">
            <a:avLst/>
          </a:prstGeom>
          <a:noFill/>
          <a:ln/>
        </p:spPr>
        <p:txBody>
          <a:bodyPr wrap="square" rtlCol="0" anchor="ctr"/>
          <a:lstStyle/>
          <a:p>
            <a:pPr marL="0" indent="0" algn="l">
              <a:buNone/>
            </a:pPr>
            <a:r>
              <a:rPr lang="en-US" sz="1800" dirty="0">
                <a:solidFill>
                  <a:srgbClr val="0891B2"/>
                </a:solidFill>
                <a:latin typeface="Calibri" pitchFamily="34" charset="0"/>
                <a:ea typeface="Calibri" pitchFamily="34" charset="-122"/>
                <a:cs typeface="Calibri" pitchFamily="34" charset="-120"/>
              </a:rPr>
              <a:t>Identifikasi Wilayah Prioritas Implementasi</a:t>
            </a:r>
            <a:endParaRPr lang="en-US" sz="1800" dirty="0"/>
          </a:p>
        </p:txBody>
      </p:sp>
    </p:spTree>
    <p:extLst>
      <p:ext uri="{BB962C8B-B14F-4D97-AF65-F5344CB8AC3E}">
        <p14:creationId xmlns:p14="http://schemas.microsoft.com/office/powerpoint/2010/main" val="2340005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Regional Hotspot &amp; Potensi AI Safety</a:t>
            </a:r>
            <a:endParaRPr lang="en-US" sz="2800" dirty="0"/>
          </a:p>
        </p:txBody>
      </p:sp>
      <p:graphicFrame>
        <p:nvGraphicFramePr>
          <p:cNvPr id="4" name="Chart 0"/>
          <p:cNvGraphicFramePr/>
          <p:nvPr>
            <p:extLst>
              <p:ext uri="{D42A27DB-BD31-4B8C-83A1-F6EECF244321}">
                <p14:modId xmlns:p14="http://schemas.microsoft.com/office/powerpoint/2010/main" val="3247045853"/>
              </p:ext>
            </p:extLst>
          </p:nvPr>
        </p:nvGraphicFramePr>
        <p:xfrm>
          <a:off x="365760" y="792480"/>
          <a:ext cx="6686793" cy="259689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802880" y="877824"/>
            <a:ext cx="4084320" cy="463296"/>
          </a:xfrm>
          <a:prstGeom prst="rect">
            <a:avLst/>
          </a:prstGeom>
          <a:noFill/>
          <a:ln/>
        </p:spPr>
        <p:txBody>
          <a:bodyPr wrap="square" rtlCol="0" anchor="ctr"/>
          <a:lstStyle/>
          <a:p>
            <a:r>
              <a:rPr lang="en-US" sz="1733" b="1" dirty="0">
                <a:solidFill>
                  <a:srgbClr val="1E293B"/>
                </a:solidFill>
                <a:latin typeface="Calibri" pitchFamily="34" charset="0"/>
                <a:ea typeface="Calibri" pitchFamily="34" charset="-122"/>
                <a:cs typeface="Calibri" pitchFamily="34" charset="-120"/>
              </a:rPr>
              <a:t>Prioritas AI Safety Implementation</a:t>
            </a:r>
            <a:endParaRPr lang="en-US" sz="1733" dirty="0"/>
          </a:p>
        </p:txBody>
      </p:sp>
      <p:sp>
        <p:nvSpPr>
          <p:cNvPr id="6" name="Shape 3"/>
          <p:cNvSpPr/>
          <p:nvPr/>
        </p:nvSpPr>
        <p:spPr>
          <a:xfrm>
            <a:off x="7802880" y="1365504"/>
            <a:ext cx="4084320" cy="890016"/>
          </a:xfrm>
          <a:prstGeom prst="roundRect">
            <a:avLst>
              <a:gd name="adj" fmla="val 13699"/>
            </a:avLst>
          </a:prstGeom>
          <a:solidFill>
            <a:srgbClr val="F1F5F9"/>
          </a:solidFill>
          <a:ln/>
          <a:effectLst>
            <a:outerShdw blurRad="76200" dist="25400" dir="2700000" algn="bl" rotWithShape="0">
              <a:srgbClr val="000000">
                <a:alpha val="8000"/>
              </a:srgbClr>
            </a:outerShdw>
          </a:effectLst>
        </p:spPr>
        <p:txBody>
          <a:bodyPr/>
          <a:lstStyle/>
          <a:p>
            <a:endParaRPr lang="en-US" sz="2400"/>
          </a:p>
        </p:txBody>
      </p:sp>
      <p:sp>
        <p:nvSpPr>
          <p:cNvPr id="7" name="Text 4"/>
          <p:cNvSpPr/>
          <p:nvPr/>
        </p:nvSpPr>
        <p:spPr>
          <a:xfrm>
            <a:off x="7949184" y="1426464"/>
            <a:ext cx="2621280" cy="365760"/>
          </a:xfrm>
          <a:prstGeom prst="rect">
            <a:avLst/>
          </a:prstGeom>
          <a:noFill/>
          <a:ln/>
        </p:spPr>
        <p:txBody>
          <a:bodyPr wrap="square" lIns="0" tIns="0" rIns="0" bIns="0" rtlCol="0" anchor="ctr"/>
          <a:lstStyle/>
          <a:p>
            <a:r>
              <a:rPr lang="en-US" sz="1600" b="1" dirty="0">
                <a:solidFill>
                  <a:srgbClr val="DC2626"/>
                </a:solidFill>
                <a:latin typeface="Calibri" pitchFamily="34" charset="0"/>
                <a:ea typeface="Calibri" pitchFamily="34" charset="-122"/>
                <a:cs typeface="Calibri" pitchFamily="34" charset="-120"/>
              </a:rPr>
              <a:t>Tangerang Selatan</a:t>
            </a:r>
            <a:endParaRPr lang="en-US" sz="1600" dirty="0"/>
          </a:p>
        </p:txBody>
      </p:sp>
      <p:sp>
        <p:nvSpPr>
          <p:cNvPr id="8" name="Text 5"/>
          <p:cNvSpPr/>
          <p:nvPr/>
        </p:nvSpPr>
        <p:spPr>
          <a:xfrm>
            <a:off x="10582656" y="1426464"/>
            <a:ext cx="1219200" cy="365760"/>
          </a:xfrm>
          <a:prstGeom prst="rect">
            <a:avLst/>
          </a:prstGeom>
          <a:noFill/>
          <a:ln/>
        </p:spPr>
        <p:txBody>
          <a:bodyPr wrap="square" lIns="0" tIns="0" rIns="0" bIns="0" rtlCol="0" anchor="ctr"/>
          <a:lstStyle/>
          <a:p>
            <a:pPr algn="r"/>
            <a:r>
              <a:rPr lang="en-US" sz="1467" dirty="0">
                <a:solidFill>
                  <a:srgbClr val="D97706"/>
                </a:solidFill>
                <a:latin typeface="Calibri" pitchFamily="34" charset="0"/>
                <a:ea typeface="Calibri" pitchFamily="34" charset="-122"/>
                <a:cs typeface="Calibri" pitchFamily="34" charset="-120"/>
              </a:rPr>
              <a:t>★★★★★</a:t>
            </a:r>
            <a:endParaRPr lang="en-US" sz="1467" dirty="0"/>
          </a:p>
        </p:txBody>
      </p:sp>
      <p:sp>
        <p:nvSpPr>
          <p:cNvPr id="9" name="Text 6"/>
          <p:cNvSpPr/>
          <p:nvPr/>
        </p:nvSpPr>
        <p:spPr>
          <a:xfrm>
            <a:off x="7949184" y="1792224"/>
            <a:ext cx="3779520" cy="365760"/>
          </a:xfrm>
          <a:prstGeom prst="rect">
            <a:avLst/>
          </a:prstGeom>
          <a:noFill/>
          <a:ln/>
        </p:spPr>
        <p:txBody>
          <a:bodyPr wrap="square" lIns="0" tIns="0" rIns="0" bIns="0" rtlCol="0" anchor="ctr"/>
          <a:lstStyle/>
          <a:p>
            <a:r>
              <a:rPr lang="en-US" sz="1333" dirty="0">
                <a:solidFill>
                  <a:srgbClr val="475569"/>
                </a:solidFill>
                <a:latin typeface="Calibri" pitchFamily="34" charset="0"/>
                <a:ea typeface="Calibri" pitchFamily="34" charset="-122"/>
                <a:cs typeface="Calibri" pitchFamily="34" charset="-120"/>
              </a:rPr>
              <a:t>Risk density tinggi + dekat Jakarta = Pilot #1</a:t>
            </a:r>
            <a:endParaRPr lang="en-US" sz="1333" dirty="0"/>
          </a:p>
        </p:txBody>
      </p:sp>
      <p:sp>
        <p:nvSpPr>
          <p:cNvPr id="10" name="Shape 7"/>
          <p:cNvSpPr/>
          <p:nvPr/>
        </p:nvSpPr>
        <p:spPr>
          <a:xfrm>
            <a:off x="7802880" y="2377440"/>
            <a:ext cx="4084320" cy="890016"/>
          </a:xfrm>
          <a:prstGeom prst="roundRect">
            <a:avLst>
              <a:gd name="adj" fmla="val 13699"/>
            </a:avLst>
          </a:prstGeom>
          <a:solidFill>
            <a:srgbClr val="F1F5F9"/>
          </a:solidFill>
          <a:ln/>
          <a:effectLst>
            <a:outerShdw blurRad="76200" dist="25400" dir="2700000" algn="bl" rotWithShape="0">
              <a:srgbClr val="000000">
                <a:alpha val="8000"/>
              </a:srgbClr>
            </a:outerShdw>
          </a:effectLst>
        </p:spPr>
        <p:txBody>
          <a:bodyPr/>
          <a:lstStyle/>
          <a:p>
            <a:endParaRPr lang="en-US" sz="2400"/>
          </a:p>
        </p:txBody>
      </p:sp>
      <p:sp>
        <p:nvSpPr>
          <p:cNvPr id="11" name="Text 8"/>
          <p:cNvSpPr/>
          <p:nvPr/>
        </p:nvSpPr>
        <p:spPr>
          <a:xfrm>
            <a:off x="7949184" y="2438400"/>
            <a:ext cx="2621280" cy="365760"/>
          </a:xfrm>
          <a:prstGeom prst="rect">
            <a:avLst/>
          </a:prstGeom>
          <a:noFill/>
          <a:ln/>
        </p:spPr>
        <p:txBody>
          <a:bodyPr wrap="square" lIns="0" tIns="0" rIns="0" bIns="0" rtlCol="0" anchor="ctr"/>
          <a:lstStyle/>
          <a:p>
            <a:r>
              <a:rPr lang="en-US" sz="1600" b="1" dirty="0">
                <a:solidFill>
                  <a:srgbClr val="1A2B5E"/>
                </a:solidFill>
                <a:latin typeface="Calibri" pitchFamily="34" charset="0"/>
                <a:ea typeface="Calibri" pitchFamily="34" charset="-122"/>
                <a:cs typeface="Calibri" pitchFamily="34" charset="-120"/>
              </a:rPr>
              <a:t>Surabaya</a:t>
            </a:r>
            <a:endParaRPr lang="en-US" sz="1600" dirty="0"/>
          </a:p>
        </p:txBody>
      </p:sp>
      <p:sp>
        <p:nvSpPr>
          <p:cNvPr id="12" name="Text 9"/>
          <p:cNvSpPr/>
          <p:nvPr/>
        </p:nvSpPr>
        <p:spPr>
          <a:xfrm>
            <a:off x="10582656" y="2438400"/>
            <a:ext cx="1219200" cy="365760"/>
          </a:xfrm>
          <a:prstGeom prst="rect">
            <a:avLst/>
          </a:prstGeom>
          <a:noFill/>
          <a:ln/>
        </p:spPr>
        <p:txBody>
          <a:bodyPr wrap="square" lIns="0" tIns="0" rIns="0" bIns="0" rtlCol="0" anchor="ctr"/>
          <a:lstStyle/>
          <a:p>
            <a:pPr algn="r"/>
            <a:r>
              <a:rPr lang="en-US" sz="1467" dirty="0">
                <a:solidFill>
                  <a:srgbClr val="D97706"/>
                </a:solidFill>
                <a:latin typeface="Calibri" pitchFamily="34" charset="0"/>
                <a:ea typeface="Calibri" pitchFamily="34" charset="-122"/>
                <a:cs typeface="Calibri" pitchFamily="34" charset="-120"/>
              </a:rPr>
              <a:t>★★★★★</a:t>
            </a:r>
            <a:endParaRPr lang="en-US" sz="1467" dirty="0"/>
          </a:p>
        </p:txBody>
      </p:sp>
      <p:sp>
        <p:nvSpPr>
          <p:cNvPr id="13" name="Text 10"/>
          <p:cNvSpPr/>
          <p:nvPr/>
        </p:nvSpPr>
        <p:spPr>
          <a:xfrm>
            <a:off x="7949184" y="2804160"/>
            <a:ext cx="3779520" cy="365760"/>
          </a:xfrm>
          <a:prstGeom prst="rect">
            <a:avLst/>
          </a:prstGeom>
          <a:noFill/>
          <a:ln/>
        </p:spPr>
        <p:txBody>
          <a:bodyPr wrap="square" lIns="0" tIns="0" rIns="0" bIns="0" rtlCol="0" anchor="ctr"/>
          <a:lstStyle/>
          <a:p>
            <a:r>
              <a:rPr lang="en-US" sz="1333" dirty="0">
                <a:solidFill>
                  <a:srgbClr val="475569"/>
                </a:solidFill>
                <a:latin typeface="Calibri" pitchFamily="34" charset="0"/>
                <a:ea typeface="Calibri" pitchFamily="34" charset="-122"/>
                <a:cs typeface="Calibri" pitchFamily="34" charset="-120"/>
              </a:rPr>
              <a:t>Density perusahaan tertinggi = Sales utama</a:t>
            </a:r>
            <a:endParaRPr lang="en-US" sz="1333" dirty="0"/>
          </a:p>
        </p:txBody>
      </p:sp>
      <p:sp>
        <p:nvSpPr>
          <p:cNvPr id="14" name="Shape 11"/>
          <p:cNvSpPr/>
          <p:nvPr/>
        </p:nvSpPr>
        <p:spPr>
          <a:xfrm>
            <a:off x="7802880" y="3389376"/>
            <a:ext cx="4084320" cy="890016"/>
          </a:xfrm>
          <a:prstGeom prst="roundRect">
            <a:avLst>
              <a:gd name="adj" fmla="val 13699"/>
            </a:avLst>
          </a:prstGeom>
          <a:solidFill>
            <a:srgbClr val="F1F5F9"/>
          </a:solidFill>
          <a:ln/>
          <a:effectLst>
            <a:outerShdw blurRad="76200" dist="25400" dir="2700000" algn="bl" rotWithShape="0">
              <a:srgbClr val="000000">
                <a:alpha val="8000"/>
              </a:srgbClr>
            </a:outerShdw>
          </a:effectLst>
        </p:spPr>
        <p:txBody>
          <a:bodyPr/>
          <a:lstStyle/>
          <a:p>
            <a:endParaRPr lang="en-US" sz="2400"/>
          </a:p>
        </p:txBody>
      </p:sp>
      <p:sp>
        <p:nvSpPr>
          <p:cNvPr id="15" name="Text 12"/>
          <p:cNvSpPr/>
          <p:nvPr/>
        </p:nvSpPr>
        <p:spPr>
          <a:xfrm>
            <a:off x="7949184" y="3450336"/>
            <a:ext cx="2621280" cy="365760"/>
          </a:xfrm>
          <a:prstGeom prst="rect">
            <a:avLst/>
          </a:prstGeom>
          <a:noFill/>
          <a:ln/>
        </p:spPr>
        <p:txBody>
          <a:bodyPr wrap="square" lIns="0" tIns="0" rIns="0" bIns="0" rtlCol="0" anchor="ctr"/>
          <a:lstStyle/>
          <a:p>
            <a:r>
              <a:rPr lang="en-US" sz="1600" b="1" dirty="0">
                <a:solidFill>
                  <a:srgbClr val="4F46E5"/>
                </a:solidFill>
                <a:latin typeface="Calibri" pitchFamily="34" charset="0"/>
                <a:ea typeface="Calibri" pitchFamily="34" charset="-122"/>
                <a:cs typeface="Calibri" pitchFamily="34" charset="-120"/>
              </a:rPr>
              <a:t>Bandung / Bekasi</a:t>
            </a:r>
            <a:endParaRPr lang="en-US" sz="1600" dirty="0"/>
          </a:p>
        </p:txBody>
      </p:sp>
      <p:sp>
        <p:nvSpPr>
          <p:cNvPr id="16" name="Text 13"/>
          <p:cNvSpPr/>
          <p:nvPr/>
        </p:nvSpPr>
        <p:spPr>
          <a:xfrm>
            <a:off x="10582656" y="3450336"/>
            <a:ext cx="1219200" cy="365760"/>
          </a:xfrm>
          <a:prstGeom prst="rect">
            <a:avLst/>
          </a:prstGeom>
          <a:noFill/>
          <a:ln/>
        </p:spPr>
        <p:txBody>
          <a:bodyPr wrap="square" lIns="0" tIns="0" rIns="0" bIns="0" rtlCol="0" anchor="ctr"/>
          <a:lstStyle/>
          <a:p>
            <a:pPr algn="r"/>
            <a:r>
              <a:rPr lang="en-US" sz="1467" dirty="0">
                <a:solidFill>
                  <a:srgbClr val="D97706"/>
                </a:solidFill>
                <a:latin typeface="Calibri" pitchFamily="34" charset="0"/>
                <a:ea typeface="Calibri" pitchFamily="34" charset="-122"/>
                <a:cs typeface="Calibri" pitchFamily="34" charset="-120"/>
              </a:rPr>
              <a:t>★★★★</a:t>
            </a:r>
            <a:endParaRPr lang="en-US" sz="1467" dirty="0"/>
          </a:p>
        </p:txBody>
      </p:sp>
      <p:sp>
        <p:nvSpPr>
          <p:cNvPr id="17" name="Text 14"/>
          <p:cNvSpPr/>
          <p:nvPr/>
        </p:nvSpPr>
        <p:spPr>
          <a:xfrm>
            <a:off x="7949184" y="3816096"/>
            <a:ext cx="3779520" cy="365760"/>
          </a:xfrm>
          <a:prstGeom prst="rect">
            <a:avLst/>
          </a:prstGeom>
          <a:noFill/>
          <a:ln/>
        </p:spPr>
        <p:txBody>
          <a:bodyPr wrap="square" lIns="0" tIns="0" rIns="0" bIns="0" rtlCol="0" anchor="ctr"/>
          <a:lstStyle/>
          <a:p>
            <a:r>
              <a:rPr lang="en-US" sz="1333" dirty="0">
                <a:solidFill>
                  <a:srgbClr val="475569"/>
                </a:solidFill>
                <a:latin typeface="Calibri" pitchFamily="34" charset="0"/>
                <a:ea typeface="Calibri" pitchFamily="34" charset="-122"/>
                <a:cs typeface="Calibri" pitchFamily="34" charset="-120"/>
              </a:rPr>
              <a:t>Gabungan risk + density tinggi = Pilot #2</a:t>
            </a:r>
            <a:endParaRPr lang="en-US" sz="1333" dirty="0"/>
          </a:p>
        </p:txBody>
      </p:sp>
      <p:sp>
        <p:nvSpPr>
          <p:cNvPr id="18" name="Shape 15"/>
          <p:cNvSpPr/>
          <p:nvPr/>
        </p:nvSpPr>
        <p:spPr>
          <a:xfrm>
            <a:off x="7802880" y="4401312"/>
            <a:ext cx="4084320" cy="890016"/>
          </a:xfrm>
          <a:prstGeom prst="roundRect">
            <a:avLst>
              <a:gd name="adj" fmla="val 13699"/>
            </a:avLst>
          </a:prstGeom>
          <a:solidFill>
            <a:srgbClr val="F1F5F9"/>
          </a:solidFill>
          <a:ln/>
          <a:effectLst>
            <a:outerShdw blurRad="76200" dist="25400" dir="2700000" algn="bl" rotWithShape="0">
              <a:srgbClr val="000000">
                <a:alpha val="8000"/>
              </a:srgbClr>
            </a:outerShdw>
          </a:effectLst>
        </p:spPr>
        <p:txBody>
          <a:bodyPr/>
          <a:lstStyle/>
          <a:p>
            <a:endParaRPr lang="en-US" sz="2400"/>
          </a:p>
        </p:txBody>
      </p:sp>
      <p:sp>
        <p:nvSpPr>
          <p:cNvPr id="19" name="Text 16"/>
          <p:cNvSpPr/>
          <p:nvPr/>
        </p:nvSpPr>
        <p:spPr>
          <a:xfrm>
            <a:off x="7949184" y="4462272"/>
            <a:ext cx="2621280" cy="365760"/>
          </a:xfrm>
          <a:prstGeom prst="rect">
            <a:avLst/>
          </a:prstGeom>
          <a:noFill/>
          <a:ln/>
        </p:spPr>
        <p:txBody>
          <a:bodyPr wrap="square" lIns="0" tIns="0" rIns="0" bIns="0" rtlCol="0" anchor="ctr"/>
          <a:lstStyle/>
          <a:p>
            <a:r>
              <a:rPr lang="en-US" sz="1600" b="1" dirty="0">
                <a:solidFill>
                  <a:srgbClr val="D97706"/>
                </a:solidFill>
                <a:latin typeface="Calibri" pitchFamily="34" charset="0"/>
                <a:ea typeface="Calibri" pitchFamily="34" charset="-122"/>
                <a:cs typeface="Calibri" pitchFamily="34" charset="-120"/>
              </a:rPr>
              <a:t>Tangerang Kota</a:t>
            </a:r>
            <a:endParaRPr lang="en-US" sz="1600" dirty="0"/>
          </a:p>
        </p:txBody>
      </p:sp>
      <p:sp>
        <p:nvSpPr>
          <p:cNvPr id="20" name="Text 17"/>
          <p:cNvSpPr/>
          <p:nvPr/>
        </p:nvSpPr>
        <p:spPr>
          <a:xfrm>
            <a:off x="10582656" y="4462272"/>
            <a:ext cx="1219200" cy="365760"/>
          </a:xfrm>
          <a:prstGeom prst="rect">
            <a:avLst/>
          </a:prstGeom>
          <a:noFill/>
          <a:ln/>
        </p:spPr>
        <p:txBody>
          <a:bodyPr wrap="square" lIns="0" tIns="0" rIns="0" bIns="0" rtlCol="0" anchor="ctr"/>
          <a:lstStyle/>
          <a:p>
            <a:pPr algn="r"/>
            <a:r>
              <a:rPr lang="en-US" sz="1467" dirty="0">
                <a:solidFill>
                  <a:srgbClr val="D97706"/>
                </a:solidFill>
                <a:latin typeface="Calibri" pitchFamily="34" charset="0"/>
                <a:ea typeface="Calibri" pitchFamily="34" charset="-122"/>
                <a:cs typeface="Calibri" pitchFamily="34" charset="-120"/>
              </a:rPr>
              <a:t>★★★</a:t>
            </a:r>
            <a:endParaRPr lang="en-US" sz="1467" dirty="0"/>
          </a:p>
        </p:txBody>
      </p:sp>
      <p:sp>
        <p:nvSpPr>
          <p:cNvPr id="21" name="Text 18"/>
          <p:cNvSpPr/>
          <p:nvPr/>
        </p:nvSpPr>
        <p:spPr>
          <a:xfrm>
            <a:off x="7949184" y="4828032"/>
            <a:ext cx="3779520" cy="365760"/>
          </a:xfrm>
          <a:prstGeom prst="rect">
            <a:avLst/>
          </a:prstGeom>
          <a:noFill/>
          <a:ln/>
        </p:spPr>
        <p:txBody>
          <a:bodyPr wrap="square" lIns="0" tIns="0" rIns="0" bIns="0" rtlCol="0" anchor="ctr"/>
          <a:lstStyle/>
          <a:p>
            <a:r>
              <a:rPr lang="en-US" sz="1333" dirty="0">
                <a:solidFill>
                  <a:srgbClr val="475569"/>
                </a:solidFill>
                <a:latin typeface="Calibri" pitchFamily="34" charset="0"/>
                <a:ea typeface="Calibri" pitchFamily="34" charset="-122"/>
                <a:cs typeface="Calibri" pitchFamily="34" charset="-120"/>
              </a:rPr>
              <a:t>Risk density tinggi, market berkembang</a:t>
            </a:r>
            <a:endParaRPr lang="en-US" sz="1333" dirty="0"/>
          </a:p>
        </p:txBody>
      </p:sp>
      <p:sp>
        <p:nvSpPr>
          <p:cNvPr id="22" name="Shape 19"/>
          <p:cNvSpPr/>
          <p:nvPr/>
        </p:nvSpPr>
        <p:spPr>
          <a:xfrm>
            <a:off x="7802880" y="5413248"/>
            <a:ext cx="4084320" cy="890016"/>
          </a:xfrm>
          <a:prstGeom prst="roundRect">
            <a:avLst>
              <a:gd name="adj" fmla="val 13699"/>
            </a:avLst>
          </a:prstGeom>
          <a:solidFill>
            <a:srgbClr val="F1F5F9"/>
          </a:solidFill>
          <a:ln/>
          <a:effectLst>
            <a:outerShdw blurRad="76200" dist="25400" dir="2700000" algn="bl" rotWithShape="0">
              <a:srgbClr val="000000">
                <a:alpha val="8000"/>
              </a:srgbClr>
            </a:outerShdw>
          </a:effectLst>
        </p:spPr>
        <p:txBody>
          <a:bodyPr/>
          <a:lstStyle/>
          <a:p>
            <a:endParaRPr lang="en-US" sz="2400"/>
          </a:p>
        </p:txBody>
      </p:sp>
      <p:sp>
        <p:nvSpPr>
          <p:cNvPr id="23" name="Text 20"/>
          <p:cNvSpPr/>
          <p:nvPr/>
        </p:nvSpPr>
        <p:spPr>
          <a:xfrm>
            <a:off x="7949184" y="5474208"/>
            <a:ext cx="2621280" cy="365760"/>
          </a:xfrm>
          <a:prstGeom prst="rect">
            <a:avLst/>
          </a:prstGeom>
          <a:noFill/>
          <a:ln/>
        </p:spPr>
        <p:txBody>
          <a:bodyPr wrap="square" lIns="0" tIns="0" rIns="0" bIns="0" rtlCol="0" anchor="ctr"/>
          <a:lstStyle/>
          <a:p>
            <a:r>
              <a:rPr lang="en-US" sz="1600" b="1" dirty="0">
                <a:solidFill>
                  <a:srgbClr val="0E7490"/>
                </a:solidFill>
                <a:latin typeface="Calibri" pitchFamily="34" charset="0"/>
                <a:ea typeface="Calibri" pitchFamily="34" charset="-122"/>
                <a:cs typeface="Calibri" pitchFamily="34" charset="-120"/>
              </a:rPr>
              <a:t>Semarang</a:t>
            </a:r>
            <a:endParaRPr lang="en-US" sz="1600" dirty="0"/>
          </a:p>
        </p:txBody>
      </p:sp>
      <p:sp>
        <p:nvSpPr>
          <p:cNvPr id="24" name="Text 21"/>
          <p:cNvSpPr/>
          <p:nvPr/>
        </p:nvSpPr>
        <p:spPr>
          <a:xfrm>
            <a:off x="10582656" y="5474208"/>
            <a:ext cx="1219200" cy="365760"/>
          </a:xfrm>
          <a:prstGeom prst="rect">
            <a:avLst/>
          </a:prstGeom>
          <a:noFill/>
          <a:ln/>
        </p:spPr>
        <p:txBody>
          <a:bodyPr wrap="square" lIns="0" tIns="0" rIns="0" bIns="0" rtlCol="0" anchor="ctr"/>
          <a:lstStyle/>
          <a:p>
            <a:pPr algn="r"/>
            <a:r>
              <a:rPr lang="en-US" sz="1467" dirty="0">
                <a:solidFill>
                  <a:srgbClr val="D97706"/>
                </a:solidFill>
                <a:latin typeface="Calibri" pitchFamily="34" charset="0"/>
                <a:ea typeface="Calibri" pitchFamily="34" charset="-122"/>
                <a:cs typeface="Calibri" pitchFamily="34" charset="-120"/>
              </a:rPr>
              <a:t>★★★</a:t>
            </a:r>
            <a:endParaRPr lang="en-US" sz="1467" dirty="0"/>
          </a:p>
        </p:txBody>
      </p:sp>
      <p:sp>
        <p:nvSpPr>
          <p:cNvPr id="25" name="Text 22"/>
          <p:cNvSpPr/>
          <p:nvPr/>
        </p:nvSpPr>
        <p:spPr>
          <a:xfrm>
            <a:off x="7949184" y="5839968"/>
            <a:ext cx="3779520" cy="365760"/>
          </a:xfrm>
          <a:prstGeom prst="rect">
            <a:avLst/>
          </a:prstGeom>
          <a:noFill/>
          <a:ln/>
        </p:spPr>
        <p:txBody>
          <a:bodyPr wrap="square" lIns="0" tIns="0" rIns="0" bIns="0" rtlCol="0" anchor="ctr"/>
          <a:lstStyle/>
          <a:p>
            <a:r>
              <a:rPr lang="en-US" sz="1333" dirty="0">
                <a:solidFill>
                  <a:srgbClr val="475569"/>
                </a:solidFill>
                <a:latin typeface="Calibri" pitchFamily="34" charset="0"/>
                <a:ea typeface="Calibri" pitchFamily="34" charset="-122"/>
                <a:cs typeface="Calibri" pitchFamily="34" charset="-120"/>
              </a:rPr>
              <a:t>Pusat konstruksi Jawa Tengah</a:t>
            </a:r>
            <a:endParaRPr lang="en-US" sz="1333" dirty="0"/>
          </a:p>
        </p:txBody>
      </p:sp>
      <p:sp>
        <p:nvSpPr>
          <p:cNvPr id="26" name="Text 23"/>
          <p:cNvSpPr/>
          <p:nvPr/>
        </p:nvSpPr>
        <p:spPr>
          <a:xfrm>
            <a:off x="365760" y="6669024"/>
            <a:ext cx="11460480" cy="243840"/>
          </a:xfrm>
          <a:prstGeom prst="rect">
            <a:avLst/>
          </a:prstGeom>
          <a:noFill/>
          <a:ln/>
        </p:spPr>
        <p:txBody>
          <a:bodyPr wrap="square" rtlCol="0" anchor="ctr"/>
          <a:lstStyle/>
          <a:p>
            <a:pPr algn="r"/>
            <a:r>
              <a:rPr lang="en-US" sz="1200" dirty="0">
                <a:solidFill>
                  <a:srgbClr val="64748B"/>
                </a:solidFill>
                <a:latin typeface="Calibri" pitchFamily="34" charset="0"/>
                <a:ea typeface="Calibri" pitchFamily="34" charset="-122"/>
                <a:cs typeface="Calibri" pitchFamily="34" charset="-120"/>
              </a:rPr>
              <a:t>Sumber: BPJS Ketenagakerjaan &amp; BPS per Provinsi 2025</a:t>
            </a:r>
            <a:endParaRPr lang="en-US" sz="1200" dirty="0"/>
          </a:p>
        </p:txBody>
      </p:sp>
      <p:pic>
        <p:nvPicPr>
          <p:cNvPr id="28" name="Picture 27">
            <a:extLst>
              <a:ext uri="{FF2B5EF4-FFF2-40B4-BE49-F238E27FC236}">
                <a16:creationId xmlns:a16="http://schemas.microsoft.com/office/drawing/2014/main" id="{CF234FA7-3DE6-3802-97C7-49B4D6A0010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800" y="3468626"/>
            <a:ext cx="7117404" cy="33223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8CD555-AB49-4CAE-998F-97A85F59AD6D}"/>
              </a:ext>
            </a:extLst>
          </p:cNvPr>
          <p:cNvSpPr>
            <a:spLocks noGrp="1"/>
          </p:cNvSpPr>
          <p:nvPr>
            <p:ph type="title"/>
          </p:nvPr>
        </p:nvSpPr>
        <p:spPr>
          <a:xfrm>
            <a:off x="838199" y="578736"/>
            <a:ext cx="7252505" cy="891250"/>
          </a:xfrm>
        </p:spPr>
        <p:txBody>
          <a:bodyPr anchor="t">
            <a:normAutofit/>
          </a:bodyPr>
          <a:lstStyle/>
          <a:p>
            <a:r>
              <a:rPr lang="en-US" sz="4600" dirty="0" err="1"/>
              <a:t>Kenapa</a:t>
            </a:r>
            <a:r>
              <a:rPr lang="en-US" sz="4600" dirty="0"/>
              <a:t> Tangerang Selatan?</a:t>
            </a:r>
          </a:p>
        </p:txBody>
      </p:sp>
      <p:sp>
        <p:nvSpPr>
          <p:cNvPr id="9" name="Text Placeholder 2">
            <a:extLst>
              <a:ext uri="{FF2B5EF4-FFF2-40B4-BE49-F238E27FC236}">
                <a16:creationId xmlns:a16="http://schemas.microsoft.com/office/drawing/2014/main" id="{A9ECC722-05D0-7FD0-EB58-4103F5E26304}"/>
              </a:ext>
            </a:extLst>
          </p:cNvPr>
          <p:cNvSpPr>
            <a:spLocks noGrp="1"/>
          </p:cNvSpPr>
          <p:nvPr>
            <p:ph type="body" sz="quarter" idx="14"/>
          </p:nvPr>
        </p:nvSpPr>
        <p:spPr>
          <a:xfrm>
            <a:off x="2469748" y="1375719"/>
            <a:ext cx="7252504" cy="338549"/>
          </a:xfrm>
        </p:spPr>
        <p:txBody>
          <a:bodyPr/>
          <a:lstStyle/>
          <a:p>
            <a:r>
              <a:rPr lang="en-US" dirty="0"/>
              <a:t>Alasan </a:t>
            </a:r>
            <a:r>
              <a:rPr lang="en-US" dirty="0" err="1"/>
              <a:t>Tangsel</a:t>
            </a:r>
            <a:r>
              <a:rPr lang="en-US" dirty="0"/>
              <a:t> </a:t>
            </a:r>
            <a:r>
              <a:rPr lang="en-US" dirty="0" err="1"/>
              <a:t>menjadi</a:t>
            </a:r>
            <a:r>
              <a:rPr lang="en-US" dirty="0"/>
              <a:t> </a:t>
            </a:r>
            <a:r>
              <a:rPr lang="en-US" dirty="0" err="1"/>
              <a:t>kandidat</a:t>
            </a:r>
            <a:r>
              <a:rPr lang="en-US" dirty="0"/>
              <a:t> Pilot AI Safety </a:t>
            </a:r>
            <a:r>
              <a:rPr lang="en-US" dirty="0" err="1"/>
              <a:t>terbaik</a:t>
            </a:r>
            <a:endParaRPr lang="en-US" dirty="0"/>
          </a:p>
        </p:txBody>
      </p:sp>
      <p:grpSp>
        <p:nvGrpSpPr>
          <p:cNvPr id="16" name="Group 15">
            <a:extLst>
              <a:ext uri="{FF2B5EF4-FFF2-40B4-BE49-F238E27FC236}">
                <a16:creationId xmlns:a16="http://schemas.microsoft.com/office/drawing/2014/main" id="{295C5E4E-88F5-AAD9-C345-3DAC650C733B}"/>
              </a:ext>
            </a:extLst>
          </p:cNvPr>
          <p:cNvGrpSpPr/>
          <p:nvPr/>
        </p:nvGrpSpPr>
        <p:grpSpPr>
          <a:xfrm>
            <a:off x="6477000" y="2254636"/>
            <a:ext cx="5086351" cy="1828800"/>
            <a:chOff x="476249" y="2136968"/>
            <a:chExt cx="4324351" cy="1828800"/>
          </a:xfrm>
        </p:grpSpPr>
        <p:sp>
          <p:nvSpPr>
            <p:cNvPr id="14" name="Rectangle: Rounded Corners 13">
              <a:extLst>
                <a:ext uri="{FF2B5EF4-FFF2-40B4-BE49-F238E27FC236}">
                  <a16:creationId xmlns:a16="http://schemas.microsoft.com/office/drawing/2014/main" id="{360E9342-6175-19BB-D2C1-25EE82CD407E}"/>
                </a:ext>
              </a:extLst>
            </p:cNvPr>
            <p:cNvSpPr/>
            <p:nvPr/>
          </p:nvSpPr>
          <p:spPr>
            <a:xfrm>
              <a:off x="476249" y="2136968"/>
              <a:ext cx="4324351" cy="1828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err="1"/>
                <a:t>Kepadatan</a:t>
              </a:r>
              <a:r>
                <a:rPr lang="en-US" sz="2000" dirty="0"/>
                <a:t> Perusahaan</a:t>
              </a:r>
            </a:p>
            <a:p>
              <a:pPr algn="ctr"/>
              <a:endParaRPr lang="en-US" dirty="0"/>
            </a:p>
            <a:p>
              <a:pPr algn="ctr"/>
              <a:r>
                <a:rPr lang="en-US" sz="2800" b="1" dirty="0"/>
                <a:t>1320+</a:t>
              </a:r>
            </a:p>
            <a:p>
              <a:pPr algn="just"/>
              <a:r>
                <a:rPr lang="en-US" sz="1400" dirty="0"/>
                <a:t>Perusahaan </a:t>
              </a:r>
              <a:r>
                <a:rPr lang="en-US" sz="1400" dirty="0" err="1"/>
                <a:t>konstruksi</a:t>
              </a:r>
              <a:r>
                <a:rPr lang="en-US" sz="1400" dirty="0"/>
                <a:t> </a:t>
              </a:r>
              <a:r>
                <a:rPr lang="en-US" sz="1400" dirty="0" err="1"/>
                <a:t>aktif</a:t>
              </a:r>
              <a:r>
                <a:rPr lang="en-US" sz="1400" dirty="0"/>
                <a:t> di Kawasan Tangerang Raya, basis </a:t>
              </a:r>
              <a:r>
                <a:rPr lang="en-US" sz="1400" dirty="0" err="1"/>
                <a:t>pelanggan</a:t>
              </a:r>
              <a:r>
                <a:rPr lang="en-US" sz="1400" dirty="0"/>
                <a:t> </a:t>
              </a:r>
              <a:r>
                <a:rPr lang="en-US" sz="1400" dirty="0" err="1"/>
                <a:t>awal</a:t>
              </a:r>
              <a:r>
                <a:rPr lang="en-US" sz="1400" dirty="0"/>
                <a:t> yang solid</a:t>
              </a:r>
            </a:p>
          </p:txBody>
        </p:sp>
        <p:sp>
          <p:nvSpPr>
            <p:cNvPr id="15" name="Oval 14">
              <a:extLst>
                <a:ext uri="{FF2B5EF4-FFF2-40B4-BE49-F238E27FC236}">
                  <a16:creationId xmlns:a16="http://schemas.microsoft.com/office/drawing/2014/main" id="{091882C7-05CA-A22F-57E1-90A7271E6636}"/>
                </a:ext>
              </a:extLst>
            </p:cNvPr>
            <p:cNvSpPr/>
            <p:nvPr/>
          </p:nvSpPr>
          <p:spPr>
            <a:xfrm>
              <a:off x="819148" y="2254636"/>
              <a:ext cx="628651" cy="647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grpSp>
        <p:nvGrpSpPr>
          <p:cNvPr id="17" name="Group 16">
            <a:extLst>
              <a:ext uri="{FF2B5EF4-FFF2-40B4-BE49-F238E27FC236}">
                <a16:creationId xmlns:a16="http://schemas.microsoft.com/office/drawing/2014/main" id="{6319E11A-4726-4D67-4F63-0451696E6491}"/>
              </a:ext>
            </a:extLst>
          </p:cNvPr>
          <p:cNvGrpSpPr/>
          <p:nvPr/>
        </p:nvGrpSpPr>
        <p:grpSpPr>
          <a:xfrm>
            <a:off x="628649" y="2289368"/>
            <a:ext cx="5086351" cy="1828800"/>
            <a:chOff x="476249" y="2136968"/>
            <a:chExt cx="4324351" cy="1828800"/>
          </a:xfrm>
        </p:grpSpPr>
        <p:sp>
          <p:nvSpPr>
            <p:cNvPr id="18" name="Rectangle: Rounded Corners 17">
              <a:extLst>
                <a:ext uri="{FF2B5EF4-FFF2-40B4-BE49-F238E27FC236}">
                  <a16:creationId xmlns:a16="http://schemas.microsoft.com/office/drawing/2014/main" id="{100AC635-6409-4943-46EF-9168F7F18378}"/>
                </a:ext>
              </a:extLst>
            </p:cNvPr>
            <p:cNvSpPr/>
            <p:nvPr/>
          </p:nvSpPr>
          <p:spPr>
            <a:xfrm>
              <a:off x="476249" y="2136968"/>
              <a:ext cx="4324351" cy="1828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Risk Density </a:t>
              </a:r>
              <a:r>
                <a:rPr lang="en-US" sz="2000" dirty="0" err="1"/>
                <a:t>Tertinggi</a:t>
              </a:r>
              <a:r>
                <a:rPr lang="en-US" sz="2000" dirty="0"/>
                <a:t> </a:t>
              </a:r>
            </a:p>
            <a:p>
              <a:pPr algn="ctr"/>
              <a:endParaRPr lang="en-US" dirty="0"/>
            </a:p>
            <a:p>
              <a:pPr algn="ctr"/>
              <a:r>
                <a:rPr lang="en-US" sz="2800" b="1" dirty="0"/>
                <a:t>44.4/1000</a:t>
              </a:r>
            </a:p>
            <a:p>
              <a:pPr algn="just"/>
              <a:r>
                <a:rPr lang="en-US" sz="1400" dirty="0" err="1"/>
                <a:t>Kecelakaan</a:t>
              </a:r>
              <a:r>
                <a:rPr lang="en-US" sz="1400" dirty="0"/>
                <a:t> per 1000 Perusahaan- </a:t>
              </a:r>
              <a:r>
                <a:rPr lang="en-US" sz="1400" dirty="0" err="1"/>
                <a:t>tertinggi</a:t>
              </a:r>
              <a:r>
                <a:rPr lang="en-US" sz="1400" dirty="0"/>
                <a:t> di Pulau Jawa, </a:t>
              </a:r>
              <a:r>
                <a:rPr lang="en-US" sz="1400" dirty="0" err="1"/>
                <a:t>urgensi</a:t>
              </a:r>
              <a:r>
                <a:rPr lang="en-US" sz="1400" dirty="0"/>
                <a:t> </a:t>
              </a:r>
              <a:r>
                <a:rPr lang="en-US" sz="1400" dirty="0" err="1"/>
                <a:t>adopsi</a:t>
              </a:r>
              <a:r>
                <a:rPr lang="en-US" sz="1400" dirty="0"/>
                <a:t> AI Safety sangat </a:t>
              </a:r>
              <a:r>
                <a:rPr lang="en-US" sz="1400" dirty="0" err="1"/>
                <a:t>tinggi</a:t>
              </a:r>
              <a:endParaRPr lang="en-US" sz="1400" dirty="0"/>
            </a:p>
          </p:txBody>
        </p:sp>
        <p:sp>
          <p:nvSpPr>
            <p:cNvPr id="19" name="Oval 18">
              <a:extLst>
                <a:ext uri="{FF2B5EF4-FFF2-40B4-BE49-F238E27FC236}">
                  <a16:creationId xmlns:a16="http://schemas.microsoft.com/office/drawing/2014/main" id="{B6714978-2AB4-41E7-B4D2-5DF7CAEEBEC6}"/>
                </a:ext>
              </a:extLst>
            </p:cNvPr>
            <p:cNvSpPr/>
            <p:nvPr/>
          </p:nvSpPr>
          <p:spPr>
            <a:xfrm>
              <a:off x="819148" y="2254636"/>
              <a:ext cx="628651" cy="647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grpSp>
        <p:nvGrpSpPr>
          <p:cNvPr id="20" name="Group 19">
            <a:extLst>
              <a:ext uri="{FF2B5EF4-FFF2-40B4-BE49-F238E27FC236}">
                <a16:creationId xmlns:a16="http://schemas.microsoft.com/office/drawing/2014/main" id="{C4480648-529C-2569-F55C-E6CA0EE2A92F}"/>
              </a:ext>
            </a:extLst>
          </p:cNvPr>
          <p:cNvGrpSpPr/>
          <p:nvPr/>
        </p:nvGrpSpPr>
        <p:grpSpPr>
          <a:xfrm>
            <a:off x="628649" y="4450464"/>
            <a:ext cx="5086351" cy="1828800"/>
            <a:chOff x="476249" y="2136968"/>
            <a:chExt cx="4324351" cy="1828800"/>
          </a:xfrm>
        </p:grpSpPr>
        <p:sp>
          <p:nvSpPr>
            <p:cNvPr id="21" name="Rectangle: Rounded Corners 20">
              <a:extLst>
                <a:ext uri="{FF2B5EF4-FFF2-40B4-BE49-F238E27FC236}">
                  <a16:creationId xmlns:a16="http://schemas.microsoft.com/office/drawing/2014/main" id="{43DE9FF7-83E1-F3BE-2E93-30AEA0A0CE10}"/>
                </a:ext>
              </a:extLst>
            </p:cNvPr>
            <p:cNvSpPr/>
            <p:nvPr/>
          </p:nvSpPr>
          <p:spPr>
            <a:xfrm>
              <a:off x="476249" y="2136968"/>
              <a:ext cx="4324351" cy="1828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Dekat </a:t>
              </a:r>
              <a:r>
                <a:rPr lang="en-US" sz="2000" dirty="0" err="1"/>
                <a:t>ibu</a:t>
              </a:r>
              <a:r>
                <a:rPr lang="en-US" sz="2000" dirty="0"/>
                <a:t> Kota</a:t>
              </a:r>
            </a:p>
            <a:p>
              <a:pPr algn="ctr"/>
              <a:endParaRPr lang="en-US" dirty="0"/>
            </a:p>
            <a:p>
              <a:pPr algn="ctr"/>
              <a:r>
                <a:rPr lang="en-US" sz="2800" b="1" dirty="0"/>
                <a:t>&lt; 30Km</a:t>
              </a:r>
            </a:p>
            <a:p>
              <a:pPr algn="just"/>
              <a:r>
                <a:rPr lang="en-US" sz="1400" dirty="0"/>
                <a:t>Dari Jakarta- </a:t>
              </a:r>
              <a:r>
                <a:rPr lang="en-US" sz="1400" dirty="0" err="1"/>
                <a:t>akses</a:t>
              </a:r>
              <a:r>
                <a:rPr lang="en-US" sz="1400" dirty="0"/>
                <a:t> </a:t>
              </a:r>
              <a:r>
                <a:rPr lang="en-US" sz="1400" dirty="0" err="1"/>
                <a:t>mudah</a:t>
              </a:r>
              <a:r>
                <a:rPr lang="en-US" sz="1400" dirty="0"/>
                <a:t> </a:t>
              </a:r>
              <a:r>
                <a:rPr lang="en-US" sz="1400" dirty="0" err="1"/>
                <a:t>tim</a:t>
              </a:r>
              <a:r>
                <a:rPr lang="en-US" sz="1400" dirty="0"/>
                <a:t> </a:t>
              </a:r>
              <a:r>
                <a:rPr lang="en-US" sz="1400" dirty="0" err="1"/>
                <a:t>implementasi</a:t>
              </a:r>
              <a:r>
                <a:rPr lang="en-US" sz="1400" dirty="0"/>
                <a:t>, </a:t>
              </a:r>
              <a:r>
                <a:rPr lang="en-US" sz="1400" dirty="0" err="1"/>
                <a:t>respon</a:t>
              </a:r>
              <a:r>
                <a:rPr lang="en-US" sz="1400" dirty="0"/>
                <a:t> </a:t>
              </a:r>
              <a:r>
                <a:rPr lang="en-US" sz="1400" dirty="0" err="1"/>
                <a:t>cepat</a:t>
              </a:r>
              <a:r>
                <a:rPr lang="en-US" sz="1400" dirty="0"/>
                <a:t> dan </a:t>
              </a:r>
              <a:r>
                <a:rPr lang="en-US" sz="1400" dirty="0" err="1"/>
                <a:t>biaya</a:t>
              </a:r>
              <a:r>
                <a:rPr lang="en-US" sz="1400" dirty="0"/>
                <a:t> deployment </a:t>
              </a:r>
              <a:r>
                <a:rPr lang="en-US" sz="1400" dirty="0" err="1"/>
                <a:t>lebih</a:t>
              </a:r>
              <a:r>
                <a:rPr lang="en-US" sz="1400" dirty="0"/>
                <a:t> </a:t>
              </a:r>
              <a:r>
                <a:rPr lang="en-US" sz="1400" dirty="0" err="1"/>
                <a:t>rendah</a:t>
              </a:r>
              <a:endParaRPr lang="en-US" sz="1400" dirty="0"/>
            </a:p>
          </p:txBody>
        </p:sp>
        <p:sp>
          <p:nvSpPr>
            <p:cNvPr id="22" name="Oval 21">
              <a:extLst>
                <a:ext uri="{FF2B5EF4-FFF2-40B4-BE49-F238E27FC236}">
                  <a16:creationId xmlns:a16="http://schemas.microsoft.com/office/drawing/2014/main" id="{1B07DEED-2810-FCF6-66C6-129D0C35A1DF}"/>
                </a:ext>
              </a:extLst>
            </p:cNvPr>
            <p:cNvSpPr/>
            <p:nvPr/>
          </p:nvSpPr>
          <p:spPr>
            <a:xfrm>
              <a:off x="819148" y="2254636"/>
              <a:ext cx="628651" cy="647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grpSp>
        <p:nvGrpSpPr>
          <p:cNvPr id="23" name="Group 22">
            <a:extLst>
              <a:ext uri="{FF2B5EF4-FFF2-40B4-BE49-F238E27FC236}">
                <a16:creationId xmlns:a16="http://schemas.microsoft.com/office/drawing/2014/main" id="{56A36AD0-4701-DBB4-37C1-686354CFEE16}"/>
              </a:ext>
            </a:extLst>
          </p:cNvPr>
          <p:cNvGrpSpPr/>
          <p:nvPr/>
        </p:nvGrpSpPr>
        <p:grpSpPr>
          <a:xfrm>
            <a:off x="6477000" y="4418849"/>
            <a:ext cx="5086351" cy="1828800"/>
            <a:chOff x="476249" y="2136968"/>
            <a:chExt cx="4324351" cy="1828800"/>
          </a:xfrm>
        </p:grpSpPr>
        <p:sp>
          <p:nvSpPr>
            <p:cNvPr id="24" name="Rectangle: Rounded Corners 23">
              <a:extLst>
                <a:ext uri="{FF2B5EF4-FFF2-40B4-BE49-F238E27FC236}">
                  <a16:creationId xmlns:a16="http://schemas.microsoft.com/office/drawing/2014/main" id="{C4C98893-DE17-28DD-4B1C-DF181CDBE9F4}"/>
                </a:ext>
              </a:extLst>
            </p:cNvPr>
            <p:cNvSpPr/>
            <p:nvPr/>
          </p:nvSpPr>
          <p:spPr>
            <a:xfrm>
              <a:off x="476249" y="2136968"/>
              <a:ext cx="4324351" cy="1828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err="1"/>
                <a:t>Biaya</a:t>
              </a:r>
              <a:r>
                <a:rPr lang="en-US" sz="2000" dirty="0"/>
                <a:t> Pilot </a:t>
              </a:r>
              <a:r>
                <a:rPr lang="en-US" sz="2000" dirty="0" err="1"/>
                <a:t>Lebih</a:t>
              </a:r>
              <a:r>
                <a:rPr lang="en-US" sz="2000" dirty="0"/>
                <a:t> </a:t>
              </a:r>
              <a:r>
                <a:rPr lang="en-US" sz="2000" dirty="0" err="1"/>
                <a:t>Murah</a:t>
              </a:r>
              <a:endParaRPr lang="en-US" sz="2000" dirty="0"/>
            </a:p>
            <a:p>
              <a:pPr algn="ctr"/>
              <a:endParaRPr lang="en-US" dirty="0"/>
            </a:p>
            <a:p>
              <a:pPr algn="ctr"/>
              <a:r>
                <a:rPr lang="en-US" sz="2800" b="1" dirty="0"/>
                <a:t>30-40%</a:t>
              </a:r>
            </a:p>
            <a:p>
              <a:pPr algn="just"/>
              <a:r>
                <a:rPr lang="en-US" sz="1400" dirty="0" err="1"/>
                <a:t>Lebih</a:t>
              </a:r>
              <a:r>
                <a:rPr lang="en-US" sz="1400" dirty="0"/>
                <a:t> </a:t>
              </a:r>
              <a:r>
                <a:rPr lang="en-US" sz="1400" dirty="0" err="1"/>
                <a:t>hemat</a:t>
              </a:r>
              <a:r>
                <a:rPr lang="en-US" sz="1400" dirty="0"/>
                <a:t> vs </a:t>
              </a:r>
              <a:r>
                <a:rPr lang="en-US" sz="1400" dirty="0" err="1"/>
                <a:t>kota</a:t>
              </a:r>
              <a:r>
                <a:rPr lang="en-US" sz="1400" dirty="0"/>
                <a:t> top </a:t>
              </a:r>
              <a:r>
                <a:rPr lang="en-US" sz="1400" dirty="0" err="1"/>
                <a:t>toer</a:t>
              </a:r>
              <a:r>
                <a:rPr lang="en-US" sz="1400" dirty="0"/>
                <a:t> 1, </a:t>
              </a:r>
              <a:r>
                <a:rPr lang="en-US" sz="1400" dirty="0" err="1"/>
                <a:t>infrastuktur</a:t>
              </a:r>
              <a:r>
                <a:rPr lang="en-US" sz="1400" dirty="0"/>
                <a:t> </a:t>
              </a:r>
              <a:r>
                <a:rPr lang="en-US" sz="1400" dirty="0" err="1"/>
                <a:t>memadai</a:t>
              </a:r>
              <a:r>
                <a:rPr lang="en-US" sz="1400" dirty="0"/>
                <a:t>, </a:t>
              </a:r>
              <a:r>
                <a:rPr lang="en-US" sz="1400" dirty="0" err="1"/>
                <a:t>koneksi</a:t>
              </a:r>
              <a:r>
                <a:rPr lang="en-US" sz="1400" dirty="0"/>
                <a:t> </a:t>
              </a:r>
              <a:r>
                <a:rPr lang="en-US" sz="1400" dirty="0" err="1"/>
                <a:t>stabil</a:t>
              </a:r>
              <a:endParaRPr lang="en-US" sz="1400" dirty="0"/>
            </a:p>
          </p:txBody>
        </p:sp>
        <p:sp>
          <p:nvSpPr>
            <p:cNvPr id="25" name="Oval 24">
              <a:extLst>
                <a:ext uri="{FF2B5EF4-FFF2-40B4-BE49-F238E27FC236}">
                  <a16:creationId xmlns:a16="http://schemas.microsoft.com/office/drawing/2014/main" id="{A3E59E9E-6086-FA8C-D21D-B38A12B154AD}"/>
                </a:ext>
              </a:extLst>
            </p:cNvPr>
            <p:cNvSpPr/>
            <p:nvPr/>
          </p:nvSpPr>
          <p:spPr>
            <a:xfrm>
              <a:off x="819148" y="2254636"/>
              <a:ext cx="628651" cy="647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spTree>
    <p:extLst>
      <p:ext uri="{BB962C8B-B14F-4D97-AF65-F5344CB8AC3E}">
        <p14:creationId xmlns:p14="http://schemas.microsoft.com/office/powerpoint/2010/main" val="202479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819A-737D-39CB-1ACB-0C616A58360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F5112F9-0DF7-C1CE-44DF-4D0CB8C9D8E6}"/>
              </a:ext>
            </a:extLst>
          </p:cNvPr>
          <p:cNvSpPr>
            <a:spLocks noGrp="1"/>
          </p:cNvSpPr>
          <p:nvPr>
            <p:ph type="title"/>
          </p:nvPr>
        </p:nvSpPr>
        <p:spPr>
          <a:xfrm>
            <a:off x="680936" y="771524"/>
            <a:ext cx="4856264" cy="2195411"/>
          </a:xfrm>
        </p:spPr>
        <p:txBody>
          <a:bodyPr/>
          <a:lstStyle/>
          <a:p>
            <a:pPr marL="0" indent="0"/>
            <a:r>
              <a:rPr lang="en-US" sz="4800" dirty="0">
                <a:solidFill>
                  <a:schemeClr val="tx1"/>
                </a:solidFill>
                <a:ea typeface="Calibri" pitchFamily="34" charset="-122"/>
                <a:cs typeface="Calibri" pitchFamily="34" charset="-120"/>
              </a:rPr>
              <a:t>Kesimpulan &amp; </a:t>
            </a:r>
            <a:r>
              <a:rPr lang="en-US" sz="4800" dirty="0" err="1">
                <a:solidFill>
                  <a:schemeClr val="tx1"/>
                </a:solidFill>
                <a:ea typeface="Calibri" pitchFamily="34" charset="-122"/>
                <a:cs typeface="Calibri" pitchFamily="34" charset="-120"/>
              </a:rPr>
              <a:t>Rekomendasi</a:t>
            </a:r>
            <a:endParaRPr lang="en-US" sz="4800" dirty="0">
              <a:solidFill>
                <a:schemeClr val="tx1"/>
              </a:solidFill>
            </a:endParaRPr>
          </a:p>
        </p:txBody>
      </p:sp>
      <p:sp>
        <p:nvSpPr>
          <p:cNvPr id="8" name="Text Placeholder 2">
            <a:extLst>
              <a:ext uri="{FF2B5EF4-FFF2-40B4-BE49-F238E27FC236}">
                <a16:creationId xmlns:a16="http://schemas.microsoft.com/office/drawing/2014/main" id="{63621409-A555-A453-14F9-10EB51F5D5A3}"/>
              </a:ext>
            </a:extLst>
          </p:cNvPr>
          <p:cNvSpPr>
            <a:spLocks noGrp="1"/>
          </p:cNvSpPr>
          <p:nvPr>
            <p:ph type="body" sz="quarter" idx="10"/>
          </p:nvPr>
        </p:nvSpPr>
        <p:spPr>
          <a:xfrm>
            <a:off x="8854211" y="3733802"/>
            <a:ext cx="2489200" cy="3124198"/>
          </a:xfrm>
          <a:solidFill>
            <a:schemeClr val="accent1">
              <a:lumMod val="60000"/>
              <a:lumOff val="40000"/>
            </a:schemeClr>
          </a:solidFill>
        </p:spPr>
        <p:txBody>
          <a:bodyPr/>
          <a:lstStyle/>
          <a:p>
            <a:r>
              <a:rPr lang="en-US" dirty="0">
                <a:solidFill>
                  <a:schemeClr val="tx1">
                    <a:alpha val="20000"/>
                  </a:schemeClr>
                </a:solidFill>
              </a:rPr>
              <a:t>5</a:t>
            </a:r>
          </a:p>
        </p:txBody>
      </p:sp>
    </p:spTree>
    <p:extLst>
      <p:ext uri="{BB962C8B-B14F-4D97-AF65-F5344CB8AC3E}">
        <p14:creationId xmlns:p14="http://schemas.microsoft.com/office/powerpoint/2010/main" val="304376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3200" b="1" dirty="0">
                <a:solidFill>
                  <a:srgbClr val="FFFFFF"/>
                </a:solidFill>
                <a:latin typeface="+mj-lt"/>
                <a:ea typeface="Calibri" pitchFamily="34" charset="-122"/>
                <a:cs typeface="Calibri" pitchFamily="34" charset="-120"/>
              </a:rPr>
              <a:t>Kesimpulan</a:t>
            </a:r>
            <a:endParaRPr lang="en-US" sz="3200" dirty="0">
              <a:latin typeface="+mj-lt"/>
            </a:endParaRPr>
          </a:p>
        </p:txBody>
      </p:sp>
      <p:sp>
        <p:nvSpPr>
          <p:cNvPr id="4" name="Shape 2"/>
          <p:cNvSpPr/>
          <p:nvPr/>
        </p:nvSpPr>
        <p:spPr>
          <a:xfrm>
            <a:off x="365760" y="792480"/>
            <a:ext cx="5547360" cy="2743200"/>
          </a:xfrm>
          <a:prstGeom prst="roundRect">
            <a:avLst>
              <a:gd name="adj" fmla="val 6667"/>
            </a:avLst>
          </a:prstGeom>
          <a:solidFill>
            <a:srgbClr val="F1F5F9"/>
          </a:solidFill>
          <a:ln/>
          <a:effectLst>
            <a:outerShdw blurRad="101600" dist="38100" dir="2700000" algn="bl" rotWithShape="0">
              <a:srgbClr val="000000">
                <a:alpha val="9000"/>
              </a:srgbClr>
            </a:outerShdw>
          </a:effectLst>
        </p:spPr>
        <p:txBody>
          <a:bodyPr/>
          <a:lstStyle/>
          <a:p>
            <a:endParaRPr lang="en-US" sz="2400"/>
          </a:p>
        </p:txBody>
      </p:sp>
      <p:sp>
        <p:nvSpPr>
          <p:cNvPr id="5" name="Shape 3"/>
          <p:cNvSpPr/>
          <p:nvPr/>
        </p:nvSpPr>
        <p:spPr>
          <a:xfrm>
            <a:off x="548640" y="950976"/>
            <a:ext cx="707136" cy="707136"/>
          </a:xfrm>
          <a:prstGeom prst="ellipse">
            <a:avLst/>
          </a:prstGeom>
          <a:solidFill>
            <a:srgbClr val="1A2B5E"/>
          </a:solidFill>
          <a:ln/>
        </p:spPr>
        <p:txBody>
          <a:bodyPr/>
          <a:lstStyle/>
          <a:p>
            <a:endParaRPr lang="en-US" sz="2400"/>
          </a:p>
        </p:txBody>
      </p:sp>
      <p:sp>
        <p:nvSpPr>
          <p:cNvPr id="6" name="Text 4"/>
          <p:cNvSpPr/>
          <p:nvPr/>
        </p:nvSpPr>
        <p:spPr>
          <a:xfrm>
            <a:off x="548640" y="950976"/>
            <a:ext cx="707136" cy="707136"/>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1365504" y="950976"/>
            <a:ext cx="4364736" cy="670560"/>
          </a:xfrm>
          <a:prstGeom prst="rect">
            <a:avLst/>
          </a:prstGeom>
          <a:noFill/>
          <a:ln/>
        </p:spPr>
        <p:txBody>
          <a:bodyPr wrap="square" lIns="0" tIns="0" rIns="0" bIns="0" rtlCol="0" anchor="ctr"/>
          <a:lstStyle/>
          <a:p>
            <a:r>
              <a:rPr lang="en-US" sz="2000" b="1" dirty="0">
                <a:solidFill>
                  <a:srgbClr val="1A2B5E"/>
                </a:solidFill>
                <a:latin typeface="+mj-lt"/>
                <a:ea typeface="Calibri" pitchFamily="34" charset="-122"/>
                <a:cs typeface="Calibri" pitchFamily="34" charset="-120"/>
              </a:rPr>
              <a:t>Dominasi Pasar</a:t>
            </a:r>
            <a:endParaRPr lang="en-US" sz="2000" dirty="0">
              <a:latin typeface="+mj-lt"/>
            </a:endParaRPr>
          </a:p>
        </p:txBody>
      </p:sp>
      <p:sp>
        <p:nvSpPr>
          <p:cNvPr id="8" name="Text 6"/>
          <p:cNvSpPr/>
          <p:nvPr/>
        </p:nvSpPr>
        <p:spPr>
          <a:xfrm>
            <a:off x="548640" y="1731264"/>
            <a:ext cx="5181600" cy="1584960"/>
          </a:xfrm>
          <a:prstGeom prst="rect">
            <a:avLst/>
          </a:prstGeom>
          <a:noFill/>
          <a:ln/>
        </p:spPr>
        <p:txBody>
          <a:bodyPr wrap="square" rtlCol="0" anchor="ctr"/>
          <a:lstStyle/>
          <a:p>
            <a:r>
              <a:rPr lang="en-US" sz="1733" dirty="0">
                <a:solidFill>
                  <a:srgbClr val="1E293B"/>
                </a:solidFill>
                <a:ea typeface="Calibri" pitchFamily="34" charset="-122"/>
                <a:cs typeface="Calibri" pitchFamily="34" charset="-120"/>
              </a:rPr>
              <a:t>Pasar konstruksi Jawa didominasi Jatim (37.4%) dan Jabar (27.3%). Total 65.587 perusahaan di 4 provinsi dengan Jawa Timur sebagai pusat gravitasi.</a:t>
            </a:r>
            <a:endParaRPr lang="en-US" sz="1733" dirty="0"/>
          </a:p>
        </p:txBody>
      </p:sp>
      <p:sp>
        <p:nvSpPr>
          <p:cNvPr id="9" name="Shape 7"/>
          <p:cNvSpPr/>
          <p:nvPr/>
        </p:nvSpPr>
        <p:spPr>
          <a:xfrm>
            <a:off x="6278880" y="792480"/>
            <a:ext cx="5547360" cy="2743200"/>
          </a:xfrm>
          <a:prstGeom prst="roundRect">
            <a:avLst>
              <a:gd name="adj" fmla="val 6667"/>
            </a:avLst>
          </a:prstGeom>
          <a:solidFill>
            <a:srgbClr val="F1F5F9"/>
          </a:solidFill>
          <a:ln/>
          <a:effectLst>
            <a:outerShdw blurRad="101600" dist="38100" dir="2700000" algn="bl" rotWithShape="0">
              <a:srgbClr val="000000">
                <a:alpha val="9000"/>
              </a:srgbClr>
            </a:outerShdw>
          </a:effectLst>
        </p:spPr>
        <p:txBody>
          <a:bodyPr/>
          <a:lstStyle/>
          <a:p>
            <a:endParaRPr lang="en-US" sz="2400"/>
          </a:p>
        </p:txBody>
      </p:sp>
      <p:sp>
        <p:nvSpPr>
          <p:cNvPr id="10" name="Shape 8"/>
          <p:cNvSpPr/>
          <p:nvPr/>
        </p:nvSpPr>
        <p:spPr>
          <a:xfrm>
            <a:off x="6461760" y="950976"/>
            <a:ext cx="707136" cy="707136"/>
          </a:xfrm>
          <a:prstGeom prst="ellipse">
            <a:avLst/>
          </a:prstGeom>
          <a:solidFill>
            <a:srgbClr val="4F46E5"/>
          </a:solidFill>
          <a:ln/>
        </p:spPr>
        <p:txBody>
          <a:bodyPr/>
          <a:lstStyle/>
          <a:p>
            <a:endParaRPr lang="en-US" sz="2400"/>
          </a:p>
        </p:txBody>
      </p:sp>
      <p:sp>
        <p:nvSpPr>
          <p:cNvPr id="11" name="Text 9"/>
          <p:cNvSpPr/>
          <p:nvPr/>
        </p:nvSpPr>
        <p:spPr>
          <a:xfrm>
            <a:off x="6461760" y="950976"/>
            <a:ext cx="707136" cy="707136"/>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7278624" y="950976"/>
            <a:ext cx="4364736" cy="670560"/>
          </a:xfrm>
          <a:prstGeom prst="rect">
            <a:avLst/>
          </a:prstGeom>
          <a:noFill/>
          <a:ln/>
        </p:spPr>
        <p:txBody>
          <a:bodyPr wrap="square" lIns="0" tIns="0" rIns="0" bIns="0" rtlCol="0" anchor="ctr"/>
          <a:lstStyle/>
          <a:p>
            <a:r>
              <a:rPr lang="en-US" sz="2000" b="1" dirty="0">
                <a:solidFill>
                  <a:srgbClr val="4F46E5"/>
                </a:solidFill>
                <a:latin typeface="+mj-lt"/>
                <a:ea typeface="Calibri" pitchFamily="34" charset="-122"/>
                <a:cs typeface="Calibri" pitchFamily="34" charset="-120"/>
              </a:rPr>
              <a:t>Opportunity Score &amp; Risk</a:t>
            </a:r>
            <a:endParaRPr lang="en-US" sz="2000" dirty="0">
              <a:latin typeface="+mj-lt"/>
            </a:endParaRPr>
          </a:p>
        </p:txBody>
      </p:sp>
      <p:sp>
        <p:nvSpPr>
          <p:cNvPr id="13" name="Text 11"/>
          <p:cNvSpPr/>
          <p:nvPr/>
        </p:nvSpPr>
        <p:spPr>
          <a:xfrm>
            <a:off x="6461760" y="1731264"/>
            <a:ext cx="5181600" cy="1584960"/>
          </a:xfrm>
          <a:prstGeom prst="rect">
            <a:avLst/>
          </a:prstGeom>
          <a:noFill/>
          <a:ln/>
        </p:spPr>
        <p:txBody>
          <a:bodyPr wrap="square" rtlCol="0" anchor="ctr"/>
          <a:lstStyle/>
          <a:p>
            <a:r>
              <a:rPr lang="en-US" sz="1733" dirty="0">
                <a:solidFill>
                  <a:srgbClr val="1E293B"/>
                </a:solidFill>
                <a:ea typeface="Calibri" pitchFamily="34" charset="-122"/>
                <a:cs typeface="Calibri" pitchFamily="34" charset="-120"/>
              </a:rPr>
              <a:t>Opportunity Score tertinggi ada di Jatim (25.203). Risk density tertinggi di Banten (44.4/1000) — sinyal urgensi adopsi AI Safety.</a:t>
            </a:r>
            <a:endParaRPr lang="en-US" sz="1733" dirty="0"/>
          </a:p>
        </p:txBody>
      </p:sp>
      <p:sp>
        <p:nvSpPr>
          <p:cNvPr id="14" name="Shape 12"/>
          <p:cNvSpPr/>
          <p:nvPr/>
        </p:nvSpPr>
        <p:spPr>
          <a:xfrm>
            <a:off x="365760" y="3742944"/>
            <a:ext cx="5547360" cy="2743200"/>
          </a:xfrm>
          <a:prstGeom prst="roundRect">
            <a:avLst>
              <a:gd name="adj" fmla="val 6667"/>
            </a:avLst>
          </a:prstGeom>
          <a:solidFill>
            <a:srgbClr val="F1F5F9"/>
          </a:solidFill>
          <a:ln/>
          <a:effectLst>
            <a:outerShdw blurRad="101600" dist="38100" dir="2700000" algn="bl" rotWithShape="0">
              <a:srgbClr val="000000">
                <a:alpha val="9000"/>
              </a:srgbClr>
            </a:outerShdw>
          </a:effectLst>
        </p:spPr>
        <p:txBody>
          <a:bodyPr/>
          <a:lstStyle/>
          <a:p>
            <a:endParaRPr lang="en-US" sz="2400"/>
          </a:p>
        </p:txBody>
      </p:sp>
      <p:sp>
        <p:nvSpPr>
          <p:cNvPr id="15" name="Shape 13"/>
          <p:cNvSpPr/>
          <p:nvPr/>
        </p:nvSpPr>
        <p:spPr>
          <a:xfrm>
            <a:off x="548640" y="3901440"/>
            <a:ext cx="707136" cy="707136"/>
          </a:xfrm>
          <a:prstGeom prst="ellipse">
            <a:avLst/>
          </a:prstGeom>
          <a:solidFill>
            <a:srgbClr val="0891B2"/>
          </a:solidFill>
          <a:ln/>
        </p:spPr>
        <p:txBody>
          <a:bodyPr/>
          <a:lstStyle/>
          <a:p>
            <a:endParaRPr lang="en-US" sz="2400"/>
          </a:p>
        </p:txBody>
      </p:sp>
      <p:sp>
        <p:nvSpPr>
          <p:cNvPr id="16" name="Text 14"/>
          <p:cNvSpPr/>
          <p:nvPr/>
        </p:nvSpPr>
        <p:spPr>
          <a:xfrm>
            <a:off x="548640" y="3901440"/>
            <a:ext cx="707136" cy="707136"/>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1365504" y="3901440"/>
            <a:ext cx="4364736" cy="670560"/>
          </a:xfrm>
          <a:prstGeom prst="rect">
            <a:avLst/>
          </a:prstGeom>
          <a:noFill/>
          <a:ln/>
        </p:spPr>
        <p:txBody>
          <a:bodyPr wrap="square" lIns="0" tIns="0" rIns="0" bIns="0" rtlCol="0" anchor="ctr"/>
          <a:lstStyle/>
          <a:p>
            <a:r>
              <a:rPr lang="en-US" sz="2000" b="1" dirty="0">
                <a:solidFill>
                  <a:srgbClr val="0891B2"/>
                </a:solidFill>
                <a:latin typeface="+mj-lt"/>
                <a:ea typeface="Calibri" pitchFamily="34" charset="-122"/>
                <a:cs typeface="Calibri" pitchFamily="34" charset="-120"/>
              </a:rPr>
              <a:t>Hotspot Utama</a:t>
            </a:r>
            <a:endParaRPr lang="en-US" sz="2000" dirty="0">
              <a:latin typeface="+mj-lt"/>
            </a:endParaRPr>
          </a:p>
        </p:txBody>
      </p:sp>
      <p:sp>
        <p:nvSpPr>
          <p:cNvPr id="18" name="Text 16"/>
          <p:cNvSpPr/>
          <p:nvPr/>
        </p:nvSpPr>
        <p:spPr>
          <a:xfrm>
            <a:off x="548640" y="4681728"/>
            <a:ext cx="5181600" cy="1584960"/>
          </a:xfrm>
          <a:prstGeom prst="rect">
            <a:avLst/>
          </a:prstGeom>
          <a:noFill/>
          <a:ln/>
        </p:spPr>
        <p:txBody>
          <a:bodyPr wrap="square" rtlCol="0" anchor="ctr"/>
          <a:lstStyle/>
          <a:p>
            <a:r>
              <a:rPr lang="en-US" sz="1733" dirty="0">
                <a:solidFill>
                  <a:srgbClr val="1E293B"/>
                </a:solidFill>
                <a:ea typeface="Calibri" pitchFamily="34" charset="-122"/>
                <a:cs typeface="Calibri" pitchFamily="34" charset="-120"/>
              </a:rPr>
              <a:t>Surabaya, Tangerang, Bandung, dan Bekasi adalah kota-kota prioritas. Tangsel unggul sebagai lokasi pilot AI Safety pertama.</a:t>
            </a:r>
            <a:endParaRPr lang="en-US" sz="1733" dirty="0"/>
          </a:p>
        </p:txBody>
      </p:sp>
      <p:sp>
        <p:nvSpPr>
          <p:cNvPr id="19" name="Shape 17"/>
          <p:cNvSpPr/>
          <p:nvPr/>
        </p:nvSpPr>
        <p:spPr>
          <a:xfrm>
            <a:off x="6278880" y="3742944"/>
            <a:ext cx="5547360" cy="2743200"/>
          </a:xfrm>
          <a:prstGeom prst="roundRect">
            <a:avLst>
              <a:gd name="adj" fmla="val 6667"/>
            </a:avLst>
          </a:prstGeom>
          <a:solidFill>
            <a:srgbClr val="F1F5F9"/>
          </a:solidFill>
          <a:ln/>
          <a:effectLst>
            <a:outerShdw blurRad="101600" dist="38100" dir="2700000" algn="bl" rotWithShape="0">
              <a:srgbClr val="000000">
                <a:alpha val="9000"/>
              </a:srgbClr>
            </a:outerShdw>
          </a:effectLst>
        </p:spPr>
        <p:txBody>
          <a:bodyPr/>
          <a:lstStyle/>
          <a:p>
            <a:endParaRPr lang="en-US" sz="2400"/>
          </a:p>
        </p:txBody>
      </p:sp>
      <p:sp>
        <p:nvSpPr>
          <p:cNvPr id="20" name="Shape 18"/>
          <p:cNvSpPr/>
          <p:nvPr/>
        </p:nvSpPr>
        <p:spPr>
          <a:xfrm>
            <a:off x="6461760" y="3901440"/>
            <a:ext cx="707136" cy="707136"/>
          </a:xfrm>
          <a:prstGeom prst="ellipse">
            <a:avLst/>
          </a:prstGeom>
          <a:solidFill>
            <a:srgbClr val="059669"/>
          </a:solidFill>
          <a:ln/>
        </p:spPr>
        <p:txBody>
          <a:bodyPr/>
          <a:lstStyle/>
          <a:p>
            <a:endParaRPr lang="en-US" sz="2400"/>
          </a:p>
        </p:txBody>
      </p:sp>
      <p:sp>
        <p:nvSpPr>
          <p:cNvPr id="21" name="Text 19"/>
          <p:cNvSpPr/>
          <p:nvPr/>
        </p:nvSpPr>
        <p:spPr>
          <a:xfrm>
            <a:off x="6461760" y="3901440"/>
            <a:ext cx="707136" cy="707136"/>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7278624" y="3901440"/>
            <a:ext cx="4364736" cy="670560"/>
          </a:xfrm>
          <a:prstGeom prst="rect">
            <a:avLst/>
          </a:prstGeom>
          <a:noFill/>
          <a:ln/>
        </p:spPr>
        <p:txBody>
          <a:bodyPr wrap="square" lIns="0" tIns="0" rIns="0" bIns="0" rtlCol="0" anchor="ctr"/>
          <a:lstStyle/>
          <a:p>
            <a:r>
              <a:rPr lang="en-US" sz="2000" b="1" dirty="0">
                <a:solidFill>
                  <a:srgbClr val="059669"/>
                </a:solidFill>
                <a:latin typeface="+mj-lt"/>
                <a:ea typeface="Calibri" pitchFamily="34" charset="-122"/>
                <a:cs typeface="Calibri" pitchFamily="34" charset="-120"/>
              </a:rPr>
              <a:t>Potensi AI Safety</a:t>
            </a:r>
            <a:endParaRPr lang="en-US" sz="2000" dirty="0">
              <a:latin typeface="+mj-lt"/>
            </a:endParaRPr>
          </a:p>
        </p:txBody>
      </p:sp>
      <p:sp>
        <p:nvSpPr>
          <p:cNvPr id="23" name="Text 21"/>
          <p:cNvSpPr/>
          <p:nvPr/>
        </p:nvSpPr>
        <p:spPr>
          <a:xfrm>
            <a:off x="6461760" y="4681728"/>
            <a:ext cx="5181600" cy="1584960"/>
          </a:xfrm>
          <a:prstGeom prst="rect">
            <a:avLst/>
          </a:prstGeom>
          <a:noFill/>
          <a:ln/>
        </p:spPr>
        <p:txBody>
          <a:bodyPr wrap="square" rtlCol="0" anchor="ctr"/>
          <a:lstStyle/>
          <a:p>
            <a:r>
              <a:rPr lang="en-US" sz="1733" dirty="0">
                <a:solidFill>
                  <a:srgbClr val="1E293B"/>
                </a:solidFill>
                <a:ea typeface="Calibri" pitchFamily="34" charset="-122"/>
                <a:cs typeface="Calibri" pitchFamily="34" charset="-120"/>
              </a:rPr>
              <a:t>Pasar AI Safety terbesar ada di Tangerang Raya dan Bandung Raya karena kombinasi risk density tinggi + kepadatan perusahaan.</a:t>
            </a:r>
            <a:endParaRPr lang="en-US" sz="173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667" b="1" dirty="0">
                <a:solidFill>
                  <a:srgbClr val="FFFFFF"/>
                </a:solidFill>
                <a:latin typeface="+mj-lt"/>
                <a:ea typeface="Calibri" pitchFamily="34" charset="-122"/>
                <a:cs typeface="Calibri" pitchFamily="34" charset="-120"/>
              </a:rPr>
              <a:t>Rekomendasi Action Plan</a:t>
            </a:r>
            <a:endParaRPr lang="en-US" sz="2667" dirty="0">
              <a:latin typeface="+mj-lt"/>
            </a:endParaRPr>
          </a:p>
        </p:txBody>
      </p:sp>
      <p:sp>
        <p:nvSpPr>
          <p:cNvPr id="4" name="Shape 2"/>
          <p:cNvSpPr/>
          <p:nvPr/>
        </p:nvSpPr>
        <p:spPr>
          <a:xfrm>
            <a:off x="268224" y="792480"/>
            <a:ext cx="3803904" cy="5852160"/>
          </a:xfrm>
          <a:prstGeom prst="roundRect">
            <a:avLst>
              <a:gd name="adj" fmla="val 4487"/>
            </a:avLst>
          </a:prstGeom>
          <a:solidFill>
            <a:schemeClr val="accent1">
              <a:lumMod val="20000"/>
              <a:lumOff val="80000"/>
            </a:schemeClr>
          </a:solidFill>
          <a:ln/>
          <a:effectLst>
            <a:outerShdw blurRad="101600" dist="38100" dir="2700000" algn="bl" rotWithShape="0">
              <a:srgbClr val="000000">
                <a:alpha val="9000"/>
              </a:srgbClr>
            </a:outerShdw>
          </a:effectLst>
        </p:spPr>
        <p:txBody>
          <a:bodyPr/>
          <a:lstStyle/>
          <a:p>
            <a:endParaRPr lang="en-US" sz="2400"/>
          </a:p>
        </p:txBody>
      </p:sp>
      <p:sp>
        <p:nvSpPr>
          <p:cNvPr id="5" name="Shape 3"/>
          <p:cNvSpPr/>
          <p:nvPr/>
        </p:nvSpPr>
        <p:spPr>
          <a:xfrm>
            <a:off x="451104" y="950976"/>
            <a:ext cx="3438144" cy="548640"/>
          </a:xfrm>
          <a:prstGeom prst="roundRect">
            <a:avLst>
              <a:gd name="adj" fmla="val 22222"/>
            </a:avLst>
          </a:prstGeom>
          <a:solidFill>
            <a:srgbClr val="1A2B5E"/>
          </a:solidFill>
          <a:ln/>
        </p:spPr>
        <p:txBody>
          <a:bodyPr/>
          <a:lstStyle/>
          <a:p>
            <a:endParaRPr lang="en-US" sz="2400"/>
          </a:p>
        </p:txBody>
      </p:sp>
      <p:sp>
        <p:nvSpPr>
          <p:cNvPr id="6" name="Text 4"/>
          <p:cNvSpPr/>
          <p:nvPr/>
        </p:nvSpPr>
        <p:spPr>
          <a:xfrm>
            <a:off x="451104" y="950976"/>
            <a:ext cx="3438144" cy="54864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Short Term</a:t>
            </a:r>
            <a:endParaRPr lang="en-US" sz="2000" dirty="0"/>
          </a:p>
        </p:txBody>
      </p:sp>
      <p:sp>
        <p:nvSpPr>
          <p:cNvPr id="7" name="Text 5"/>
          <p:cNvSpPr/>
          <p:nvPr/>
        </p:nvSpPr>
        <p:spPr>
          <a:xfrm>
            <a:off x="451104" y="1584960"/>
            <a:ext cx="3438144" cy="426720"/>
          </a:xfrm>
          <a:prstGeom prst="rect">
            <a:avLst/>
          </a:prstGeom>
          <a:noFill/>
          <a:ln/>
        </p:spPr>
        <p:txBody>
          <a:bodyPr wrap="square" rtlCol="0" anchor="ctr"/>
          <a:lstStyle/>
          <a:p>
            <a:pPr algn="ctr"/>
            <a:r>
              <a:rPr lang="en-US" sz="1733" b="1" dirty="0">
                <a:solidFill>
                  <a:srgbClr val="1A2B5E"/>
                </a:solidFill>
                <a:latin typeface="Calibri" pitchFamily="34" charset="0"/>
                <a:ea typeface="Calibri" pitchFamily="34" charset="-122"/>
                <a:cs typeface="Calibri" pitchFamily="34" charset="-120"/>
              </a:rPr>
              <a:t>1–2 Bulan</a:t>
            </a:r>
            <a:endParaRPr lang="en-US" sz="1733" dirty="0"/>
          </a:p>
        </p:txBody>
      </p:sp>
      <p:sp>
        <p:nvSpPr>
          <p:cNvPr id="8" name="Text 6"/>
          <p:cNvSpPr/>
          <p:nvPr/>
        </p:nvSpPr>
        <p:spPr>
          <a:xfrm>
            <a:off x="451104" y="2097024"/>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Fokus sales di Jawa Timur — tim sales + workshop gratis</a:t>
            </a:r>
            <a:endParaRPr lang="en-US" dirty="0"/>
          </a:p>
        </p:txBody>
      </p:sp>
      <p:sp>
        <p:nvSpPr>
          <p:cNvPr id="9" name="Text 7"/>
          <p:cNvSpPr/>
          <p:nvPr/>
        </p:nvSpPr>
        <p:spPr>
          <a:xfrm>
            <a:off x="451104" y="3048000"/>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Mulai persiapan pilot AI Safety di Tangerang Selatan</a:t>
            </a:r>
            <a:endParaRPr lang="en-US" dirty="0"/>
          </a:p>
        </p:txBody>
      </p:sp>
      <p:sp>
        <p:nvSpPr>
          <p:cNvPr id="10" name="Text 8"/>
          <p:cNvSpPr/>
          <p:nvPr/>
        </p:nvSpPr>
        <p:spPr>
          <a:xfrm>
            <a:off x="451104" y="3998976"/>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Campaign awareness AI Safety digital marketing</a:t>
            </a:r>
            <a:endParaRPr lang="en-US" dirty="0"/>
          </a:p>
        </p:txBody>
      </p:sp>
      <p:sp>
        <p:nvSpPr>
          <p:cNvPr id="11" name="Shape 9"/>
          <p:cNvSpPr/>
          <p:nvPr/>
        </p:nvSpPr>
        <p:spPr>
          <a:xfrm>
            <a:off x="4218432" y="792480"/>
            <a:ext cx="3803904" cy="5852160"/>
          </a:xfrm>
          <a:prstGeom prst="roundRect">
            <a:avLst>
              <a:gd name="adj" fmla="val 4487"/>
            </a:avLst>
          </a:prstGeom>
          <a:solidFill>
            <a:schemeClr val="accent1">
              <a:lumMod val="20000"/>
              <a:lumOff val="80000"/>
            </a:schemeClr>
          </a:solidFill>
          <a:ln/>
          <a:effectLst>
            <a:outerShdw blurRad="101600" dist="38100" dir="2700000" algn="bl" rotWithShape="0">
              <a:srgbClr val="000000">
                <a:alpha val="9000"/>
              </a:srgbClr>
            </a:outerShdw>
          </a:effectLst>
        </p:spPr>
        <p:txBody>
          <a:bodyPr/>
          <a:lstStyle/>
          <a:p>
            <a:endParaRPr lang="en-US" sz="2400"/>
          </a:p>
        </p:txBody>
      </p:sp>
      <p:sp>
        <p:nvSpPr>
          <p:cNvPr id="12" name="Shape 10"/>
          <p:cNvSpPr/>
          <p:nvPr/>
        </p:nvSpPr>
        <p:spPr>
          <a:xfrm>
            <a:off x="4401312" y="950976"/>
            <a:ext cx="3438144" cy="548640"/>
          </a:xfrm>
          <a:prstGeom prst="roundRect">
            <a:avLst>
              <a:gd name="adj" fmla="val 22222"/>
            </a:avLst>
          </a:prstGeom>
          <a:solidFill>
            <a:srgbClr val="4F46E5"/>
          </a:solidFill>
          <a:ln/>
        </p:spPr>
        <p:txBody>
          <a:bodyPr/>
          <a:lstStyle/>
          <a:p>
            <a:endParaRPr lang="en-US" sz="2400"/>
          </a:p>
        </p:txBody>
      </p:sp>
      <p:sp>
        <p:nvSpPr>
          <p:cNvPr id="13" name="Text 11"/>
          <p:cNvSpPr/>
          <p:nvPr/>
        </p:nvSpPr>
        <p:spPr>
          <a:xfrm>
            <a:off x="4401312" y="950976"/>
            <a:ext cx="3438144" cy="54864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Medium Term</a:t>
            </a:r>
            <a:endParaRPr lang="en-US" sz="2000" dirty="0"/>
          </a:p>
        </p:txBody>
      </p:sp>
      <p:sp>
        <p:nvSpPr>
          <p:cNvPr id="14" name="Text 12"/>
          <p:cNvSpPr/>
          <p:nvPr/>
        </p:nvSpPr>
        <p:spPr>
          <a:xfrm>
            <a:off x="4401312" y="1584960"/>
            <a:ext cx="3438144" cy="426720"/>
          </a:xfrm>
          <a:prstGeom prst="rect">
            <a:avLst/>
          </a:prstGeom>
          <a:noFill/>
          <a:ln/>
        </p:spPr>
        <p:txBody>
          <a:bodyPr wrap="square" rtlCol="0" anchor="ctr"/>
          <a:lstStyle/>
          <a:p>
            <a:pPr algn="ctr"/>
            <a:r>
              <a:rPr lang="en-US" sz="1733" b="1" dirty="0">
                <a:solidFill>
                  <a:srgbClr val="4F46E5"/>
                </a:solidFill>
                <a:latin typeface="Calibri" pitchFamily="34" charset="0"/>
                <a:ea typeface="Calibri" pitchFamily="34" charset="-122"/>
                <a:cs typeface="Calibri" pitchFamily="34" charset="-120"/>
              </a:rPr>
              <a:t>3–4 Bulan</a:t>
            </a:r>
            <a:endParaRPr lang="en-US" sz="1733" dirty="0"/>
          </a:p>
        </p:txBody>
      </p:sp>
      <p:sp>
        <p:nvSpPr>
          <p:cNvPr id="15" name="Text 13"/>
          <p:cNvSpPr/>
          <p:nvPr/>
        </p:nvSpPr>
        <p:spPr>
          <a:xfrm>
            <a:off x="4401312" y="2097024"/>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Partnership dengan kontraktor besar di Surabaya</a:t>
            </a:r>
            <a:endParaRPr lang="en-US" dirty="0"/>
          </a:p>
        </p:txBody>
      </p:sp>
      <p:sp>
        <p:nvSpPr>
          <p:cNvPr id="16" name="Text 14"/>
          <p:cNvSpPr/>
          <p:nvPr/>
        </p:nvSpPr>
        <p:spPr>
          <a:xfrm>
            <a:off x="4401312" y="3048000"/>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Pilot project resmi di Tangsel/Bandung (10 perusahaan)</a:t>
            </a:r>
            <a:endParaRPr lang="en-US" dirty="0"/>
          </a:p>
        </p:txBody>
      </p:sp>
      <p:sp>
        <p:nvSpPr>
          <p:cNvPr id="17" name="Text 15"/>
          <p:cNvSpPr/>
          <p:nvPr/>
        </p:nvSpPr>
        <p:spPr>
          <a:xfrm>
            <a:off x="4401312" y="3998976"/>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Buat studi kasus &amp; case study implementasi</a:t>
            </a:r>
            <a:endParaRPr lang="en-US" dirty="0"/>
          </a:p>
        </p:txBody>
      </p:sp>
      <p:sp>
        <p:nvSpPr>
          <p:cNvPr id="18" name="Text 16"/>
          <p:cNvSpPr/>
          <p:nvPr/>
        </p:nvSpPr>
        <p:spPr>
          <a:xfrm>
            <a:off x="4401312" y="4949952"/>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Perluas sales ke Jawa Barat</a:t>
            </a:r>
            <a:endParaRPr lang="en-US" dirty="0"/>
          </a:p>
        </p:txBody>
      </p:sp>
      <p:sp>
        <p:nvSpPr>
          <p:cNvPr id="19" name="Shape 17"/>
          <p:cNvSpPr/>
          <p:nvPr/>
        </p:nvSpPr>
        <p:spPr>
          <a:xfrm>
            <a:off x="8168640" y="792480"/>
            <a:ext cx="3803904" cy="5852160"/>
          </a:xfrm>
          <a:prstGeom prst="roundRect">
            <a:avLst>
              <a:gd name="adj" fmla="val 4487"/>
            </a:avLst>
          </a:prstGeom>
          <a:solidFill>
            <a:schemeClr val="accent1">
              <a:lumMod val="20000"/>
              <a:lumOff val="80000"/>
            </a:schemeClr>
          </a:solidFill>
          <a:ln/>
          <a:effectLst>
            <a:outerShdw blurRad="101600" dist="38100" dir="2700000" algn="bl" rotWithShape="0">
              <a:srgbClr val="000000">
                <a:alpha val="9000"/>
              </a:srgbClr>
            </a:outerShdw>
          </a:effectLst>
        </p:spPr>
        <p:txBody>
          <a:bodyPr/>
          <a:lstStyle/>
          <a:p>
            <a:endParaRPr lang="en-US" sz="2400"/>
          </a:p>
        </p:txBody>
      </p:sp>
      <p:sp>
        <p:nvSpPr>
          <p:cNvPr id="20" name="Shape 18"/>
          <p:cNvSpPr/>
          <p:nvPr/>
        </p:nvSpPr>
        <p:spPr>
          <a:xfrm>
            <a:off x="8351520" y="950976"/>
            <a:ext cx="3438144" cy="548640"/>
          </a:xfrm>
          <a:prstGeom prst="roundRect">
            <a:avLst>
              <a:gd name="adj" fmla="val 22222"/>
            </a:avLst>
          </a:prstGeom>
          <a:solidFill>
            <a:srgbClr val="0E7490"/>
          </a:solidFill>
          <a:ln/>
        </p:spPr>
        <p:txBody>
          <a:bodyPr/>
          <a:lstStyle/>
          <a:p>
            <a:endParaRPr lang="en-US" sz="2400"/>
          </a:p>
        </p:txBody>
      </p:sp>
      <p:sp>
        <p:nvSpPr>
          <p:cNvPr id="21" name="Text 19"/>
          <p:cNvSpPr/>
          <p:nvPr/>
        </p:nvSpPr>
        <p:spPr>
          <a:xfrm>
            <a:off x="8351520" y="950976"/>
            <a:ext cx="3438144" cy="548640"/>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Long Term</a:t>
            </a:r>
            <a:endParaRPr lang="en-US" sz="2000" dirty="0"/>
          </a:p>
        </p:txBody>
      </p:sp>
      <p:sp>
        <p:nvSpPr>
          <p:cNvPr id="22" name="Text 20"/>
          <p:cNvSpPr/>
          <p:nvPr/>
        </p:nvSpPr>
        <p:spPr>
          <a:xfrm>
            <a:off x="8351520" y="1584960"/>
            <a:ext cx="3438144" cy="426720"/>
          </a:xfrm>
          <a:prstGeom prst="rect">
            <a:avLst/>
          </a:prstGeom>
          <a:noFill/>
          <a:ln/>
        </p:spPr>
        <p:txBody>
          <a:bodyPr wrap="square" rtlCol="0" anchor="ctr"/>
          <a:lstStyle/>
          <a:p>
            <a:pPr algn="ctr"/>
            <a:r>
              <a:rPr lang="en-US" sz="1733" b="1" dirty="0">
                <a:solidFill>
                  <a:srgbClr val="0E7490"/>
                </a:solidFill>
                <a:latin typeface="Calibri" pitchFamily="34" charset="0"/>
                <a:ea typeface="Calibri" pitchFamily="34" charset="-122"/>
                <a:cs typeface="Calibri" pitchFamily="34" charset="-120"/>
              </a:rPr>
              <a:t>5–6 Bulan+</a:t>
            </a:r>
            <a:endParaRPr lang="en-US" sz="1733" dirty="0"/>
          </a:p>
        </p:txBody>
      </p:sp>
      <p:sp>
        <p:nvSpPr>
          <p:cNvPr id="23" name="Text 21"/>
          <p:cNvSpPr/>
          <p:nvPr/>
        </p:nvSpPr>
        <p:spPr>
          <a:xfrm>
            <a:off x="8351520" y="2097024"/>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Menjadi AI Safety monitoring partner konstruksi Indonesia</a:t>
            </a:r>
            <a:endParaRPr lang="en-US" dirty="0"/>
          </a:p>
        </p:txBody>
      </p:sp>
      <p:sp>
        <p:nvSpPr>
          <p:cNvPr id="24" name="Text 22"/>
          <p:cNvSpPr/>
          <p:nvPr/>
        </p:nvSpPr>
        <p:spPr>
          <a:xfrm>
            <a:off x="8351520" y="3048000"/>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Kembangkan predictive safety monitoring berbasis AI</a:t>
            </a:r>
            <a:endParaRPr lang="en-US" dirty="0"/>
          </a:p>
        </p:txBody>
      </p:sp>
      <p:sp>
        <p:nvSpPr>
          <p:cNvPr id="25" name="Text 23"/>
          <p:cNvSpPr/>
          <p:nvPr/>
        </p:nvSpPr>
        <p:spPr>
          <a:xfrm>
            <a:off x="8351520" y="3998976"/>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Skalakan ke Bandung, Bekasi, Semarang</a:t>
            </a:r>
            <a:endParaRPr lang="en-US" dirty="0"/>
          </a:p>
        </p:txBody>
      </p:sp>
      <p:sp>
        <p:nvSpPr>
          <p:cNvPr id="26" name="Text 24"/>
          <p:cNvSpPr/>
          <p:nvPr/>
        </p:nvSpPr>
        <p:spPr>
          <a:xfrm>
            <a:off x="8351520" y="4949952"/>
            <a:ext cx="3438144" cy="877824"/>
          </a:xfrm>
          <a:prstGeom prst="rect">
            <a:avLst/>
          </a:prstGeom>
          <a:noFill/>
          <a:ln/>
        </p:spPr>
        <p:txBody>
          <a:bodyPr wrap="square" rtlCol="0" anchor="ctr"/>
          <a:lstStyle/>
          <a:p>
            <a:pPr marL="457189" indent="-457189">
              <a:buSzPct val="100000"/>
              <a:buChar char="•"/>
            </a:pPr>
            <a:r>
              <a:rPr lang="en-US" dirty="0">
                <a:solidFill>
                  <a:srgbClr val="1E293B"/>
                </a:solidFill>
                <a:latin typeface="Calibri" pitchFamily="34" charset="0"/>
                <a:ea typeface="Calibri" pitchFamily="34" charset="-122"/>
                <a:cs typeface="Calibri" pitchFamily="34" charset="-120"/>
              </a:rPr>
              <a:t>Target: enterprise client di seluruh Pulau Jawa</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chemeClr val="accent1"/>
          </a:solidFill>
          <a:ln/>
        </p:spPr>
        <p:txBody>
          <a:bodyPr/>
          <a:lstStyle/>
          <a:p>
            <a:endParaRPr lang="en-US" sz="2400"/>
          </a:p>
        </p:txBody>
      </p:sp>
      <p:sp>
        <p:nvSpPr>
          <p:cNvPr id="3" name="Text 1"/>
          <p:cNvSpPr/>
          <p:nvPr/>
        </p:nvSpPr>
        <p:spPr>
          <a:xfrm>
            <a:off x="487680" y="0"/>
            <a:ext cx="10972800" cy="609600"/>
          </a:xfrm>
          <a:prstGeom prst="rect">
            <a:avLst/>
          </a:prstGeom>
          <a:noFill/>
          <a:ln/>
        </p:spPr>
        <p:txBody>
          <a:bodyPr wrap="square" lIns="0" tIns="0" rIns="0" bIns="0" rtlCol="0" anchor="ctr"/>
          <a:lstStyle/>
          <a:p>
            <a:r>
              <a:rPr lang="en-US" sz="2800" b="1" dirty="0">
                <a:solidFill>
                  <a:srgbClr val="FFFFFF"/>
                </a:solidFill>
                <a:latin typeface="+mj-lt"/>
                <a:ea typeface="Calibri" pitchFamily="34" charset="-122"/>
                <a:cs typeface="Calibri" pitchFamily="34" charset="-120"/>
              </a:rPr>
              <a:t>Action Plan 6 Bulan</a:t>
            </a:r>
            <a:endParaRPr lang="en-US" sz="2800" dirty="0">
              <a:latin typeface="+mj-lt"/>
            </a:endParaRPr>
          </a:p>
        </p:txBody>
      </p:sp>
      <p:graphicFrame>
        <p:nvGraphicFramePr>
          <p:cNvPr id="22" name="Table 0"/>
          <p:cNvGraphicFramePr>
            <a:graphicFrameLocks noGrp="1"/>
          </p:cNvGraphicFramePr>
          <p:nvPr>
            <p:extLst>
              <p:ext uri="{D42A27DB-BD31-4B8C-83A1-F6EECF244321}">
                <p14:modId xmlns:p14="http://schemas.microsoft.com/office/powerpoint/2010/main" val="1877673926"/>
              </p:ext>
            </p:extLst>
          </p:nvPr>
        </p:nvGraphicFramePr>
        <p:xfrm>
          <a:off x="426720" y="792480"/>
          <a:ext cx="11338560" cy="4236720"/>
        </p:xfrm>
        <a:graphic>
          <a:graphicData uri="http://schemas.openxmlformats.org/drawingml/2006/table">
            <a:tbl>
              <a:tblPr/>
              <a:tblGrid>
                <a:gridCol w="1036320">
                  <a:extLst>
                    <a:ext uri="{9D8B030D-6E8A-4147-A177-3AD203B41FA5}">
                      <a16:colId xmlns:a16="http://schemas.microsoft.com/office/drawing/2014/main" val="20000"/>
                    </a:ext>
                  </a:extLst>
                </a:gridCol>
                <a:gridCol w="4998720">
                  <a:extLst>
                    <a:ext uri="{9D8B030D-6E8A-4147-A177-3AD203B41FA5}">
                      <a16:colId xmlns:a16="http://schemas.microsoft.com/office/drawing/2014/main" val="20001"/>
                    </a:ext>
                  </a:extLst>
                </a:gridCol>
                <a:gridCol w="37185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579120">
                <a:tc>
                  <a:txBody>
                    <a:bodyPr/>
                    <a:lstStyle/>
                    <a:p>
                      <a:pPr marL="0" indent="0" algn="ctr">
                        <a:buNone/>
                      </a:pPr>
                      <a:r>
                        <a:rPr lang="en-US" sz="1800" b="1" dirty="0">
                          <a:solidFill>
                            <a:srgbClr val="FFFFFF"/>
                          </a:solidFill>
                          <a:latin typeface="+mj-lt"/>
                        </a:rPr>
                        <a:t>Bulan</a:t>
                      </a:r>
                      <a:endParaRPr lang="en-US" sz="1800" dirty="0">
                        <a:latin typeface="+mj-lt"/>
                      </a:endParaRP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lumMod val="75000"/>
                      </a:schemeClr>
                    </a:solidFill>
                  </a:tcPr>
                </a:tc>
                <a:tc>
                  <a:txBody>
                    <a:bodyPr/>
                    <a:lstStyle/>
                    <a:p>
                      <a:pPr marL="0" indent="0">
                        <a:buNone/>
                      </a:pPr>
                      <a:r>
                        <a:rPr lang="en-US" sz="1800" b="1" dirty="0">
                          <a:solidFill>
                            <a:srgbClr val="FFFFFF"/>
                          </a:solidFill>
                          <a:latin typeface="+mj-lt"/>
                        </a:rPr>
                        <a:t>Aktivitas</a:t>
                      </a:r>
                      <a:endParaRPr lang="en-US" sz="1800" dirty="0">
                        <a:latin typeface="+mj-lt"/>
                      </a:endParaRP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lumMod val="75000"/>
                      </a:schemeClr>
                    </a:solidFill>
                  </a:tcPr>
                </a:tc>
                <a:tc>
                  <a:txBody>
                    <a:bodyPr/>
                    <a:lstStyle/>
                    <a:p>
                      <a:pPr marL="0" indent="0">
                        <a:buNone/>
                      </a:pPr>
                      <a:r>
                        <a:rPr lang="en-US" sz="1800" b="1" dirty="0">
                          <a:solidFill>
                            <a:srgbClr val="FFFFFF"/>
                          </a:solidFill>
                          <a:latin typeface="+mj-lt"/>
                        </a:rPr>
                        <a:t>Target / KPI</a:t>
                      </a:r>
                      <a:endParaRPr lang="en-US" sz="1800" dirty="0">
                        <a:latin typeface="+mj-lt"/>
                      </a:endParaRP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lumMod val="75000"/>
                      </a:schemeClr>
                    </a:solidFill>
                  </a:tcPr>
                </a:tc>
                <a:tc>
                  <a:txBody>
                    <a:bodyPr/>
                    <a:lstStyle/>
                    <a:p>
                      <a:pPr marL="0" indent="0" algn="ctr">
                        <a:buNone/>
                      </a:pPr>
                      <a:r>
                        <a:rPr lang="en-US" sz="1800" b="1" dirty="0">
                          <a:solidFill>
                            <a:srgbClr val="FFFFFF"/>
                          </a:solidFill>
                          <a:latin typeface="+mj-lt"/>
                        </a:rPr>
                        <a:t>Status</a:t>
                      </a:r>
                      <a:endParaRPr lang="en-US" sz="1800" dirty="0">
                        <a:latin typeface="+mj-lt"/>
                      </a:endParaRP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914400">
                <a:tc>
                  <a:txBody>
                    <a:bodyPr/>
                    <a:lstStyle/>
                    <a:p>
                      <a:pPr marL="0" indent="0" algn="ctr">
                        <a:buNone/>
                      </a:pPr>
                      <a:r>
                        <a:rPr lang="en-US" sz="1800" b="1" dirty="0">
                          <a:solidFill>
                            <a:srgbClr val="1A2B5E"/>
                          </a:solidFill>
                        </a:rPr>
                        <a:t>1–2</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buNone/>
                      </a:pPr>
                      <a:r>
                        <a:rPr lang="en-US" sz="1800" dirty="0">
                          <a:solidFill>
                            <a:srgbClr val="000000"/>
                          </a:solidFill>
                        </a:rPr>
                        <a:t>Pilot AI Safety di Tangerang Selatan (10 perusahaan target)</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800" dirty="0">
                          <a:solidFill>
                            <a:srgbClr val="475569"/>
                          </a:solidFill>
                        </a:rPr>
                        <a:t>3 perusahaan lanjut ke kontrak berbayar</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800" dirty="0">
                          <a:solidFill>
                            <a:srgbClr val="D97706"/>
                          </a:solidFill>
                        </a:rPr>
                        <a:t>🟡 Planned</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lgn="ctr">
                        <a:buNone/>
                      </a:pPr>
                      <a:r>
                        <a:rPr lang="en-US" sz="1800" b="1" dirty="0">
                          <a:solidFill>
                            <a:srgbClr val="4F46E5"/>
                          </a:solidFill>
                        </a:rPr>
                        <a:t>3</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marL="0" indent="0">
                        <a:buNone/>
                      </a:pPr>
                      <a:r>
                        <a:rPr lang="en-US" sz="1800" dirty="0">
                          <a:solidFill>
                            <a:srgbClr val="000000"/>
                          </a:solidFill>
                        </a:rPr>
                        <a:t>Ramp-up tim sales di Surabaya + enterprise outreach</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800" dirty="0">
                          <a:solidFill>
                            <a:srgbClr val="475569"/>
                          </a:solidFill>
                        </a:rPr>
                        <a:t>30 kunjungan ke kontraktor besar, 5 proposal terkirim</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800" dirty="0">
                          <a:solidFill>
                            <a:srgbClr val="D97706"/>
                          </a:solidFill>
                        </a:rPr>
                        <a:t>🟡 Planned</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lgn="ctr">
                        <a:buNone/>
                      </a:pPr>
                      <a:r>
                        <a:rPr lang="en-US" sz="1800" b="1" dirty="0">
                          <a:solidFill>
                            <a:srgbClr val="0E7490"/>
                          </a:solidFill>
                        </a:rPr>
                        <a:t>4–5</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buNone/>
                      </a:pPr>
                      <a:r>
                        <a:rPr lang="en-US" sz="1800" dirty="0">
                          <a:solidFill>
                            <a:srgbClr val="000000"/>
                          </a:solidFill>
                        </a:rPr>
                        <a:t>Kampanye digital Jateng &amp; Banten (Google Ads, webinar K3)</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800" dirty="0">
                          <a:solidFill>
                            <a:srgbClr val="475569"/>
                          </a:solidFill>
                        </a:rPr>
                        <a:t>500 leads, Cost Per Lead &lt; Rp 50.000</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800" dirty="0">
                          <a:solidFill>
                            <a:srgbClr val="D97706"/>
                          </a:solidFill>
                        </a:rPr>
                        <a:t>🟡 Planned</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lgn="ctr">
                        <a:buNone/>
                      </a:pPr>
                      <a:r>
                        <a:rPr lang="en-US" sz="1800" b="1" dirty="0">
                          <a:solidFill>
                            <a:srgbClr val="059669"/>
                          </a:solidFill>
                        </a:rPr>
                        <a:t>6</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buNone/>
                      </a:pPr>
                      <a:r>
                        <a:rPr lang="en-US" sz="1800" dirty="0">
                          <a:solidFill>
                            <a:srgbClr val="000000"/>
                          </a:solidFill>
                        </a:rPr>
                        <a:t>Evaluasi pilot + skalakan ke Bandung/Bekasi + case study</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800" dirty="0">
                          <a:solidFill>
                            <a:srgbClr val="475569"/>
                          </a:solidFill>
                        </a:rPr>
                        <a:t>Minimal 5 kontrak enterprise total, 1 case study publish</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800" dirty="0">
                          <a:solidFill>
                            <a:srgbClr val="D97706"/>
                          </a:solidFill>
                        </a:rPr>
                        <a:t>🟡 Planned</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426720" y="5212080"/>
            <a:ext cx="11338560" cy="1097280"/>
          </a:xfrm>
          <a:prstGeom prst="roundRect">
            <a:avLst>
              <a:gd name="adj" fmla="val 13333"/>
            </a:avLst>
          </a:prstGeom>
          <a:solidFill>
            <a:srgbClr val="EFF6FF"/>
          </a:solidFill>
          <a:ln/>
          <a:effectLst>
            <a:outerShdw blurRad="101600" dist="38100" dir="2700000" algn="bl" rotWithShape="0">
              <a:srgbClr val="000000">
                <a:alpha val="9000"/>
              </a:srgbClr>
            </a:outerShdw>
          </a:effectLst>
        </p:spPr>
        <p:txBody>
          <a:bodyPr/>
          <a:lstStyle/>
          <a:p>
            <a:endParaRPr lang="en-US" sz="2400"/>
          </a:p>
        </p:txBody>
      </p:sp>
      <p:sp>
        <p:nvSpPr>
          <p:cNvPr id="6" name="Text 3"/>
          <p:cNvSpPr/>
          <p:nvPr/>
        </p:nvSpPr>
        <p:spPr>
          <a:xfrm>
            <a:off x="609600" y="5212080"/>
            <a:ext cx="10972800" cy="1097280"/>
          </a:xfrm>
          <a:prstGeom prst="rect">
            <a:avLst/>
          </a:prstGeom>
          <a:noFill/>
          <a:ln/>
        </p:spPr>
        <p:txBody>
          <a:bodyPr wrap="square" rtlCol="0" anchor="ctr"/>
          <a:lstStyle/>
          <a:p>
            <a:r>
              <a:rPr lang="en-US" sz="2000" b="1" dirty="0">
                <a:solidFill>
                  <a:srgbClr val="1A2B5E"/>
                </a:solidFill>
                <a:latin typeface="Calibri" pitchFamily="34" charset="0"/>
                <a:ea typeface="Calibri" pitchFamily="34" charset="-122"/>
                <a:cs typeface="Calibri" pitchFamily="34" charset="-120"/>
              </a:rPr>
              <a:t>OKR Utama: </a:t>
            </a:r>
            <a:r>
              <a:rPr lang="en-US" sz="2000" dirty="0">
                <a:solidFill>
                  <a:srgbClr val="475569"/>
                </a:solidFill>
                <a:latin typeface="Calibri" pitchFamily="34" charset="0"/>
                <a:ea typeface="Calibri" pitchFamily="34" charset="-122"/>
                <a:cs typeface="Calibri" pitchFamily="34" charset="-120"/>
              </a:rPr>
              <a:t>5 kontrak enterprise aktif  ·  30% konversi dari pilot  ·  Dikenal sebagai AI Safety partner #1 di sektor konstruksi Jawa Timur</a:t>
            </a:r>
            <a:endParaRPr lang="en-US" sz="2000" dirty="0"/>
          </a:p>
        </p:txBody>
      </p:sp>
      <p:sp>
        <p:nvSpPr>
          <p:cNvPr id="7" name="Text 23">
            <a:extLst>
              <a:ext uri="{FF2B5EF4-FFF2-40B4-BE49-F238E27FC236}">
                <a16:creationId xmlns:a16="http://schemas.microsoft.com/office/drawing/2014/main" id="{3465D01B-B630-15A8-D197-14023C66940F}"/>
              </a:ext>
            </a:extLst>
          </p:cNvPr>
          <p:cNvSpPr/>
          <p:nvPr/>
        </p:nvSpPr>
        <p:spPr>
          <a:xfrm>
            <a:off x="426720" y="6511082"/>
            <a:ext cx="11460480" cy="243840"/>
          </a:xfrm>
          <a:prstGeom prst="rect">
            <a:avLst/>
          </a:prstGeom>
          <a:noFill/>
          <a:ln/>
        </p:spPr>
        <p:txBody>
          <a:bodyPr wrap="square" rtlCol="0" anchor="ctr"/>
          <a:lstStyle/>
          <a:p>
            <a:pPr algn="r"/>
            <a:r>
              <a:rPr lang="en-US" sz="1200" dirty="0">
                <a:solidFill>
                  <a:srgbClr val="64748B"/>
                </a:solidFill>
                <a:latin typeface="Calibri" pitchFamily="34" charset="0"/>
                <a:ea typeface="Calibri" pitchFamily="34" charset="-122"/>
                <a:cs typeface="Calibri" pitchFamily="34" charset="-120"/>
              </a:rPr>
              <a:t>CPL (cost per Lead)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8345C28B-7118-FAE6-2616-83326E79EEAE}"/>
              </a:ext>
            </a:extLst>
          </p:cNvPr>
          <p:cNvSpPr>
            <a:spLocks noGrp="1"/>
          </p:cNvSpPr>
          <p:nvPr>
            <p:ph type="body" sz="quarter" idx="11"/>
          </p:nvPr>
        </p:nvSpPr>
        <p:spPr>
          <a:xfrm>
            <a:off x="0" y="3206186"/>
            <a:ext cx="12192000" cy="3651813"/>
          </a:xfrm>
          <a:solidFill>
            <a:schemeClr val="accent1">
              <a:lumMod val="60000"/>
              <a:lumOff val="40000"/>
            </a:schemeClr>
          </a:solidFill>
        </p:spPr>
        <p:txBody>
          <a:bodyPr/>
          <a:lstStyle/>
          <a:p>
            <a:endParaRPr lang="en-US" dirty="0"/>
          </a:p>
        </p:txBody>
      </p:sp>
      <p:sp>
        <p:nvSpPr>
          <p:cNvPr id="8" name="Title 2">
            <a:extLst>
              <a:ext uri="{FF2B5EF4-FFF2-40B4-BE49-F238E27FC236}">
                <a16:creationId xmlns:a16="http://schemas.microsoft.com/office/drawing/2014/main" id="{289A9316-4470-AF95-76B4-51561D287B76}"/>
              </a:ext>
            </a:extLst>
          </p:cNvPr>
          <p:cNvSpPr>
            <a:spLocks noGrp="1"/>
          </p:cNvSpPr>
          <p:nvPr>
            <p:ph type="title"/>
          </p:nvPr>
        </p:nvSpPr>
        <p:spPr>
          <a:xfrm>
            <a:off x="5278053" y="1775520"/>
            <a:ext cx="6435524" cy="1325563"/>
          </a:xfrm>
        </p:spPr>
        <p:txBody>
          <a:bodyPr>
            <a:normAutofit/>
          </a:bodyPr>
          <a:lstStyle/>
          <a:p>
            <a:r>
              <a:rPr lang="en-US" sz="6600" dirty="0" err="1"/>
              <a:t>Terima</a:t>
            </a:r>
            <a:r>
              <a:rPr lang="en-US" sz="6600" dirty="0"/>
              <a:t> Kasih</a:t>
            </a:r>
          </a:p>
        </p:txBody>
      </p:sp>
      <p:sp>
        <p:nvSpPr>
          <p:cNvPr id="5" name="Picture Placeholder 4">
            <a:extLst>
              <a:ext uri="{FF2B5EF4-FFF2-40B4-BE49-F238E27FC236}">
                <a16:creationId xmlns:a16="http://schemas.microsoft.com/office/drawing/2014/main" id="{8BBC31B5-3A12-8567-E334-8949D9ABD45F}"/>
              </a:ext>
            </a:extLst>
          </p:cNvPr>
          <p:cNvSpPr>
            <a:spLocks noGrp="1"/>
          </p:cNvSpPr>
          <p:nvPr>
            <p:ph type="pic" sz="quarter" idx="10"/>
          </p:nvPr>
        </p:nvSpPr>
        <p:spPr/>
        <p:txBody>
          <a:bodyPr/>
          <a:lstStyle/>
          <a:p>
            <a:endParaRPr lang="en-US"/>
          </a:p>
        </p:txBody>
      </p:sp>
      <p:pic>
        <p:nvPicPr>
          <p:cNvPr id="1026" name="Picture 2" descr="This may contain: a construction worker wearing an orange safety vest and holding his hard hat over his shoulder">
            <a:extLst>
              <a:ext uri="{FF2B5EF4-FFF2-40B4-BE49-F238E27FC236}">
                <a16:creationId xmlns:a16="http://schemas.microsoft.com/office/drawing/2014/main" id="{F2582986-1BFA-FEC7-BC5C-0ACF1613D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0673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109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21774-8E6D-67CD-3F1E-53D5B6B2B9D4}"/>
              </a:ext>
            </a:extLst>
          </p:cNvPr>
          <p:cNvSpPr>
            <a:spLocks noGrp="1"/>
          </p:cNvSpPr>
          <p:nvPr>
            <p:ph type="title"/>
          </p:nvPr>
        </p:nvSpPr>
        <p:spPr>
          <a:xfrm>
            <a:off x="0" y="-11634"/>
            <a:ext cx="12192000" cy="602887"/>
          </a:xfrm>
          <a:solidFill>
            <a:schemeClr val="accent1"/>
          </a:solidFill>
        </p:spPr>
        <p:txBody>
          <a:bodyPr>
            <a:normAutofit fontScale="90000"/>
          </a:bodyPr>
          <a:lstStyle/>
          <a:p>
            <a:r>
              <a:rPr lang="en-US" dirty="0"/>
              <a:t>Market Strategy</a:t>
            </a:r>
          </a:p>
        </p:txBody>
      </p:sp>
      <p:sp>
        <p:nvSpPr>
          <p:cNvPr id="3" name="Text Placeholder 2">
            <a:extLst>
              <a:ext uri="{FF2B5EF4-FFF2-40B4-BE49-F238E27FC236}">
                <a16:creationId xmlns:a16="http://schemas.microsoft.com/office/drawing/2014/main" id="{E56ED36F-BAB4-2D2A-6F0E-7C4D8584BF42}"/>
              </a:ext>
            </a:extLst>
          </p:cNvPr>
          <p:cNvSpPr>
            <a:spLocks noGrp="1"/>
          </p:cNvSpPr>
          <p:nvPr>
            <p:ph type="body" sz="quarter" idx="12"/>
          </p:nvPr>
        </p:nvSpPr>
        <p:spPr>
          <a:xfrm>
            <a:off x="771281" y="691095"/>
            <a:ext cx="10896600" cy="451905"/>
          </a:xfrm>
          <a:solidFill>
            <a:schemeClr val="bg1"/>
          </a:solidFill>
        </p:spPr>
        <p:txBody>
          <a:bodyPr/>
          <a:lstStyle/>
          <a:p>
            <a:r>
              <a:rPr lang="en-US" dirty="0" err="1"/>
              <a:t>Prioritas</a:t>
            </a:r>
            <a:r>
              <a:rPr lang="en-US" dirty="0"/>
              <a:t> B2B &amp; </a:t>
            </a:r>
            <a:r>
              <a:rPr lang="en-US" dirty="0" err="1"/>
              <a:t>Segmentasi</a:t>
            </a:r>
            <a:r>
              <a:rPr lang="en-US" dirty="0"/>
              <a:t> Pasar </a:t>
            </a:r>
            <a:r>
              <a:rPr lang="en-US" dirty="0" err="1"/>
              <a:t>Konstruksi</a:t>
            </a:r>
            <a:r>
              <a:rPr lang="en-US" dirty="0"/>
              <a:t> di Pulau Jawa</a:t>
            </a:r>
          </a:p>
        </p:txBody>
      </p:sp>
      <p:pic>
        <p:nvPicPr>
          <p:cNvPr id="6" name="Picture 5">
            <a:extLst>
              <a:ext uri="{FF2B5EF4-FFF2-40B4-BE49-F238E27FC236}">
                <a16:creationId xmlns:a16="http://schemas.microsoft.com/office/drawing/2014/main" id="{13BE3829-6B08-5F63-0B0D-EA01513DEC4C}"/>
              </a:ext>
            </a:extLst>
          </p:cNvPr>
          <p:cNvPicPr>
            <a:picLocks noChangeAspect="1"/>
          </p:cNvPicPr>
          <p:nvPr/>
        </p:nvPicPr>
        <p:blipFill>
          <a:blip r:embed="rId2"/>
          <a:stretch>
            <a:fillRect/>
          </a:stretch>
        </p:blipFill>
        <p:spPr>
          <a:xfrm>
            <a:off x="190500" y="1901825"/>
            <a:ext cx="11849100" cy="4789317"/>
          </a:xfrm>
          <a:prstGeom prst="rect">
            <a:avLst/>
          </a:prstGeom>
        </p:spPr>
      </p:pic>
      <p:sp>
        <p:nvSpPr>
          <p:cNvPr id="7" name="Text Placeholder 2">
            <a:extLst>
              <a:ext uri="{FF2B5EF4-FFF2-40B4-BE49-F238E27FC236}">
                <a16:creationId xmlns:a16="http://schemas.microsoft.com/office/drawing/2014/main" id="{F8E2C54A-A388-B24C-791A-08A0DCED2821}"/>
              </a:ext>
            </a:extLst>
          </p:cNvPr>
          <p:cNvSpPr txBox="1">
            <a:spLocks/>
          </p:cNvSpPr>
          <p:nvPr/>
        </p:nvSpPr>
        <p:spPr>
          <a:xfrm>
            <a:off x="190500" y="1248835"/>
            <a:ext cx="11849100" cy="451905"/>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1400" b="0" i="0" kern="1200" spc="3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1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05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0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Tujuan: </a:t>
            </a:r>
            <a:r>
              <a:rPr lang="en-US" dirty="0" err="1"/>
              <a:t>Menentukan</a:t>
            </a:r>
            <a:r>
              <a:rPr lang="en-US" dirty="0"/>
              <a:t> </a:t>
            </a:r>
            <a:r>
              <a:rPr lang="en-US" dirty="0" err="1"/>
              <a:t>prioritas</a:t>
            </a:r>
            <a:r>
              <a:rPr lang="en-US" dirty="0"/>
              <a:t> wilayah, </a:t>
            </a:r>
            <a:r>
              <a:rPr lang="en-US" dirty="0" err="1"/>
              <a:t>segmentasi</a:t>
            </a:r>
            <a:r>
              <a:rPr lang="en-US" dirty="0"/>
              <a:t> pasar, dan strategi </a:t>
            </a:r>
            <a:r>
              <a:rPr lang="en-US" dirty="0" err="1"/>
              <a:t>pendekatan</a:t>
            </a:r>
            <a:r>
              <a:rPr lang="en-US" dirty="0"/>
              <a:t> untuk </a:t>
            </a:r>
            <a:r>
              <a:rPr lang="en-US" dirty="0" err="1"/>
              <a:t>alokasi</a:t>
            </a:r>
            <a:r>
              <a:rPr lang="en-US" dirty="0"/>
              <a:t> </a:t>
            </a:r>
            <a:r>
              <a:rPr lang="en-US" dirty="0" err="1"/>
              <a:t>sumber</a:t>
            </a:r>
            <a:r>
              <a:rPr lang="en-US" dirty="0"/>
              <a:t> </a:t>
            </a:r>
            <a:r>
              <a:rPr lang="en-US" dirty="0" err="1"/>
              <a:t>daya</a:t>
            </a:r>
            <a:r>
              <a:rPr lang="en-US" dirty="0"/>
              <a:t> </a:t>
            </a:r>
            <a:r>
              <a:rPr lang="en-US" dirty="0" err="1"/>
              <a:t>pemasaran</a:t>
            </a:r>
            <a:r>
              <a:rPr lang="en-US" dirty="0"/>
              <a:t> &amp;sales </a:t>
            </a:r>
            <a:r>
              <a:rPr lang="en-US" dirty="0" err="1"/>
              <a:t>secara</a:t>
            </a:r>
            <a:r>
              <a:rPr lang="en-US" dirty="0"/>
              <a:t> </a:t>
            </a:r>
            <a:r>
              <a:rPr lang="en-US" dirty="0" err="1"/>
              <a:t>effektif</a:t>
            </a:r>
            <a:endParaRPr lang="en-US" dirty="0"/>
          </a:p>
        </p:txBody>
      </p:sp>
    </p:spTree>
    <p:extLst>
      <p:ext uri="{BB962C8B-B14F-4D97-AF65-F5344CB8AC3E}">
        <p14:creationId xmlns:p14="http://schemas.microsoft.com/office/powerpoint/2010/main" val="2812065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E6ED2895-5B2B-11C0-F855-379265D6E1AE}"/>
              </a:ext>
            </a:extLst>
          </p:cNvPr>
          <p:cNvSpPr/>
          <p:nvPr/>
        </p:nvSpPr>
        <p:spPr>
          <a:xfrm>
            <a:off x="338328" y="188785"/>
            <a:ext cx="5148072" cy="4923268"/>
          </a:xfrm>
          <a:prstGeom prst="roundRect">
            <a:avLst>
              <a:gd name="adj" fmla="val 4487"/>
            </a:avLst>
          </a:prstGeom>
          <a:solidFill>
            <a:srgbClr val="EEF2FF"/>
          </a:solidFill>
          <a:ln/>
          <a:effectLst>
            <a:outerShdw blurRad="101600" dist="38100" dir="2700000" algn="bl" rotWithShape="0">
              <a:srgbClr val="000000">
                <a:alpha val="9000"/>
              </a:srgbClr>
            </a:outerShdw>
          </a:effectLst>
        </p:spPr>
        <p:txBody>
          <a:bodyPr/>
          <a:lstStyle/>
          <a:p>
            <a:endParaRPr lang="en-US"/>
          </a:p>
        </p:txBody>
      </p:sp>
      <p:sp>
        <p:nvSpPr>
          <p:cNvPr id="8" name="Shape 3">
            <a:extLst>
              <a:ext uri="{FF2B5EF4-FFF2-40B4-BE49-F238E27FC236}">
                <a16:creationId xmlns:a16="http://schemas.microsoft.com/office/drawing/2014/main" id="{DB65E02F-908B-249F-FCFA-53E46172EE55}"/>
              </a:ext>
            </a:extLst>
          </p:cNvPr>
          <p:cNvSpPr/>
          <p:nvPr/>
        </p:nvSpPr>
        <p:spPr>
          <a:xfrm>
            <a:off x="376428" y="226905"/>
            <a:ext cx="5109972" cy="636247"/>
          </a:xfrm>
          <a:prstGeom prst="roundRect">
            <a:avLst>
              <a:gd name="adj" fmla="val 22857"/>
            </a:avLst>
          </a:prstGeom>
          <a:solidFill>
            <a:srgbClr val="1A2B5E"/>
          </a:solidFill>
          <a:ln/>
        </p:spPr>
        <p:txBody>
          <a:bodyPr/>
          <a:lstStyle/>
          <a:p>
            <a:r>
              <a:rPr lang="en-US" sz="2400" dirty="0">
                <a:solidFill>
                  <a:schemeClr val="bg1"/>
                </a:solidFill>
              </a:rPr>
              <a:t>Insight</a:t>
            </a:r>
          </a:p>
        </p:txBody>
      </p:sp>
      <p:sp>
        <p:nvSpPr>
          <p:cNvPr id="10" name="Text 8">
            <a:extLst>
              <a:ext uri="{FF2B5EF4-FFF2-40B4-BE49-F238E27FC236}">
                <a16:creationId xmlns:a16="http://schemas.microsoft.com/office/drawing/2014/main" id="{61CEAE7A-A307-2467-B55D-85534488D0F8}"/>
              </a:ext>
            </a:extLst>
          </p:cNvPr>
          <p:cNvSpPr/>
          <p:nvPr/>
        </p:nvSpPr>
        <p:spPr>
          <a:xfrm>
            <a:off x="475488" y="1224531"/>
            <a:ext cx="4763262" cy="841249"/>
          </a:xfrm>
          <a:prstGeom prst="rect">
            <a:avLst/>
          </a:prstGeom>
          <a:noFill/>
          <a:ln/>
        </p:spPr>
        <p:txBody>
          <a:bodyPr wrap="square" rtlCol="0" anchor="ctr"/>
          <a:lstStyle/>
          <a:p>
            <a:pPr>
              <a:buSzPct val="100000"/>
            </a:pPr>
            <a:r>
              <a:rPr lang="en-US" sz="1200" dirty="0"/>
              <a:t> </a:t>
            </a:r>
            <a:r>
              <a:rPr lang="en-US" b="1" dirty="0"/>
              <a:t>Jawa Timur</a:t>
            </a:r>
          </a:p>
          <a:p>
            <a:pPr>
              <a:buSzPct val="100000"/>
            </a:pPr>
            <a:r>
              <a:rPr lang="en-US" sz="1600" dirty="0"/>
              <a:t>Market </a:t>
            </a:r>
            <a:r>
              <a:rPr lang="en-US" sz="1600" dirty="0" err="1"/>
              <a:t>terbesar</a:t>
            </a:r>
            <a:r>
              <a:rPr lang="en-US" sz="1600" dirty="0"/>
              <a:t> &amp; opportunity score </a:t>
            </a:r>
            <a:r>
              <a:rPr lang="en-US" sz="1600" dirty="0" err="1"/>
              <a:t>tertinggi</a:t>
            </a:r>
            <a:r>
              <a:rPr lang="en-US" sz="1600" dirty="0"/>
              <a:t> (0.85)</a:t>
            </a:r>
          </a:p>
        </p:txBody>
      </p:sp>
      <p:sp>
        <p:nvSpPr>
          <p:cNvPr id="12" name="Text 8">
            <a:extLst>
              <a:ext uri="{FF2B5EF4-FFF2-40B4-BE49-F238E27FC236}">
                <a16:creationId xmlns:a16="http://schemas.microsoft.com/office/drawing/2014/main" id="{8915F825-EDE5-1C30-4C18-8380F07798F0}"/>
              </a:ext>
            </a:extLst>
          </p:cNvPr>
          <p:cNvSpPr/>
          <p:nvPr/>
        </p:nvSpPr>
        <p:spPr>
          <a:xfrm>
            <a:off x="475488" y="2182362"/>
            <a:ext cx="4763262" cy="841249"/>
          </a:xfrm>
          <a:prstGeom prst="rect">
            <a:avLst/>
          </a:prstGeom>
          <a:noFill/>
          <a:ln/>
        </p:spPr>
        <p:txBody>
          <a:bodyPr wrap="square" rtlCol="0" anchor="ctr"/>
          <a:lstStyle/>
          <a:p>
            <a:pPr>
              <a:buSzPct val="100000"/>
            </a:pPr>
            <a:r>
              <a:rPr lang="en-US" sz="1200" dirty="0"/>
              <a:t> </a:t>
            </a:r>
            <a:r>
              <a:rPr lang="en-US" b="1" dirty="0"/>
              <a:t>Banten</a:t>
            </a:r>
          </a:p>
          <a:p>
            <a:pPr>
              <a:buSzPct val="100000"/>
            </a:pPr>
            <a:r>
              <a:rPr lang="en-US" sz="1600" dirty="0"/>
              <a:t>Risk density (44/1000) Perusahaan</a:t>
            </a:r>
            <a:r>
              <a:rPr lang="en-US" sz="1400" dirty="0"/>
              <a:t>)</a:t>
            </a:r>
          </a:p>
        </p:txBody>
      </p:sp>
      <p:sp>
        <p:nvSpPr>
          <p:cNvPr id="14" name="Text 8">
            <a:extLst>
              <a:ext uri="{FF2B5EF4-FFF2-40B4-BE49-F238E27FC236}">
                <a16:creationId xmlns:a16="http://schemas.microsoft.com/office/drawing/2014/main" id="{7EBD5C22-2651-417F-DB90-E5867424785F}"/>
              </a:ext>
            </a:extLst>
          </p:cNvPr>
          <p:cNvSpPr/>
          <p:nvPr/>
        </p:nvSpPr>
        <p:spPr>
          <a:xfrm>
            <a:off x="475488" y="3140193"/>
            <a:ext cx="4763262" cy="841249"/>
          </a:xfrm>
          <a:prstGeom prst="rect">
            <a:avLst/>
          </a:prstGeom>
          <a:noFill/>
          <a:ln/>
        </p:spPr>
        <p:txBody>
          <a:bodyPr wrap="square" rtlCol="0" anchor="ctr"/>
          <a:lstStyle/>
          <a:p>
            <a:pPr>
              <a:buSzPct val="100000"/>
            </a:pPr>
            <a:r>
              <a:rPr lang="en-US" sz="1200" dirty="0"/>
              <a:t> </a:t>
            </a:r>
            <a:r>
              <a:rPr lang="en-US" b="1" dirty="0"/>
              <a:t>Jawa Barat</a:t>
            </a:r>
          </a:p>
          <a:p>
            <a:pPr>
              <a:buSzPct val="100000"/>
            </a:pPr>
            <a:r>
              <a:rPr lang="en-US" sz="1600" dirty="0" err="1"/>
              <a:t>Potensi</a:t>
            </a:r>
            <a:r>
              <a:rPr lang="en-US" sz="1600" dirty="0"/>
              <a:t> </a:t>
            </a:r>
            <a:r>
              <a:rPr lang="en-US" sz="1600" dirty="0" err="1"/>
              <a:t>besar</a:t>
            </a:r>
            <a:r>
              <a:rPr lang="en-US" sz="1600" dirty="0"/>
              <a:t> untuk </a:t>
            </a:r>
            <a:r>
              <a:rPr lang="en-US" sz="1600" dirty="0" err="1"/>
              <a:t>pertumbuhan</a:t>
            </a:r>
            <a:r>
              <a:rPr lang="en-US" sz="1600" dirty="0"/>
              <a:t> dan partnership</a:t>
            </a:r>
          </a:p>
        </p:txBody>
      </p:sp>
      <p:sp>
        <p:nvSpPr>
          <p:cNvPr id="16" name="Text 8">
            <a:extLst>
              <a:ext uri="{FF2B5EF4-FFF2-40B4-BE49-F238E27FC236}">
                <a16:creationId xmlns:a16="http://schemas.microsoft.com/office/drawing/2014/main" id="{CB1C88D3-95A1-3CE0-B166-82B2CEE141DB}"/>
              </a:ext>
            </a:extLst>
          </p:cNvPr>
          <p:cNvSpPr/>
          <p:nvPr/>
        </p:nvSpPr>
        <p:spPr>
          <a:xfrm>
            <a:off x="475488" y="4089636"/>
            <a:ext cx="4763262" cy="841249"/>
          </a:xfrm>
          <a:prstGeom prst="rect">
            <a:avLst/>
          </a:prstGeom>
          <a:noFill/>
          <a:ln/>
        </p:spPr>
        <p:txBody>
          <a:bodyPr wrap="square" rtlCol="0" anchor="ctr"/>
          <a:lstStyle/>
          <a:p>
            <a:pPr>
              <a:buSzPct val="100000"/>
            </a:pPr>
            <a:r>
              <a:rPr lang="en-US" sz="1200" dirty="0"/>
              <a:t> </a:t>
            </a:r>
            <a:r>
              <a:rPr lang="en-US" b="1" dirty="0"/>
              <a:t>Jawa </a:t>
            </a:r>
            <a:r>
              <a:rPr lang="en-US" b="1" dirty="0" err="1"/>
              <a:t>tengah</a:t>
            </a:r>
            <a:endParaRPr lang="en-US" b="1" dirty="0"/>
          </a:p>
          <a:p>
            <a:pPr>
              <a:buSzPct val="100000"/>
            </a:pPr>
            <a:r>
              <a:rPr lang="en-US" sz="1400" dirty="0"/>
              <a:t> </a:t>
            </a:r>
            <a:r>
              <a:rPr lang="en-US" sz="1600" dirty="0"/>
              <a:t>Market </a:t>
            </a:r>
            <a:r>
              <a:rPr lang="en-US" sz="1600" dirty="0" err="1"/>
              <a:t>berkembang</a:t>
            </a:r>
            <a:r>
              <a:rPr lang="en-US" sz="1600" dirty="0"/>
              <a:t> </a:t>
            </a:r>
            <a:r>
              <a:rPr lang="en-US" sz="1600" dirty="0" err="1"/>
              <a:t>butuh</a:t>
            </a:r>
            <a:r>
              <a:rPr lang="en-US" sz="1600" dirty="0"/>
              <a:t> </a:t>
            </a:r>
            <a:r>
              <a:rPr lang="en-US" sz="1600" dirty="0" err="1"/>
              <a:t>edukasi</a:t>
            </a:r>
            <a:r>
              <a:rPr lang="en-US" sz="1600" dirty="0"/>
              <a:t> &amp; awareness</a:t>
            </a:r>
            <a:endParaRPr lang="en-US" sz="1400" dirty="0"/>
          </a:p>
        </p:txBody>
      </p:sp>
      <p:sp>
        <p:nvSpPr>
          <p:cNvPr id="18" name="Shape 20">
            <a:extLst>
              <a:ext uri="{FF2B5EF4-FFF2-40B4-BE49-F238E27FC236}">
                <a16:creationId xmlns:a16="http://schemas.microsoft.com/office/drawing/2014/main" id="{CDD45965-6D8F-FDD9-343D-5065F1A68EF1}"/>
              </a:ext>
            </a:extLst>
          </p:cNvPr>
          <p:cNvSpPr/>
          <p:nvPr/>
        </p:nvSpPr>
        <p:spPr>
          <a:xfrm>
            <a:off x="6560439" y="188785"/>
            <a:ext cx="5148072" cy="4923268"/>
          </a:xfrm>
          <a:prstGeom prst="roundRect">
            <a:avLst>
              <a:gd name="adj" fmla="val 4487"/>
            </a:avLst>
          </a:prstGeom>
          <a:solidFill>
            <a:srgbClr val="F0FDFA"/>
          </a:solidFill>
          <a:ln/>
          <a:effectLst>
            <a:outerShdw blurRad="101600" dist="38100" dir="2700000" algn="bl" rotWithShape="0">
              <a:srgbClr val="000000">
                <a:alpha val="9000"/>
              </a:srgbClr>
            </a:outerShdw>
          </a:effectLst>
        </p:spPr>
        <p:txBody>
          <a:bodyPr/>
          <a:lstStyle/>
          <a:p>
            <a:endParaRPr lang="en-US"/>
          </a:p>
        </p:txBody>
      </p:sp>
      <p:sp>
        <p:nvSpPr>
          <p:cNvPr id="20" name="Shape 3">
            <a:extLst>
              <a:ext uri="{FF2B5EF4-FFF2-40B4-BE49-F238E27FC236}">
                <a16:creationId xmlns:a16="http://schemas.microsoft.com/office/drawing/2014/main" id="{2C85C57D-7BA9-AA96-D448-9D8693A50D6E}"/>
              </a:ext>
            </a:extLst>
          </p:cNvPr>
          <p:cNvSpPr/>
          <p:nvPr/>
        </p:nvSpPr>
        <p:spPr>
          <a:xfrm>
            <a:off x="6568440" y="202138"/>
            <a:ext cx="5148072" cy="598127"/>
          </a:xfrm>
          <a:prstGeom prst="roundRect">
            <a:avLst>
              <a:gd name="adj" fmla="val 22857"/>
            </a:avLst>
          </a:prstGeom>
          <a:solidFill>
            <a:schemeClr val="accent1"/>
          </a:solidFill>
          <a:ln/>
        </p:spPr>
        <p:txBody>
          <a:bodyPr/>
          <a:lstStyle/>
          <a:p>
            <a:r>
              <a:rPr lang="en-US" sz="2400" dirty="0" err="1">
                <a:solidFill>
                  <a:schemeClr val="bg1"/>
                </a:solidFill>
              </a:rPr>
              <a:t>Rekomendasi</a:t>
            </a:r>
            <a:r>
              <a:rPr lang="en-US" sz="2400" dirty="0">
                <a:solidFill>
                  <a:schemeClr val="bg1"/>
                </a:solidFill>
              </a:rPr>
              <a:t> </a:t>
            </a:r>
          </a:p>
        </p:txBody>
      </p:sp>
      <p:sp>
        <p:nvSpPr>
          <p:cNvPr id="22" name="Text 8">
            <a:extLst>
              <a:ext uri="{FF2B5EF4-FFF2-40B4-BE49-F238E27FC236}">
                <a16:creationId xmlns:a16="http://schemas.microsoft.com/office/drawing/2014/main" id="{C0E546A3-B94F-6020-3824-A783EAE87AF3}"/>
              </a:ext>
            </a:extLst>
          </p:cNvPr>
          <p:cNvSpPr/>
          <p:nvPr/>
        </p:nvSpPr>
        <p:spPr>
          <a:xfrm>
            <a:off x="6713601" y="1154697"/>
            <a:ext cx="4857750" cy="821809"/>
          </a:xfrm>
          <a:prstGeom prst="rect">
            <a:avLst/>
          </a:prstGeom>
          <a:noFill/>
          <a:ln/>
        </p:spPr>
        <p:txBody>
          <a:bodyPr wrap="square" rtlCol="0" anchor="ctr"/>
          <a:lstStyle/>
          <a:p>
            <a:pPr>
              <a:buSzPct val="100000"/>
            </a:pPr>
            <a:r>
              <a:rPr lang="en-US" b="1" dirty="0"/>
              <a:t>People (40%)</a:t>
            </a:r>
          </a:p>
          <a:p>
            <a:pPr>
              <a:buSzPct val="100000"/>
            </a:pPr>
            <a:r>
              <a:rPr lang="en-US" sz="1600" dirty="0" err="1"/>
              <a:t>Prioritaskan</a:t>
            </a:r>
            <a:r>
              <a:rPr lang="en-US" sz="1600" dirty="0"/>
              <a:t> </a:t>
            </a:r>
            <a:r>
              <a:rPr lang="en-US" sz="1600" dirty="0" err="1"/>
              <a:t>tim</a:t>
            </a:r>
            <a:r>
              <a:rPr lang="en-US" sz="1600" dirty="0"/>
              <a:t> sales &amp; customer success di Jawa </a:t>
            </a:r>
            <a:r>
              <a:rPr lang="en-US" sz="1600" dirty="0" err="1"/>
              <a:t>timur</a:t>
            </a:r>
            <a:endParaRPr lang="en-US" sz="1600" dirty="0"/>
          </a:p>
        </p:txBody>
      </p:sp>
      <p:sp>
        <p:nvSpPr>
          <p:cNvPr id="24" name="Text 8">
            <a:extLst>
              <a:ext uri="{FF2B5EF4-FFF2-40B4-BE49-F238E27FC236}">
                <a16:creationId xmlns:a16="http://schemas.microsoft.com/office/drawing/2014/main" id="{16884ED9-48DE-C4F0-4E01-CA71D05F23F5}"/>
              </a:ext>
            </a:extLst>
          </p:cNvPr>
          <p:cNvSpPr/>
          <p:nvPr/>
        </p:nvSpPr>
        <p:spPr>
          <a:xfrm>
            <a:off x="6705600" y="2163441"/>
            <a:ext cx="4857750" cy="841249"/>
          </a:xfrm>
          <a:prstGeom prst="rect">
            <a:avLst/>
          </a:prstGeom>
          <a:noFill/>
          <a:ln/>
        </p:spPr>
        <p:txBody>
          <a:bodyPr wrap="square" rtlCol="0" anchor="ctr"/>
          <a:lstStyle/>
          <a:p>
            <a:pPr>
              <a:buSzPct val="100000"/>
            </a:pPr>
            <a:r>
              <a:rPr lang="en-US" b="1" dirty="0"/>
              <a:t>Marketing Budget (30%)</a:t>
            </a:r>
          </a:p>
          <a:p>
            <a:pPr>
              <a:buSzPct val="100000"/>
            </a:pPr>
            <a:r>
              <a:rPr lang="en-US" sz="1600" dirty="0" err="1"/>
              <a:t>Fokus</a:t>
            </a:r>
            <a:r>
              <a:rPr lang="en-US" sz="1600" dirty="0"/>
              <a:t> campaign &amp; webinar di Jawa Barat</a:t>
            </a:r>
          </a:p>
        </p:txBody>
      </p:sp>
      <p:sp>
        <p:nvSpPr>
          <p:cNvPr id="26" name="Text 8">
            <a:extLst>
              <a:ext uri="{FF2B5EF4-FFF2-40B4-BE49-F238E27FC236}">
                <a16:creationId xmlns:a16="http://schemas.microsoft.com/office/drawing/2014/main" id="{069DFC78-8B62-BB21-1950-0484D255E22B}"/>
              </a:ext>
            </a:extLst>
          </p:cNvPr>
          <p:cNvSpPr/>
          <p:nvPr/>
        </p:nvSpPr>
        <p:spPr>
          <a:xfrm>
            <a:off x="6697599" y="2971450"/>
            <a:ext cx="4857750" cy="841249"/>
          </a:xfrm>
          <a:prstGeom prst="rect">
            <a:avLst/>
          </a:prstGeom>
          <a:noFill/>
          <a:ln/>
        </p:spPr>
        <p:txBody>
          <a:bodyPr wrap="square" rtlCol="0" anchor="ctr"/>
          <a:lstStyle/>
          <a:p>
            <a:pPr>
              <a:buSzPct val="100000"/>
            </a:pPr>
            <a:r>
              <a:rPr lang="en-US" sz="1200" dirty="0"/>
              <a:t> </a:t>
            </a:r>
            <a:r>
              <a:rPr lang="en-US" b="1" dirty="0"/>
              <a:t>Pilot Project (20%)</a:t>
            </a:r>
          </a:p>
          <a:p>
            <a:pPr>
              <a:buSzPct val="100000"/>
            </a:pPr>
            <a:r>
              <a:rPr lang="en-US" sz="1600" dirty="0" err="1"/>
              <a:t>Implementasi</a:t>
            </a:r>
            <a:r>
              <a:rPr lang="en-US" sz="1600" dirty="0"/>
              <a:t> </a:t>
            </a:r>
            <a:r>
              <a:rPr lang="en-US" sz="1600" dirty="0" err="1"/>
              <a:t>awal</a:t>
            </a:r>
            <a:r>
              <a:rPr lang="en-US" sz="1600" dirty="0"/>
              <a:t> di Tangerang Raya &amp; Bandung</a:t>
            </a:r>
          </a:p>
        </p:txBody>
      </p:sp>
      <p:sp>
        <p:nvSpPr>
          <p:cNvPr id="28" name="Text 8">
            <a:extLst>
              <a:ext uri="{FF2B5EF4-FFF2-40B4-BE49-F238E27FC236}">
                <a16:creationId xmlns:a16="http://schemas.microsoft.com/office/drawing/2014/main" id="{CC0EEE18-6324-ABC1-6326-63AA98439E96}"/>
              </a:ext>
            </a:extLst>
          </p:cNvPr>
          <p:cNvSpPr/>
          <p:nvPr/>
        </p:nvSpPr>
        <p:spPr>
          <a:xfrm>
            <a:off x="6713601" y="4026132"/>
            <a:ext cx="4857750" cy="841249"/>
          </a:xfrm>
          <a:prstGeom prst="rect">
            <a:avLst/>
          </a:prstGeom>
          <a:noFill/>
          <a:ln/>
        </p:spPr>
        <p:txBody>
          <a:bodyPr wrap="square" rtlCol="0" anchor="ctr"/>
          <a:lstStyle/>
          <a:p>
            <a:pPr>
              <a:buSzPct val="100000"/>
            </a:pPr>
            <a:r>
              <a:rPr lang="en-US" b="1" dirty="0" err="1"/>
              <a:t>Edukasi</a:t>
            </a:r>
            <a:r>
              <a:rPr lang="en-US" b="1" dirty="0"/>
              <a:t> &amp; Awareness  (10%)</a:t>
            </a:r>
          </a:p>
          <a:p>
            <a:pPr>
              <a:buSzPct val="100000"/>
            </a:pPr>
            <a:r>
              <a:rPr lang="en-US" sz="1600" dirty="0" err="1"/>
              <a:t>Edukasi</a:t>
            </a:r>
            <a:r>
              <a:rPr lang="en-US" sz="1600" dirty="0"/>
              <a:t> </a:t>
            </a:r>
            <a:r>
              <a:rPr lang="en-US" sz="1600" dirty="0" err="1"/>
              <a:t>digitas</a:t>
            </a:r>
            <a:r>
              <a:rPr lang="en-US" sz="1600" dirty="0"/>
              <a:t> untuk Jawa Tengah</a:t>
            </a:r>
          </a:p>
        </p:txBody>
      </p:sp>
      <p:sp>
        <p:nvSpPr>
          <p:cNvPr id="30" name="Rectangle: Rounded Corners 29">
            <a:extLst>
              <a:ext uri="{FF2B5EF4-FFF2-40B4-BE49-F238E27FC236}">
                <a16:creationId xmlns:a16="http://schemas.microsoft.com/office/drawing/2014/main" id="{7840794A-A078-59FE-FE47-9B7BE19D71B7}"/>
              </a:ext>
            </a:extLst>
          </p:cNvPr>
          <p:cNvSpPr/>
          <p:nvPr/>
        </p:nvSpPr>
        <p:spPr>
          <a:xfrm>
            <a:off x="376428" y="5359982"/>
            <a:ext cx="11378184" cy="13901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rgbClr val="FF0000"/>
                </a:solidFill>
              </a:rPr>
              <a:t>Catatan</a:t>
            </a:r>
            <a:r>
              <a:rPr lang="en-US" b="1" dirty="0">
                <a:solidFill>
                  <a:srgbClr val="FF0000"/>
                </a:solidFill>
              </a:rPr>
              <a:t> </a:t>
            </a:r>
            <a:r>
              <a:rPr lang="en-US" b="1" dirty="0" err="1">
                <a:solidFill>
                  <a:srgbClr val="FF0000"/>
                </a:solidFill>
              </a:rPr>
              <a:t>Penting</a:t>
            </a:r>
            <a:endParaRPr lang="en-US" b="1" dirty="0">
              <a:solidFill>
                <a:srgbClr val="FF0000"/>
              </a:solidFill>
            </a:endParaRPr>
          </a:p>
          <a:p>
            <a:endParaRPr lang="en-US" sz="1600" b="1" dirty="0">
              <a:solidFill>
                <a:schemeClr val="tx1"/>
              </a:solidFill>
            </a:endParaRPr>
          </a:p>
          <a:p>
            <a:r>
              <a:rPr lang="en-US" dirty="0">
                <a:solidFill>
                  <a:srgbClr val="475569"/>
                </a:solidFill>
                <a:latin typeface="Calibri" pitchFamily="34" charset="0"/>
                <a:ea typeface="Calibri" pitchFamily="34" charset="-122"/>
                <a:cs typeface="Calibri" pitchFamily="34" charset="-120"/>
              </a:rPr>
              <a:t>Jawa Timur adalah </a:t>
            </a:r>
            <a:r>
              <a:rPr lang="en-US" dirty="0" err="1">
                <a:solidFill>
                  <a:srgbClr val="475569"/>
                </a:solidFill>
                <a:latin typeface="Calibri" pitchFamily="34" charset="0"/>
                <a:ea typeface="Calibri" pitchFamily="34" charset="-122"/>
                <a:cs typeface="Calibri" pitchFamily="34" charset="-120"/>
              </a:rPr>
              <a:t>prioritas</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utama</a:t>
            </a:r>
            <a:r>
              <a:rPr lang="en-US" dirty="0">
                <a:solidFill>
                  <a:srgbClr val="475569"/>
                </a:solidFill>
                <a:latin typeface="Calibri" pitchFamily="34" charset="0"/>
                <a:ea typeface="Calibri" pitchFamily="34" charset="-122"/>
                <a:cs typeface="Calibri" pitchFamily="34" charset="-120"/>
              </a:rPr>
              <a:t> untuk </a:t>
            </a:r>
            <a:r>
              <a:rPr lang="en-US" dirty="0" err="1">
                <a:solidFill>
                  <a:srgbClr val="475569"/>
                </a:solidFill>
                <a:latin typeface="Calibri" pitchFamily="34" charset="0"/>
                <a:ea typeface="Calibri" pitchFamily="34" charset="-122"/>
                <a:cs typeface="Calibri" pitchFamily="34" charset="-120"/>
              </a:rPr>
              <a:t>ekpansi</a:t>
            </a:r>
            <a:r>
              <a:rPr lang="en-US" dirty="0">
                <a:solidFill>
                  <a:srgbClr val="475569"/>
                </a:solidFill>
                <a:latin typeface="Calibri" pitchFamily="34" charset="0"/>
                <a:ea typeface="Calibri" pitchFamily="34" charset="-122"/>
                <a:cs typeface="Calibri" pitchFamily="34" charset="-120"/>
              </a:rPr>
              <a:t> dan </a:t>
            </a:r>
            <a:r>
              <a:rPr lang="en-US" dirty="0" err="1">
                <a:solidFill>
                  <a:srgbClr val="475569"/>
                </a:solidFill>
                <a:latin typeface="Calibri" pitchFamily="34" charset="0"/>
                <a:ea typeface="Calibri" pitchFamily="34" charset="-122"/>
                <a:cs typeface="Calibri" pitchFamily="34" charset="-120"/>
              </a:rPr>
              <a:t>penjualan</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langsung</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karena</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memiliki</a:t>
            </a:r>
            <a:r>
              <a:rPr lang="en-US" dirty="0">
                <a:solidFill>
                  <a:srgbClr val="475569"/>
                </a:solidFill>
                <a:latin typeface="Calibri" pitchFamily="34" charset="0"/>
                <a:ea typeface="Calibri" pitchFamily="34" charset="-122"/>
                <a:cs typeface="Calibri" pitchFamily="34" charset="-120"/>
              </a:rPr>
              <a:t> market </a:t>
            </a:r>
            <a:r>
              <a:rPr lang="en-US" dirty="0" err="1">
                <a:solidFill>
                  <a:srgbClr val="475569"/>
                </a:solidFill>
                <a:latin typeface="Calibri" pitchFamily="34" charset="0"/>
                <a:ea typeface="Calibri" pitchFamily="34" charset="-122"/>
                <a:cs typeface="Calibri" pitchFamily="34" charset="-120"/>
              </a:rPr>
              <a:t>terbesar</a:t>
            </a:r>
            <a:r>
              <a:rPr lang="en-US" dirty="0">
                <a:solidFill>
                  <a:srgbClr val="475569"/>
                </a:solidFill>
                <a:latin typeface="Calibri" pitchFamily="34" charset="0"/>
                <a:ea typeface="Calibri" pitchFamily="34" charset="-122"/>
                <a:cs typeface="Calibri" pitchFamily="34" charset="-120"/>
              </a:rPr>
              <a:t> &amp; opportunity </a:t>
            </a:r>
            <a:r>
              <a:rPr lang="en-US" dirty="0" err="1">
                <a:solidFill>
                  <a:srgbClr val="475569"/>
                </a:solidFill>
                <a:latin typeface="Calibri" pitchFamily="34" charset="0"/>
                <a:ea typeface="Calibri" pitchFamily="34" charset="-122"/>
                <a:cs typeface="Calibri" pitchFamily="34" charset="-120"/>
              </a:rPr>
              <a:t>tertinggi</a:t>
            </a:r>
            <a:r>
              <a:rPr lang="en-US" dirty="0">
                <a:solidFill>
                  <a:srgbClr val="475569"/>
                </a:solidFill>
                <a:latin typeface="Calibri" pitchFamily="34" charset="0"/>
                <a:ea typeface="Calibri" pitchFamily="34" charset="-122"/>
                <a:cs typeface="Calibri" pitchFamily="34" charset="-120"/>
              </a:rPr>
              <a:t>, Jawa barat </a:t>
            </a:r>
            <a:r>
              <a:rPr lang="en-US" dirty="0" err="1">
                <a:solidFill>
                  <a:srgbClr val="475569"/>
                </a:solidFill>
                <a:latin typeface="Calibri" pitchFamily="34" charset="0"/>
                <a:ea typeface="Calibri" pitchFamily="34" charset="-122"/>
                <a:cs typeface="Calibri" pitchFamily="34" charset="-120"/>
              </a:rPr>
              <a:t>fokus</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pertumbuhan</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melalui</a:t>
            </a:r>
            <a:r>
              <a:rPr lang="en-US" dirty="0">
                <a:solidFill>
                  <a:srgbClr val="475569"/>
                </a:solidFill>
                <a:latin typeface="Calibri" pitchFamily="34" charset="0"/>
                <a:ea typeface="Calibri" pitchFamily="34" charset="-122"/>
                <a:cs typeface="Calibri" pitchFamily="34" charset="-120"/>
              </a:rPr>
              <a:t> partnership &amp; pilot project. Banten </a:t>
            </a:r>
            <a:r>
              <a:rPr lang="en-US" dirty="0" err="1">
                <a:solidFill>
                  <a:srgbClr val="475569"/>
                </a:solidFill>
                <a:latin typeface="Calibri" pitchFamily="34" charset="0"/>
                <a:ea typeface="Calibri" pitchFamily="34" charset="-122"/>
                <a:cs typeface="Calibri" pitchFamily="34" charset="-120"/>
              </a:rPr>
              <a:t>memiliki</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urgensi</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kebutuhan</a:t>
            </a:r>
            <a:r>
              <a:rPr lang="en-US" dirty="0">
                <a:solidFill>
                  <a:srgbClr val="475569"/>
                </a:solidFill>
                <a:latin typeface="Calibri" pitchFamily="34" charset="0"/>
                <a:ea typeface="Calibri" pitchFamily="34" charset="-122"/>
                <a:cs typeface="Calibri" pitchFamily="34" charset="-120"/>
              </a:rPr>
              <a:t> safety </a:t>
            </a:r>
            <a:r>
              <a:rPr lang="en-US" dirty="0" err="1">
                <a:solidFill>
                  <a:srgbClr val="475569"/>
                </a:solidFill>
                <a:latin typeface="Calibri" pitchFamily="34" charset="0"/>
                <a:ea typeface="Calibri" pitchFamily="34" charset="-122"/>
                <a:cs typeface="Calibri" pitchFamily="34" charset="-120"/>
              </a:rPr>
              <a:t>tertinggi</a:t>
            </a:r>
            <a:r>
              <a:rPr lang="en-US" dirty="0">
                <a:solidFill>
                  <a:srgbClr val="475569"/>
                </a:solidFill>
                <a:latin typeface="Calibri" pitchFamily="34" charset="0"/>
                <a:ea typeface="Calibri" pitchFamily="34" charset="-122"/>
                <a:cs typeface="Calibri" pitchFamily="34" charset="-120"/>
              </a:rPr>
              <a:t>- ideal untuk POC dan awareness </a:t>
            </a:r>
            <a:r>
              <a:rPr lang="en-US" dirty="0" err="1">
                <a:solidFill>
                  <a:srgbClr val="475569"/>
                </a:solidFill>
                <a:latin typeface="Calibri" pitchFamily="34" charset="0"/>
                <a:ea typeface="Calibri" pitchFamily="34" charset="-122"/>
                <a:cs typeface="Calibri" pitchFamily="34" charset="-120"/>
              </a:rPr>
              <a:t>berbasis</a:t>
            </a:r>
            <a:r>
              <a:rPr lang="en-US" dirty="0">
                <a:solidFill>
                  <a:srgbClr val="475569"/>
                </a:solidFill>
                <a:latin typeface="Calibri" pitchFamily="34" charset="0"/>
                <a:ea typeface="Calibri" pitchFamily="34" charset="-122"/>
                <a:cs typeface="Calibri" pitchFamily="34" charset="-120"/>
              </a:rPr>
              <a:t> risk reduction</a:t>
            </a:r>
            <a:endParaRPr lang="en-US" dirty="0"/>
          </a:p>
        </p:txBody>
      </p:sp>
    </p:spTree>
    <p:extLst>
      <p:ext uri="{BB962C8B-B14F-4D97-AF65-F5344CB8AC3E}">
        <p14:creationId xmlns:p14="http://schemas.microsoft.com/office/powerpoint/2010/main" val="2585353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573F-E691-4DCA-1C51-DFFD3CFE323A}"/>
              </a:ext>
            </a:extLst>
          </p:cNvPr>
          <p:cNvSpPr>
            <a:spLocks noGrp="1"/>
          </p:cNvSpPr>
          <p:nvPr>
            <p:ph type="title"/>
          </p:nvPr>
        </p:nvSpPr>
        <p:spPr>
          <a:xfrm>
            <a:off x="0" y="1"/>
            <a:ext cx="12192000" cy="868100"/>
          </a:xfrm>
          <a:solidFill>
            <a:schemeClr val="accent1"/>
          </a:solidFill>
        </p:spPr>
        <p:txBody>
          <a:bodyPr/>
          <a:lstStyle/>
          <a:p>
            <a:r>
              <a:rPr lang="en-US" dirty="0"/>
              <a:t>Strategi B2B </a:t>
            </a:r>
          </a:p>
        </p:txBody>
      </p:sp>
      <p:sp>
        <p:nvSpPr>
          <p:cNvPr id="6" name="Text Placeholder 5">
            <a:extLst>
              <a:ext uri="{FF2B5EF4-FFF2-40B4-BE49-F238E27FC236}">
                <a16:creationId xmlns:a16="http://schemas.microsoft.com/office/drawing/2014/main" id="{3F74AB12-C445-A6D1-C90F-EF960E362A7A}"/>
              </a:ext>
            </a:extLst>
          </p:cNvPr>
          <p:cNvSpPr>
            <a:spLocks noGrp="1"/>
          </p:cNvSpPr>
          <p:nvPr>
            <p:ph type="body" sz="quarter" idx="15"/>
          </p:nvPr>
        </p:nvSpPr>
        <p:spPr>
          <a:xfrm>
            <a:off x="399245" y="1209490"/>
            <a:ext cx="3201205" cy="3705411"/>
          </a:xfrm>
          <a:solidFill>
            <a:schemeClr val="accent1">
              <a:lumMod val="20000"/>
              <a:lumOff val="80000"/>
            </a:schemeClr>
          </a:solidFill>
        </p:spPr>
        <p:txBody>
          <a:bodyPr/>
          <a:lstStyle/>
          <a:p>
            <a:pPr marL="0" indent="0">
              <a:buNone/>
            </a:pPr>
            <a:endParaRPr lang="en-US" dirty="0"/>
          </a:p>
          <a:p>
            <a:pPr marL="0" indent="0">
              <a:buNone/>
            </a:pPr>
            <a:endParaRPr lang="en-US" dirty="0"/>
          </a:p>
          <a:p>
            <a:pPr marL="0" indent="0">
              <a:buNone/>
            </a:pPr>
            <a:r>
              <a:rPr lang="en-US" dirty="0"/>
              <a:t>  </a:t>
            </a:r>
            <a:r>
              <a:rPr lang="en-US" sz="2000" b="1" dirty="0"/>
              <a:t>Jawa Timur</a:t>
            </a:r>
          </a:p>
          <a:p>
            <a:pPr marL="0" indent="0">
              <a:buNone/>
            </a:pPr>
            <a:r>
              <a:rPr lang="en-US" dirty="0"/>
              <a:t>  Direct sales &amp; Enterprise Targeting</a:t>
            </a:r>
          </a:p>
          <a:p>
            <a:pPr marL="0" indent="0">
              <a:buNone/>
            </a:pPr>
            <a:endParaRPr lang="en-US" dirty="0"/>
          </a:p>
          <a:p>
            <a:pPr marL="400050"/>
            <a:r>
              <a:rPr lang="en-US" sz="1600" dirty="0"/>
              <a:t>Tim sales dedicated + workshop gratis di Surabaya</a:t>
            </a:r>
          </a:p>
          <a:p>
            <a:pPr marL="400050"/>
            <a:r>
              <a:rPr lang="en-US" sz="1600" dirty="0"/>
              <a:t>Bundling </a:t>
            </a:r>
            <a:r>
              <a:rPr lang="en-US" sz="1600" dirty="0" err="1"/>
              <a:t>produk</a:t>
            </a:r>
            <a:r>
              <a:rPr lang="en-US" sz="1600" dirty="0"/>
              <a:t> untuk </a:t>
            </a:r>
            <a:r>
              <a:rPr lang="en-US" sz="1600" dirty="0" err="1"/>
              <a:t>kontraktor</a:t>
            </a:r>
            <a:r>
              <a:rPr lang="en-US" sz="1600" dirty="0"/>
              <a:t> </a:t>
            </a:r>
            <a:r>
              <a:rPr lang="en-US" sz="1600" dirty="0" err="1"/>
              <a:t>skala</a:t>
            </a:r>
            <a:r>
              <a:rPr lang="en-US" sz="1600" dirty="0"/>
              <a:t> </a:t>
            </a:r>
            <a:r>
              <a:rPr lang="en-US" sz="1600" dirty="0" err="1"/>
              <a:t>besar</a:t>
            </a:r>
            <a:endParaRPr lang="en-US" sz="1600" dirty="0"/>
          </a:p>
          <a:p>
            <a:pPr marL="400050"/>
            <a:r>
              <a:rPr lang="en-US" sz="1600" dirty="0"/>
              <a:t>Target: </a:t>
            </a:r>
            <a:r>
              <a:rPr lang="en-US" sz="1600" dirty="0" err="1"/>
              <a:t>kontraktor</a:t>
            </a:r>
            <a:r>
              <a:rPr lang="en-US" sz="1600" dirty="0"/>
              <a:t> BUMN, </a:t>
            </a:r>
            <a:r>
              <a:rPr lang="en-US" sz="1600" dirty="0" err="1"/>
              <a:t>proyek</a:t>
            </a:r>
            <a:r>
              <a:rPr lang="en-US" sz="1600" dirty="0"/>
              <a:t> </a:t>
            </a:r>
            <a:r>
              <a:rPr lang="en-US" sz="1600" dirty="0" err="1"/>
              <a:t>pemerintah</a:t>
            </a:r>
            <a:r>
              <a:rPr lang="en-US" sz="1600" dirty="0"/>
              <a:t> </a:t>
            </a:r>
            <a:r>
              <a:rPr lang="en-US" sz="1600" dirty="0" err="1"/>
              <a:t>provinsi</a:t>
            </a:r>
            <a:endParaRPr lang="en-US" sz="1600" dirty="0"/>
          </a:p>
        </p:txBody>
      </p:sp>
      <p:sp>
        <p:nvSpPr>
          <p:cNvPr id="8" name="Rectangle 7">
            <a:extLst>
              <a:ext uri="{FF2B5EF4-FFF2-40B4-BE49-F238E27FC236}">
                <a16:creationId xmlns:a16="http://schemas.microsoft.com/office/drawing/2014/main" id="{84A38F43-A07A-BFB3-CDAB-ED00001400C9}"/>
              </a:ext>
            </a:extLst>
          </p:cNvPr>
          <p:cNvSpPr/>
          <p:nvPr/>
        </p:nvSpPr>
        <p:spPr>
          <a:xfrm>
            <a:off x="590146" y="1306382"/>
            <a:ext cx="1733953" cy="40005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Sales Priority</a:t>
            </a:r>
          </a:p>
        </p:txBody>
      </p:sp>
      <p:cxnSp>
        <p:nvCxnSpPr>
          <p:cNvPr id="10" name="Straight Connector 9">
            <a:extLst>
              <a:ext uri="{FF2B5EF4-FFF2-40B4-BE49-F238E27FC236}">
                <a16:creationId xmlns:a16="http://schemas.microsoft.com/office/drawing/2014/main" id="{BAC34D69-03DA-EFB5-2C9B-5D06C6E1B5ED}"/>
              </a:ext>
            </a:extLst>
          </p:cNvPr>
          <p:cNvCxnSpPr/>
          <p:nvPr/>
        </p:nvCxnSpPr>
        <p:spPr>
          <a:xfrm>
            <a:off x="399245" y="2731903"/>
            <a:ext cx="3201205"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Text Placeholder 5">
            <a:extLst>
              <a:ext uri="{FF2B5EF4-FFF2-40B4-BE49-F238E27FC236}">
                <a16:creationId xmlns:a16="http://schemas.microsoft.com/office/drawing/2014/main" id="{BB4E91D0-F819-0ED5-66EE-1F4FA1EB1CCB}"/>
              </a:ext>
            </a:extLst>
          </p:cNvPr>
          <p:cNvSpPr txBox="1">
            <a:spLocks/>
          </p:cNvSpPr>
          <p:nvPr/>
        </p:nvSpPr>
        <p:spPr>
          <a:xfrm>
            <a:off x="4292050" y="1209490"/>
            <a:ext cx="3201205" cy="3686729"/>
          </a:xfrm>
          <a:prstGeom prst="rect">
            <a:avLst/>
          </a:prstGeom>
          <a:solidFill>
            <a:schemeClr val="accent1">
              <a:lumMod val="20000"/>
              <a:lumOff val="80000"/>
            </a:schemeClr>
          </a:solidFill>
        </p:spPr>
        <p:txBody>
          <a:bodyPr vert="horz" lIns="0" tIns="7200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1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05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5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sz="2000" b="1" dirty="0"/>
              <a:t>Jawa Barat</a:t>
            </a:r>
          </a:p>
          <a:p>
            <a:pPr marL="0" indent="0">
              <a:buFont typeface="Arial" panose="020B0604020202020204" pitchFamily="34" charset="0"/>
              <a:buNone/>
            </a:pPr>
            <a:r>
              <a:rPr lang="en-US" dirty="0"/>
              <a:t>  Trial &amp; Partnership</a:t>
            </a:r>
          </a:p>
          <a:p>
            <a:pPr marL="0" indent="0">
              <a:buFont typeface="Arial" panose="020B0604020202020204" pitchFamily="34" charset="0"/>
              <a:buNone/>
            </a:pPr>
            <a:endParaRPr lang="en-US" dirty="0"/>
          </a:p>
          <a:p>
            <a:pPr marL="400050"/>
            <a:r>
              <a:rPr lang="en-US" sz="1600" dirty="0"/>
              <a:t>Pilot project gratis di Bandung &amp; Bekasi ( 10 Perusahaan)</a:t>
            </a:r>
          </a:p>
          <a:p>
            <a:pPr marL="400050"/>
            <a:r>
              <a:rPr lang="en-US" sz="1600" dirty="0"/>
              <a:t>Partnership </a:t>
            </a:r>
            <a:r>
              <a:rPr lang="en-US" sz="1600" dirty="0" err="1"/>
              <a:t>dengan</a:t>
            </a:r>
            <a:r>
              <a:rPr lang="en-US" sz="1600" dirty="0"/>
              <a:t> </a:t>
            </a:r>
            <a:r>
              <a:rPr lang="en-US" sz="1600" dirty="0" err="1"/>
              <a:t>asosiasi</a:t>
            </a:r>
            <a:r>
              <a:rPr lang="en-US" sz="1600" dirty="0"/>
              <a:t> </a:t>
            </a:r>
            <a:r>
              <a:rPr lang="en-US" sz="1600" dirty="0" err="1"/>
              <a:t>kontraktor</a:t>
            </a:r>
            <a:r>
              <a:rPr lang="en-US" sz="1600" dirty="0"/>
              <a:t> local</a:t>
            </a:r>
          </a:p>
          <a:p>
            <a:pPr marL="400050"/>
            <a:r>
              <a:rPr lang="en-US" sz="1600" dirty="0" err="1"/>
              <a:t>Targer</a:t>
            </a:r>
            <a:r>
              <a:rPr lang="en-US" sz="1600" dirty="0"/>
              <a:t>: sub-</a:t>
            </a:r>
            <a:r>
              <a:rPr lang="en-US" sz="1600" dirty="0" err="1"/>
              <a:t>kontraktor</a:t>
            </a:r>
            <a:r>
              <a:rPr lang="en-US" sz="1600" dirty="0"/>
              <a:t> </a:t>
            </a:r>
            <a:r>
              <a:rPr lang="en-US" sz="1600" dirty="0" err="1"/>
              <a:t>skala</a:t>
            </a:r>
            <a:r>
              <a:rPr lang="en-US" sz="1600" dirty="0"/>
              <a:t> </a:t>
            </a:r>
            <a:r>
              <a:rPr lang="en-US" sz="1600" dirty="0" err="1"/>
              <a:t>menengah</a:t>
            </a:r>
            <a:endParaRPr lang="en-US" sz="1600" dirty="0"/>
          </a:p>
        </p:txBody>
      </p:sp>
      <p:sp>
        <p:nvSpPr>
          <p:cNvPr id="13" name="Rectangle 12">
            <a:extLst>
              <a:ext uri="{FF2B5EF4-FFF2-40B4-BE49-F238E27FC236}">
                <a16:creationId xmlns:a16="http://schemas.microsoft.com/office/drawing/2014/main" id="{49ECE88C-02D0-D506-BA1E-23087C8B45CB}"/>
              </a:ext>
            </a:extLst>
          </p:cNvPr>
          <p:cNvSpPr/>
          <p:nvPr/>
        </p:nvSpPr>
        <p:spPr>
          <a:xfrm>
            <a:off x="4514446" y="1307839"/>
            <a:ext cx="1733953" cy="4000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Pilot Project</a:t>
            </a:r>
          </a:p>
        </p:txBody>
      </p:sp>
      <p:cxnSp>
        <p:nvCxnSpPr>
          <p:cNvPr id="14" name="Straight Connector 13">
            <a:extLst>
              <a:ext uri="{FF2B5EF4-FFF2-40B4-BE49-F238E27FC236}">
                <a16:creationId xmlns:a16="http://schemas.microsoft.com/office/drawing/2014/main" id="{9EB4C4CC-F203-B343-AA7F-5C4220351563}"/>
              </a:ext>
            </a:extLst>
          </p:cNvPr>
          <p:cNvCxnSpPr/>
          <p:nvPr/>
        </p:nvCxnSpPr>
        <p:spPr>
          <a:xfrm>
            <a:off x="4292049" y="2731903"/>
            <a:ext cx="3201205" cy="0"/>
          </a:xfrm>
          <a:prstGeom prst="line">
            <a:avLst/>
          </a:prstGeom>
        </p:spPr>
        <p:style>
          <a:lnRef idx="2">
            <a:schemeClr val="accent3"/>
          </a:lnRef>
          <a:fillRef idx="0">
            <a:schemeClr val="accent3"/>
          </a:fillRef>
          <a:effectRef idx="1">
            <a:schemeClr val="accent3"/>
          </a:effectRef>
          <a:fontRef idx="minor">
            <a:schemeClr val="tx1"/>
          </a:fontRef>
        </p:style>
      </p:cxnSp>
      <p:sp>
        <p:nvSpPr>
          <p:cNvPr id="16" name="Text Placeholder 5">
            <a:extLst>
              <a:ext uri="{FF2B5EF4-FFF2-40B4-BE49-F238E27FC236}">
                <a16:creationId xmlns:a16="http://schemas.microsoft.com/office/drawing/2014/main" id="{74BE22B8-7EE4-1AFA-BD7C-6F400B381D4D}"/>
              </a:ext>
            </a:extLst>
          </p:cNvPr>
          <p:cNvSpPr txBox="1">
            <a:spLocks/>
          </p:cNvSpPr>
          <p:nvPr/>
        </p:nvSpPr>
        <p:spPr>
          <a:xfrm>
            <a:off x="8400649" y="1228171"/>
            <a:ext cx="3201205" cy="3686730"/>
          </a:xfrm>
          <a:prstGeom prst="rect">
            <a:avLst/>
          </a:prstGeom>
          <a:solidFill>
            <a:schemeClr val="accent1">
              <a:lumMod val="20000"/>
              <a:lumOff val="80000"/>
            </a:schemeClr>
          </a:solidFill>
        </p:spPr>
        <p:txBody>
          <a:bodyPr vert="horz" lIns="0" tIns="7200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1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05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5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sz="2000" b="1" dirty="0" err="1"/>
              <a:t>jateng</a:t>
            </a:r>
            <a:r>
              <a:rPr lang="en-US" sz="2000" b="1" dirty="0"/>
              <a:t> &amp; Banten</a:t>
            </a:r>
          </a:p>
          <a:p>
            <a:pPr marL="0" indent="0">
              <a:buFont typeface="Arial" panose="020B0604020202020204" pitchFamily="34" charset="0"/>
              <a:buNone/>
            </a:pPr>
            <a:r>
              <a:rPr lang="en-US" dirty="0"/>
              <a:t>  Digital Marketing &amp; Awareness</a:t>
            </a:r>
          </a:p>
          <a:p>
            <a:pPr marL="0" indent="0">
              <a:buFont typeface="Arial" panose="020B0604020202020204" pitchFamily="34" charset="0"/>
              <a:buNone/>
            </a:pPr>
            <a:endParaRPr lang="en-US" dirty="0"/>
          </a:p>
          <a:p>
            <a:pPr marL="400050"/>
            <a:r>
              <a:rPr lang="en-US" sz="1600" dirty="0" err="1"/>
              <a:t>Kampanye</a:t>
            </a:r>
            <a:r>
              <a:rPr lang="en-US" sz="1600" dirty="0"/>
              <a:t> “Kurangi </a:t>
            </a:r>
            <a:r>
              <a:rPr lang="en-US" sz="1600" dirty="0" err="1"/>
              <a:t>Kecelakaan</a:t>
            </a:r>
            <a:r>
              <a:rPr lang="en-US" sz="1600" dirty="0"/>
              <a:t> </a:t>
            </a:r>
            <a:r>
              <a:rPr lang="en-US" sz="1600" dirty="0" err="1"/>
              <a:t>Konstruksi</a:t>
            </a:r>
            <a:r>
              <a:rPr lang="en-US" sz="1600" dirty="0"/>
              <a:t>” via Google Ads</a:t>
            </a:r>
          </a:p>
          <a:p>
            <a:pPr marL="400050"/>
            <a:r>
              <a:rPr lang="en-US" sz="1600" dirty="0"/>
              <a:t>Webinar </a:t>
            </a:r>
            <a:r>
              <a:rPr lang="en-US" sz="1600" dirty="0" err="1"/>
              <a:t>eduksi</a:t>
            </a:r>
            <a:r>
              <a:rPr lang="en-US" sz="1600" dirty="0"/>
              <a:t> K3 online</a:t>
            </a:r>
          </a:p>
          <a:p>
            <a:pPr marL="400050"/>
            <a:r>
              <a:rPr lang="en-US" sz="1600" dirty="0"/>
              <a:t>Target: 500 leads, CPL &lt; Rp. 50.000,-</a:t>
            </a:r>
          </a:p>
        </p:txBody>
      </p:sp>
      <p:sp>
        <p:nvSpPr>
          <p:cNvPr id="18" name="Rectangle 17">
            <a:extLst>
              <a:ext uri="{FF2B5EF4-FFF2-40B4-BE49-F238E27FC236}">
                <a16:creationId xmlns:a16="http://schemas.microsoft.com/office/drawing/2014/main" id="{66E997E9-7574-B314-8385-222EBAF4CEC9}"/>
              </a:ext>
            </a:extLst>
          </p:cNvPr>
          <p:cNvSpPr/>
          <p:nvPr/>
        </p:nvSpPr>
        <p:spPr>
          <a:xfrm>
            <a:off x="8591146" y="1307839"/>
            <a:ext cx="1733953" cy="4000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canvassing</a:t>
            </a:r>
          </a:p>
        </p:txBody>
      </p:sp>
      <p:cxnSp>
        <p:nvCxnSpPr>
          <p:cNvPr id="19" name="Straight Connector 18">
            <a:extLst>
              <a:ext uri="{FF2B5EF4-FFF2-40B4-BE49-F238E27FC236}">
                <a16:creationId xmlns:a16="http://schemas.microsoft.com/office/drawing/2014/main" id="{08BBCBFB-7D1B-3425-12BC-A4AABD6310CD}"/>
              </a:ext>
            </a:extLst>
          </p:cNvPr>
          <p:cNvCxnSpPr/>
          <p:nvPr/>
        </p:nvCxnSpPr>
        <p:spPr>
          <a:xfrm>
            <a:off x="8400648" y="2731903"/>
            <a:ext cx="3201205" cy="0"/>
          </a:xfrm>
          <a:prstGeom prst="line">
            <a:avLst/>
          </a:prstGeom>
        </p:spPr>
        <p:style>
          <a:lnRef idx="2">
            <a:schemeClr val="accent3"/>
          </a:lnRef>
          <a:fillRef idx="0">
            <a:schemeClr val="accent3"/>
          </a:fillRef>
          <a:effectRef idx="1">
            <a:schemeClr val="accent3"/>
          </a:effectRef>
          <a:fontRef idx="minor">
            <a:schemeClr val="tx1"/>
          </a:fontRef>
        </p:style>
      </p:cxnSp>
      <p:sp>
        <p:nvSpPr>
          <p:cNvPr id="21" name="Rectangle: Rounded Corners 20">
            <a:extLst>
              <a:ext uri="{FF2B5EF4-FFF2-40B4-BE49-F238E27FC236}">
                <a16:creationId xmlns:a16="http://schemas.microsoft.com/office/drawing/2014/main" id="{30CF78CD-ACA1-A44C-1156-AC91DA326010}"/>
              </a:ext>
            </a:extLst>
          </p:cNvPr>
          <p:cNvSpPr/>
          <p:nvPr/>
        </p:nvSpPr>
        <p:spPr>
          <a:xfrm>
            <a:off x="399245" y="5135512"/>
            <a:ext cx="11202608" cy="159735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rgbClr val="FF0000"/>
                </a:solidFill>
              </a:rPr>
              <a:t>Catatan</a:t>
            </a:r>
            <a:r>
              <a:rPr lang="en-US" b="1" dirty="0">
                <a:solidFill>
                  <a:srgbClr val="FF0000"/>
                </a:solidFill>
              </a:rPr>
              <a:t> </a:t>
            </a:r>
            <a:r>
              <a:rPr lang="en-US" b="1" dirty="0" err="1">
                <a:solidFill>
                  <a:srgbClr val="FF0000"/>
                </a:solidFill>
              </a:rPr>
              <a:t>Penting</a:t>
            </a:r>
            <a:endParaRPr lang="en-US" b="1" dirty="0">
              <a:solidFill>
                <a:srgbClr val="FF0000"/>
              </a:solidFill>
            </a:endParaRPr>
          </a:p>
          <a:p>
            <a:endParaRPr lang="en-US" sz="1600" b="1" dirty="0">
              <a:solidFill>
                <a:schemeClr val="tx1"/>
              </a:solidFill>
            </a:endParaRPr>
          </a:p>
          <a:p>
            <a:r>
              <a:rPr lang="en-US" dirty="0">
                <a:solidFill>
                  <a:srgbClr val="475569"/>
                </a:solidFill>
                <a:latin typeface="Calibri" pitchFamily="34" charset="0"/>
                <a:ea typeface="Calibri" pitchFamily="34" charset="-122"/>
                <a:cs typeface="Calibri" pitchFamily="34" charset="-120"/>
              </a:rPr>
              <a:t>Banten </a:t>
            </a:r>
            <a:r>
              <a:rPr lang="en-US" dirty="0" err="1">
                <a:solidFill>
                  <a:srgbClr val="475569"/>
                </a:solidFill>
                <a:latin typeface="Calibri" pitchFamily="34" charset="0"/>
                <a:ea typeface="Calibri" pitchFamily="34" charset="-122"/>
                <a:cs typeface="Calibri" pitchFamily="34" charset="-120"/>
              </a:rPr>
              <a:t>termasuk</a:t>
            </a:r>
            <a:r>
              <a:rPr lang="en-US" dirty="0">
                <a:solidFill>
                  <a:srgbClr val="475569"/>
                </a:solidFill>
                <a:latin typeface="Calibri" pitchFamily="34" charset="0"/>
                <a:ea typeface="Calibri" pitchFamily="34" charset="-122"/>
                <a:cs typeface="Calibri" pitchFamily="34" charset="-120"/>
              </a:rPr>
              <a:t> canvassing </a:t>
            </a:r>
            <a:r>
              <a:rPr lang="en-US" dirty="0" err="1">
                <a:solidFill>
                  <a:srgbClr val="475569"/>
                </a:solidFill>
                <a:latin typeface="Calibri" pitchFamily="34" charset="0"/>
                <a:ea typeface="Calibri" pitchFamily="34" charset="-122"/>
                <a:cs typeface="Calibri" pitchFamily="34" charset="-120"/>
              </a:rPr>
              <a:t>karena</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ukuran</a:t>
            </a:r>
            <a:r>
              <a:rPr lang="en-US" dirty="0">
                <a:solidFill>
                  <a:srgbClr val="475569"/>
                </a:solidFill>
                <a:latin typeface="Calibri" pitchFamily="34" charset="0"/>
                <a:ea typeface="Calibri" pitchFamily="34" charset="-122"/>
                <a:cs typeface="Calibri" pitchFamily="34" charset="-120"/>
              </a:rPr>
              <a:t> pasar yang </a:t>
            </a:r>
            <a:r>
              <a:rPr lang="en-US" dirty="0" err="1">
                <a:solidFill>
                  <a:srgbClr val="475569"/>
                </a:solidFill>
                <a:latin typeface="Calibri" pitchFamily="34" charset="0"/>
                <a:ea typeface="Calibri" pitchFamily="34" charset="-122"/>
                <a:cs typeface="Calibri" pitchFamily="34" charset="-120"/>
              </a:rPr>
              <a:t>kecil</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Namun</a:t>
            </a:r>
            <a:r>
              <a:rPr lang="en-US" dirty="0">
                <a:solidFill>
                  <a:srgbClr val="475569"/>
                </a:solidFill>
                <a:latin typeface="Calibri" pitchFamily="34" charset="0"/>
                <a:ea typeface="Calibri" pitchFamily="34" charset="-122"/>
                <a:cs typeface="Calibri" pitchFamily="34" charset="-120"/>
              </a:rPr>
              <a:t> Tangerang Raya (Tangerang + </a:t>
            </a:r>
            <a:r>
              <a:rPr lang="en-US" dirty="0" err="1">
                <a:solidFill>
                  <a:srgbClr val="475569"/>
                </a:solidFill>
                <a:latin typeface="Calibri" pitchFamily="34" charset="0"/>
                <a:ea typeface="Calibri" pitchFamily="34" charset="-122"/>
                <a:cs typeface="Calibri" pitchFamily="34" charset="-120"/>
              </a:rPr>
              <a:t>Tangsel</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layak</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menjadi</a:t>
            </a:r>
            <a:r>
              <a:rPr lang="en-US" dirty="0">
                <a:solidFill>
                  <a:srgbClr val="475569"/>
                </a:solidFill>
                <a:latin typeface="Calibri" pitchFamily="34" charset="0"/>
                <a:ea typeface="Calibri" pitchFamily="34" charset="-122"/>
                <a:cs typeface="Calibri" pitchFamily="34" charset="-120"/>
              </a:rPr>
              <a:t> micro-</a:t>
            </a:r>
            <a:r>
              <a:rPr lang="en-US" dirty="0" err="1">
                <a:solidFill>
                  <a:srgbClr val="475569"/>
                </a:solidFill>
                <a:latin typeface="Calibri" pitchFamily="34" charset="0"/>
                <a:ea typeface="Calibri" pitchFamily="34" charset="-122"/>
                <a:cs typeface="Calibri" pitchFamily="34" charset="-120"/>
              </a:rPr>
              <a:t>prioritas</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mengingat</a:t>
            </a:r>
            <a:r>
              <a:rPr lang="en-US" dirty="0">
                <a:solidFill>
                  <a:srgbClr val="475569"/>
                </a:solidFill>
                <a:latin typeface="Calibri" pitchFamily="34" charset="0"/>
                <a:ea typeface="Calibri" pitchFamily="34" charset="-122"/>
                <a:cs typeface="Calibri" pitchFamily="34" charset="-120"/>
              </a:rPr>
              <a:t> risk density </a:t>
            </a:r>
            <a:r>
              <a:rPr lang="en-US" dirty="0" err="1">
                <a:solidFill>
                  <a:srgbClr val="475569"/>
                </a:solidFill>
                <a:latin typeface="Calibri" pitchFamily="34" charset="0"/>
                <a:ea typeface="Calibri" pitchFamily="34" charset="-122"/>
                <a:cs typeface="Calibri" pitchFamily="34" charset="-120"/>
              </a:rPr>
              <a:t>tertinggi</a:t>
            </a:r>
            <a:r>
              <a:rPr lang="en-US" dirty="0">
                <a:solidFill>
                  <a:srgbClr val="475569"/>
                </a:solidFill>
                <a:latin typeface="Calibri" pitchFamily="34" charset="0"/>
                <a:ea typeface="Calibri" pitchFamily="34" charset="-122"/>
                <a:cs typeface="Calibri" pitchFamily="34" charset="-120"/>
              </a:rPr>
              <a:t> (44.4/1000) dan </a:t>
            </a:r>
            <a:r>
              <a:rPr lang="en-US" dirty="0" err="1">
                <a:solidFill>
                  <a:srgbClr val="475569"/>
                </a:solidFill>
                <a:latin typeface="Calibri" pitchFamily="34" charset="0"/>
                <a:ea typeface="Calibri" pitchFamily="34" charset="-122"/>
                <a:cs typeface="Calibri" pitchFamily="34" charset="-120"/>
              </a:rPr>
              <a:t>kedekatan</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dengan</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ibu</a:t>
            </a:r>
            <a:r>
              <a:rPr lang="en-US" dirty="0">
                <a:solidFill>
                  <a:srgbClr val="475569"/>
                </a:solidFill>
                <a:latin typeface="Calibri" pitchFamily="34" charset="0"/>
                <a:ea typeface="Calibri" pitchFamily="34" charset="-122"/>
                <a:cs typeface="Calibri" pitchFamily="34" charset="-120"/>
              </a:rPr>
              <a:t> </a:t>
            </a:r>
            <a:r>
              <a:rPr lang="en-US" dirty="0" err="1">
                <a:solidFill>
                  <a:srgbClr val="475569"/>
                </a:solidFill>
                <a:latin typeface="Calibri" pitchFamily="34" charset="0"/>
                <a:ea typeface="Calibri" pitchFamily="34" charset="-122"/>
                <a:cs typeface="Calibri" pitchFamily="34" charset="-120"/>
              </a:rPr>
              <a:t>kota</a:t>
            </a:r>
            <a:r>
              <a:rPr lang="en-US" dirty="0">
                <a:solidFill>
                  <a:srgbClr val="475569"/>
                </a:solidFill>
                <a:latin typeface="Calibri" pitchFamily="34" charset="0"/>
                <a:ea typeface="Calibri" pitchFamily="34" charset="-122"/>
                <a:cs typeface="Calibri" pitchFamily="34" charset="-120"/>
              </a:rPr>
              <a:t>.</a:t>
            </a:r>
            <a:endParaRPr lang="en-US" dirty="0"/>
          </a:p>
        </p:txBody>
      </p:sp>
    </p:spTree>
    <p:extLst>
      <p:ext uri="{BB962C8B-B14F-4D97-AF65-F5344CB8AC3E}">
        <p14:creationId xmlns:p14="http://schemas.microsoft.com/office/powerpoint/2010/main" val="3842138702"/>
      </p:ext>
    </p:extLst>
  </p:cSld>
  <p:clrMapOvr>
    <a:masterClrMapping/>
  </p:clrMapOvr>
</p:sld>
</file>

<file path=ppt/theme/theme1.xml><?xml version="1.0" encoding="utf-8"?>
<a:theme xmlns:a="http://schemas.openxmlformats.org/drawingml/2006/main" name="Office Theme">
  <a:themeElements>
    <a:clrScheme name="MSFT_ELT_Template01">
      <a:dk1>
        <a:srgbClr val="3F3F3F"/>
      </a:dk1>
      <a:lt1>
        <a:srgbClr val="FFFFFF"/>
      </a:lt1>
      <a:dk2>
        <a:srgbClr val="000000"/>
      </a:dk2>
      <a:lt2>
        <a:srgbClr val="A5A5A5"/>
      </a:lt2>
      <a:accent1>
        <a:srgbClr val="5DAAB0"/>
      </a:accent1>
      <a:accent2>
        <a:srgbClr val="DFE3E9"/>
      </a:accent2>
      <a:accent3>
        <a:srgbClr val="BBC3CD"/>
      </a:accent3>
      <a:accent4>
        <a:srgbClr val="484848"/>
      </a:accent4>
      <a:accent5>
        <a:srgbClr val="1F1F26"/>
      </a:accent5>
      <a:accent6>
        <a:srgbClr val="F2CAA2"/>
      </a:accent6>
      <a:hlink>
        <a:srgbClr val="00194C"/>
      </a:hlink>
      <a:folHlink>
        <a:srgbClr val="954F72"/>
      </a:folHlink>
    </a:clrScheme>
    <a:fontScheme name="MSFT_ELT_Template01">
      <a:majorFont>
        <a:latin typeface="Constant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ICK TO ADD TITLE" id="{F1EBDCD4-0DFE-4BFC-B527-76D7C1C6466B}" vid="{B36D0821-FAFD-4A44-B0A3-9261322768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clean sophisticated presentation</Template>
  <TotalTime>833</TotalTime>
  <Words>4495</Words>
  <Application>Microsoft Office PowerPoint</Application>
  <PresentationFormat>Widescreen</PresentationFormat>
  <Paragraphs>438</Paragraphs>
  <Slides>23</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Constantia</vt:lpstr>
      <vt:lpstr>Office Theme</vt:lpstr>
      <vt:lpstr>SumThing Market Opportunity</vt:lpstr>
      <vt:lpstr>Latar Belakang Bisnis</vt:lpstr>
      <vt:lpstr>PowerPoint Presentation</vt:lpstr>
      <vt:lpstr>PowerPoint Presentation</vt:lpstr>
      <vt:lpstr>Analisis Kepadatan Perusahaan Konstruksi </vt:lpstr>
      <vt:lpstr>Kepadatan Perusahaan Konstruksi di Pulau Jawa</vt:lpstr>
      <vt:lpstr>PowerPoint Presentation</vt:lpstr>
      <vt:lpstr>Analisis Peluang Pasar Berdasarkan Risiko &amp; Aktivitas Konstruksi  </vt:lpstr>
      <vt:lpstr>Analisis Peluang Pasar: Opportunity Score &amp; Risk Density</vt:lpstr>
      <vt:lpstr>Strategy &amp; Prioritas Pasar</vt:lpstr>
      <vt:lpstr>PowerPoint Presentation</vt:lpstr>
      <vt:lpstr>PowerPoint Presentation</vt:lpstr>
      <vt:lpstr>Regional Hotspot &amp; AI Safety</vt:lpstr>
      <vt:lpstr>PowerPoint Presentation</vt:lpstr>
      <vt:lpstr>Kenapa Tangerang Selatan?</vt:lpstr>
      <vt:lpstr>Kesimpulan &amp; Rekomendasi</vt:lpstr>
      <vt:lpstr>PowerPoint Presentation</vt:lpstr>
      <vt:lpstr>PowerPoint Presentation</vt:lpstr>
      <vt:lpstr>PowerPoint Presentation</vt:lpstr>
      <vt:lpstr>Terima Kasih</vt:lpstr>
      <vt:lpstr>Market Strategy</vt:lpstr>
      <vt:lpstr>PowerPoint Presentation</vt:lpstr>
      <vt:lpstr>Strategi B2B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nastitifanany</dc:creator>
  <cp:lastModifiedBy>nastitifanany</cp:lastModifiedBy>
  <cp:revision>7</cp:revision>
  <dcterms:created xsi:type="dcterms:W3CDTF">2026-06-10T12:00:51Z</dcterms:created>
  <dcterms:modified xsi:type="dcterms:W3CDTF">2026-06-22T05:37:24Z</dcterms:modified>
</cp:coreProperties>
</file>